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8"/>
  </p:notesMasterIdLst>
  <p:sldIdLst>
    <p:sldId id="256" r:id="rId2"/>
    <p:sldId id="261" r:id="rId3"/>
    <p:sldId id="259" r:id="rId4"/>
    <p:sldId id="271" r:id="rId5"/>
    <p:sldId id="260" r:id="rId6"/>
    <p:sldId id="268" r:id="rId7"/>
    <p:sldId id="308" r:id="rId8"/>
    <p:sldId id="309" r:id="rId9"/>
    <p:sldId id="266" r:id="rId10"/>
    <p:sldId id="307" r:id="rId11"/>
    <p:sldId id="270" r:id="rId12"/>
    <p:sldId id="258" r:id="rId13"/>
    <p:sldId id="262" r:id="rId14"/>
    <p:sldId id="263" r:id="rId15"/>
    <p:sldId id="306" r:id="rId16"/>
    <p:sldId id="274" r:id="rId17"/>
  </p:sldIdLst>
  <p:sldSz cx="9144000" cy="5143500" type="screen16x9"/>
  <p:notesSz cx="6858000" cy="9144000"/>
  <p:embeddedFontLst>
    <p:embeddedFont>
      <p:font typeface="Segoe UI" panose="020B0502040204020203" pitchFamily="34" charset="0"/>
      <p:regular r:id="rId19"/>
      <p:bold r:id="rId20"/>
      <p:italic r:id="rId21"/>
      <p:boldItalic r:id="rId22"/>
    </p:embeddedFont>
    <p:embeddedFont>
      <p:font typeface="Sora" panose="020B0604020202020204" charset="0"/>
      <p:regular r:id="rId23"/>
      <p:bold r:id="rId24"/>
    </p:embeddedFont>
    <p:embeddedFont>
      <p:font typeface="Syne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C385"/>
    <a:srgbClr val="14FB00"/>
    <a:srgbClr val="E5EBF7"/>
    <a:srgbClr val="9FA1A4"/>
    <a:srgbClr val="6088D2"/>
    <a:srgbClr val="F9696B"/>
    <a:srgbClr val="C2D3EA"/>
    <a:srgbClr val="FDDFE2"/>
    <a:srgbClr val="FBBBBE"/>
    <a:srgbClr val="07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164FAF-DC50-404C-A608-E806313AFF97}">
  <a:tblStyle styleId="{43164FAF-DC50-404C-A608-E806313AFF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1"/>
    <p:restoredTop sz="94710"/>
  </p:normalViewPr>
  <p:slideViewPr>
    <p:cSldViewPr snapToGrid="0">
      <p:cViewPr varScale="1">
        <p:scale>
          <a:sx n="144" d="100"/>
          <a:sy n="144" d="100"/>
        </p:scale>
        <p:origin x="688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geraldvelas\Downloads\Startup_Success_Rat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geraldvelas\Downloads\Funding_Distribution_Insigh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GB" sz="1400" b="1" dirty="0"/>
              <a:t>Class Balance of </a:t>
            </a:r>
            <a:r>
              <a:rPr lang="en-GB" sz="1400" b="1" dirty="0">
                <a:highlight>
                  <a:srgbClr val="0000FF"/>
                </a:highlight>
              </a:rPr>
              <a:t>Start-ups</a:t>
            </a:r>
          </a:p>
        </c:rich>
      </c:tx>
      <c:layout>
        <c:manualLayout>
          <c:xMode val="edge"/>
          <c:yMode val="edge"/>
          <c:x val="9.1626453016866977E-2"/>
          <c:y val="3.7996300567768233E-3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GR"/>
        </a:p>
      </c:txPr>
    </c:title>
    <c:autoTitleDeleted val="0"/>
    <c:plotArea>
      <c:layout>
        <c:manualLayout>
          <c:layoutTarget val="inner"/>
          <c:xMode val="edge"/>
          <c:yMode val="edge"/>
          <c:x val="6.0901412079443135E-2"/>
          <c:y val="7.39372311747859E-2"/>
          <c:w val="0.87543137627780321"/>
          <c:h val="0.6217511658586574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IndustrySuccess!$B$1</c:f>
              <c:strCache>
                <c:ptCount val="1"/>
                <c:pt idx="0">
                  <c:v>Share of start-ups</c:v>
                </c:pt>
              </c:strCache>
            </c:strRef>
          </c:tx>
          <c:spPr>
            <a:solidFill>
              <a:srgbClr val="0700FF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07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A35-1543-9C90-35CBC963088E}"/>
              </c:ext>
            </c:extLst>
          </c:dPt>
          <c:dPt>
            <c:idx val="1"/>
            <c:invertIfNegative val="1"/>
            <c:bubble3D val="0"/>
            <c:spPr>
              <a:solidFill>
                <a:srgbClr val="07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A35-1543-9C90-35CBC963088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G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IndustrySuccess!$A$2:$A$3</c:f>
              <c:strCache>
                <c:ptCount val="2"/>
                <c:pt idx="0">
                  <c:v>Successful (597)</c:v>
                </c:pt>
                <c:pt idx="1">
                  <c:v>Closed (326)</c:v>
                </c:pt>
              </c:strCache>
            </c:strRef>
          </c:cat>
          <c:val>
            <c:numRef>
              <c:f>IndustrySuccess!$B$2:$B$3</c:f>
              <c:numCache>
                <c:formatCode>0%</c:formatCode>
                <c:ptCount val="2"/>
                <c:pt idx="0">
                  <c:v>0.6468039003250271</c:v>
                </c:pt>
                <c:pt idx="1">
                  <c:v>0.3531960996749729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6A35-1543-9C90-35CBC963088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GR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  <c:max val="0.8"/>
          <c:min val="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G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593325190972096"/>
          <c:y val="3.4319456975686585E-2"/>
          <c:w val="0.77144416098749014"/>
          <c:h val="0.67532672411857753"/>
        </c:manualLayout>
      </c:layout>
      <c:barChart>
        <c:barDir val="col"/>
        <c:grouping val="clustered"/>
        <c:varyColors val="1"/>
        <c:ser>
          <c:idx val="0"/>
          <c:order val="0"/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1A2-2B47-9FC7-1CD8B35EA7E5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1A2-2B47-9FC7-1CD8B35EA7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G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FundingHistogram!$A$2:$A$3</c:f>
              <c:strCache>
                <c:ptCount val="2"/>
                <c:pt idx="0">
                  <c:v>Closed</c:v>
                </c:pt>
                <c:pt idx="1">
                  <c:v>Successful</c:v>
                </c:pt>
              </c:strCache>
            </c:strRef>
          </c:cat>
          <c:val>
            <c:numRef>
              <c:f>FundingHistogram!$B$2:$B$3</c:f>
              <c:numCache>
                <c:formatCode>0.0</c:formatCode>
                <c:ptCount val="2"/>
                <c:pt idx="0">
                  <c:v>15.1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51A2-2B47-9FC7-1CD8B35EA7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 i="1" dirty="0"/>
                  <a:t>Outcome</a:t>
                </a:r>
              </a:p>
            </c:rich>
          </c:tx>
          <c:layout>
            <c:manualLayout>
              <c:xMode val="edge"/>
              <c:yMode val="edge"/>
              <c:x val="0.35639386143050206"/>
              <c:y val="0.88936917170832164"/>
            </c:manualLayout>
          </c:layout>
          <c:overlay val="1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GR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shade val="15000"/>
                  <a:alpha val="26469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 i="1" dirty="0"/>
                  <a:t>Average Total Funding (M USD)</a:t>
                </a:r>
              </a:p>
            </c:rich>
          </c:tx>
          <c:layout>
            <c:manualLayout>
              <c:xMode val="edge"/>
              <c:yMode val="edge"/>
              <c:x val="8.1938592624177048E-2"/>
              <c:y val="0.19573109204946534"/>
            </c:manualLayout>
          </c:layout>
          <c:overlay val="1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R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GR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G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7c80b62bc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7c80b62bc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6f9428781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6f9428781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726e866f53_0_23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726e866f53_0_23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726e866f53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726e866f53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6f5a739aba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6f5a739aba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726e866f53_0_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1726e866f53_0_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726e866f53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726e866f53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749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726e866f53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726e866f53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2522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6f9428781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6f9428781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g1761c49b9ac_0_3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1" name="Google Shape;2221;g1761c49b9ac_0_3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3276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1761c49b9ac_0_29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1761c49b9ac_0_29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6f5a739ab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6f5a739ab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785050d79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785050d79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726e866f53_0_23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726e866f53_0_23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1726e866f53_0_23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1726e866f53_0_23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4677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1726e866f53_0_23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1726e866f53_0_23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2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10;p2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1;p2"/>
          <p:cNvSpPr/>
          <p:nvPr/>
        </p:nvSpPr>
        <p:spPr>
          <a:xfrm rot="-5400000" flipH="1">
            <a:off x="7508738" y="546813"/>
            <a:ext cx="2737500" cy="2737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1022738" y="3877875"/>
            <a:ext cx="2049600" cy="2049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FA0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30850" y="887463"/>
            <a:ext cx="7498200" cy="191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277700" y="2886075"/>
            <a:ext cx="2387100" cy="7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7;p3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8;p3"/>
          <p:cNvSpPr/>
          <p:nvPr/>
        </p:nvSpPr>
        <p:spPr>
          <a:xfrm flipH="1">
            <a:off x="715100" y="3935725"/>
            <a:ext cx="3101400" cy="310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720000" y="1857100"/>
            <a:ext cx="5856600" cy="93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535000"/>
            <a:ext cx="3150900" cy="13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3425700" y="2920875"/>
            <a:ext cx="31509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651163" y="1552025"/>
            <a:ext cx="3540000" cy="5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3952838" y="3257000"/>
            <a:ext cx="3540000" cy="5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1651163" y="1961475"/>
            <a:ext cx="35400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3952838" y="3666425"/>
            <a:ext cx="35400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34;p5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Google Shape;35;p5"/>
          <p:cNvSpPr/>
          <p:nvPr/>
        </p:nvSpPr>
        <p:spPr>
          <a:xfrm flipH="1">
            <a:off x="7592234" y="3057800"/>
            <a:ext cx="3101400" cy="310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6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6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" name="Google Shape;39;p6"/>
          <p:cNvGrpSpPr/>
          <p:nvPr/>
        </p:nvGrpSpPr>
        <p:grpSpPr>
          <a:xfrm rot="5400000">
            <a:off x="7387" y="2555877"/>
            <a:ext cx="1415431" cy="741086"/>
            <a:chOff x="7461743" y="660738"/>
            <a:chExt cx="1348800" cy="706200"/>
          </a:xfrm>
        </p:grpSpPr>
        <p:sp>
          <p:nvSpPr>
            <p:cNvPr id="40" name="Google Shape;40;p6"/>
            <p:cNvSpPr/>
            <p:nvPr/>
          </p:nvSpPr>
          <p:spPr>
            <a:xfrm>
              <a:off x="7461743" y="660738"/>
              <a:ext cx="1348800" cy="706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8151216" y="731759"/>
              <a:ext cx="564212" cy="564186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45;p7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720000" y="1599000"/>
            <a:ext cx="3493800" cy="23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139225" y="1599000"/>
            <a:ext cx="3010800" cy="30108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2982600" cy="23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4648575" y="2626400"/>
            <a:ext cx="3780300" cy="19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9" name="Google Shape;59;p9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9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/>
          <p:nvPr/>
        </p:nvSpPr>
        <p:spPr>
          <a:xfrm rot="5400000" flipH="1">
            <a:off x="-1266675" y="2226925"/>
            <a:ext cx="2385900" cy="2385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hasCustomPrompt="1"/>
          </p:nvPr>
        </p:nvSpPr>
        <p:spPr>
          <a:xfrm>
            <a:off x="1213444" y="1517103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2076882" y="2256175"/>
            <a:ext cx="2445300" cy="63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2" hasCustomPrompt="1"/>
          </p:nvPr>
        </p:nvSpPr>
        <p:spPr>
          <a:xfrm>
            <a:off x="4621844" y="1517103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5485231" y="2256175"/>
            <a:ext cx="2445300" cy="63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 hasCustomPrompt="1"/>
          </p:nvPr>
        </p:nvSpPr>
        <p:spPr>
          <a:xfrm>
            <a:off x="1213444" y="3233325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2076882" y="3970846"/>
            <a:ext cx="2445300" cy="63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6" hasCustomPrompt="1"/>
          </p:nvPr>
        </p:nvSpPr>
        <p:spPr>
          <a:xfrm>
            <a:off x="4621844" y="3233325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5485231" y="3970846"/>
            <a:ext cx="2445300" cy="63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2071906" y="1512550"/>
            <a:ext cx="2445300" cy="85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3"/>
          </p:nvPr>
        </p:nvSpPr>
        <p:spPr>
          <a:xfrm>
            <a:off x="5485256" y="1512550"/>
            <a:ext cx="2445300" cy="85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4"/>
          </p:nvPr>
        </p:nvSpPr>
        <p:spPr>
          <a:xfrm>
            <a:off x="2071906" y="3228928"/>
            <a:ext cx="2445300" cy="85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5485256" y="3228928"/>
            <a:ext cx="2445300" cy="85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87" name="Google Shape;87;p13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91" name="Google Shape;91;p14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14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2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16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6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1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18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" name="Google Shape;108;p18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" name="Google Shape;109;p18"/>
          <p:cNvGrpSpPr/>
          <p:nvPr/>
        </p:nvGrpSpPr>
        <p:grpSpPr>
          <a:xfrm>
            <a:off x="-398926" y="3071703"/>
            <a:ext cx="808200" cy="1542000"/>
            <a:chOff x="-378144" y="3071703"/>
            <a:chExt cx="808200" cy="1542000"/>
          </a:xfrm>
        </p:grpSpPr>
        <p:sp>
          <p:nvSpPr>
            <p:cNvPr id="110" name="Google Shape;110;p18"/>
            <p:cNvSpPr/>
            <p:nvPr/>
          </p:nvSpPr>
          <p:spPr>
            <a:xfrm rot="-5400000">
              <a:off x="-745044" y="3438603"/>
              <a:ext cx="1542000" cy="808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8"/>
            <p:cNvSpPr/>
            <p:nvPr/>
          </p:nvSpPr>
          <p:spPr>
            <a:xfrm rot="-5400000">
              <a:off x="-273661" y="3193015"/>
              <a:ext cx="599116" cy="599195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subTitle" idx="1"/>
          </p:nvPr>
        </p:nvSpPr>
        <p:spPr>
          <a:xfrm>
            <a:off x="5015500" y="3213475"/>
            <a:ext cx="3413400" cy="10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5015500" y="886625"/>
            <a:ext cx="3413400" cy="232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144" name="Google Shape;144;p23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23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" name="Google Shape;146;p23"/>
          <p:cNvSpPr>
            <a:spLocks noGrp="1"/>
          </p:cNvSpPr>
          <p:nvPr>
            <p:ph type="pic" idx="2"/>
          </p:nvPr>
        </p:nvSpPr>
        <p:spPr>
          <a:xfrm flipH="1">
            <a:off x="1474151" y="1165132"/>
            <a:ext cx="2813400" cy="28134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body" idx="1"/>
          </p:nvPr>
        </p:nvSpPr>
        <p:spPr>
          <a:xfrm>
            <a:off x="720000" y="1300300"/>
            <a:ext cx="4367400" cy="7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57" name="Google Shape;157;p25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5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28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8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28"/>
          <p:cNvSpPr txBox="1">
            <a:spLocks noGrp="1"/>
          </p:cNvSpPr>
          <p:nvPr>
            <p:ph type="subTitle" idx="1"/>
          </p:nvPr>
        </p:nvSpPr>
        <p:spPr>
          <a:xfrm>
            <a:off x="720000" y="2512850"/>
            <a:ext cx="2336400" cy="52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subTitle" idx="2"/>
          </p:nvPr>
        </p:nvSpPr>
        <p:spPr>
          <a:xfrm>
            <a:off x="720000" y="3005209"/>
            <a:ext cx="23364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8"/>
          <p:cNvSpPr txBox="1">
            <a:spLocks noGrp="1"/>
          </p:cNvSpPr>
          <p:nvPr>
            <p:ph type="subTitle" idx="3"/>
          </p:nvPr>
        </p:nvSpPr>
        <p:spPr>
          <a:xfrm>
            <a:off x="3403800" y="3009859"/>
            <a:ext cx="23364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subTitle" idx="4"/>
          </p:nvPr>
        </p:nvSpPr>
        <p:spPr>
          <a:xfrm>
            <a:off x="6087600" y="3009859"/>
            <a:ext cx="23364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subTitle" idx="5"/>
          </p:nvPr>
        </p:nvSpPr>
        <p:spPr>
          <a:xfrm>
            <a:off x="3403800" y="2517500"/>
            <a:ext cx="2336400" cy="52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ubTitle" idx="6"/>
          </p:nvPr>
        </p:nvSpPr>
        <p:spPr>
          <a:xfrm>
            <a:off x="6087600" y="2517500"/>
            <a:ext cx="2336400" cy="52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87" name="Google Shape;187;p28"/>
          <p:cNvSpPr/>
          <p:nvPr/>
        </p:nvSpPr>
        <p:spPr>
          <a:xfrm flipH="1">
            <a:off x="819025" y="3988150"/>
            <a:ext cx="1709100" cy="170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8"/>
          <p:cNvSpPr/>
          <p:nvPr/>
        </p:nvSpPr>
        <p:spPr>
          <a:xfrm flipH="1">
            <a:off x="3509950" y="3988150"/>
            <a:ext cx="1709100" cy="170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8"/>
          <p:cNvSpPr/>
          <p:nvPr/>
        </p:nvSpPr>
        <p:spPr>
          <a:xfrm flipH="1">
            <a:off x="6185825" y="3988150"/>
            <a:ext cx="1709100" cy="170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32"/>
          <p:cNvGrpSpPr/>
          <p:nvPr/>
        </p:nvGrpSpPr>
        <p:grpSpPr>
          <a:xfrm>
            <a:off x="0" y="2054550"/>
            <a:ext cx="1719000" cy="1034400"/>
            <a:chOff x="0" y="2054550"/>
            <a:chExt cx="1719000" cy="1034400"/>
          </a:xfrm>
        </p:grpSpPr>
        <p:sp>
          <p:nvSpPr>
            <p:cNvPr id="235" name="Google Shape;235;p32"/>
            <p:cNvSpPr/>
            <p:nvPr/>
          </p:nvSpPr>
          <p:spPr>
            <a:xfrm rot="5400000" flipH="1">
              <a:off x="342300" y="1712250"/>
              <a:ext cx="1034400" cy="1719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2"/>
            <p:cNvSpPr/>
            <p:nvPr/>
          </p:nvSpPr>
          <p:spPr>
            <a:xfrm rot="5400000">
              <a:off x="777144" y="2154093"/>
              <a:ext cx="835251" cy="835212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" name="Google Shape;237;p32"/>
          <p:cNvSpPr/>
          <p:nvPr/>
        </p:nvSpPr>
        <p:spPr>
          <a:xfrm rot="-5400000">
            <a:off x="7767300" y="1712250"/>
            <a:ext cx="1034400" cy="1719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8" name="Google Shape;238;p32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32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32"/>
          <p:cNvSpPr txBox="1">
            <a:spLocks noGrp="1"/>
          </p:cNvSpPr>
          <p:nvPr>
            <p:ph type="title" hasCustomPrompt="1"/>
          </p:nvPr>
        </p:nvSpPr>
        <p:spPr>
          <a:xfrm>
            <a:off x="1284000" y="540000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highlight>
                  <a:schemeClr val="dk2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41" name="Google Shape;241;p32"/>
          <p:cNvSpPr txBox="1">
            <a:spLocks noGrp="1"/>
          </p:cNvSpPr>
          <p:nvPr>
            <p:ph type="subTitle" idx="1"/>
          </p:nvPr>
        </p:nvSpPr>
        <p:spPr>
          <a:xfrm>
            <a:off x="1284000" y="1398425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2"/>
          <p:cNvSpPr txBox="1">
            <a:spLocks noGrp="1"/>
          </p:cNvSpPr>
          <p:nvPr>
            <p:ph type="title" idx="2" hasCustomPrompt="1"/>
          </p:nvPr>
        </p:nvSpPr>
        <p:spPr>
          <a:xfrm>
            <a:off x="1284000" y="1919881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43" name="Google Shape;243;p32"/>
          <p:cNvSpPr txBox="1">
            <a:spLocks noGrp="1"/>
          </p:cNvSpPr>
          <p:nvPr>
            <p:ph type="subTitle" idx="3"/>
          </p:nvPr>
        </p:nvSpPr>
        <p:spPr>
          <a:xfrm>
            <a:off x="1284000" y="2778306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title" idx="4" hasCustomPrompt="1"/>
          </p:nvPr>
        </p:nvSpPr>
        <p:spPr>
          <a:xfrm>
            <a:off x="1284000" y="3299763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highlight>
                  <a:schemeClr val="dk2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45" name="Google Shape;245;p32"/>
          <p:cNvSpPr txBox="1">
            <a:spLocks noGrp="1"/>
          </p:cNvSpPr>
          <p:nvPr>
            <p:ph type="subTitle" idx="5"/>
          </p:nvPr>
        </p:nvSpPr>
        <p:spPr>
          <a:xfrm>
            <a:off x="1284000" y="4158188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3" name="Google Shape;253;p34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34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" name="Google Shape;255;p34"/>
          <p:cNvSpPr/>
          <p:nvPr/>
        </p:nvSpPr>
        <p:spPr>
          <a:xfrm flipH="1">
            <a:off x="6347063" y="3877875"/>
            <a:ext cx="2049600" cy="2049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FA0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34"/>
          <p:cNvGrpSpPr/>
          <p:nvPr/>
        </p:nvGrpSpPr>
        <p:grpSpPr>
          <a:xfrm rot="10800000">
            <a:off x="-376506" y="881730"/>
            <a:ext cx="771205" cy="1471552"/>
            <a:chOff x="8632600" y="4089800"/>
            <a:chExt cx="271800" cy="518700"/>
          </a:xfrm>
        </p:grpSpPr>
        <p:sp>
          <p:nvSpPr>
            <p:cNvPr id="257" name="Google Shape;257;p34"/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4"/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dk2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Google Shape;260;p35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35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" name="Google Shape;262;p35"/>
          <p:cNvSpPr/>
          <p:nvPr/>
        </p:nvSpPr>
        <p:spPr>
          <a:xfrm rot="5400000">
            <a:off x="817425" y="3517485"/>
            <a:ext cx="1036800" cy="2663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35"/>
          <p:cNvGrpSpPr/>
          <p:nvPr/>
        </p:nvGrpSpPr>
        <p:grpSpPr>
          <a:xfrm>
            <a:off x="420811" y="3740550"/>
            <a:ext cx="596846" cy="1138961"/>
            <a:chOff x="8632600" y="4089800"/>
            <a:chExt cx="271800" cy="518700"/>
          </a:xfrm>
        </p:grpSpPr>
        <p:sp>
          <p:nvSpPr>
            <p:cNvPr id="264" name="Google Shape;264;p35"/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5"/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yne"/>
              <a:buNone/>
              <a:defRPr sz="35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ora"/>
              <a:buChar char="■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0" r:id="rId9"/>
    <p:sldLayoutId id="2147483662" r:id="rId10"/>
    <p:sldLayoutId id="2147483664" r:id="rId11"/>
    <p:sldLayoutId id="2147483669" r:id="rId12"/>
    <p:sldLayoutId id="2147483671" r:id="rId13"/>
    <p:sldLayoutId id="2147483674" r:id="rId14"/>
    <p:sldLayoutId id="2147483678" r:id="rId15"/>
    <p:sldLayoutId id="2147483680" r:id="rId16"/>
    <p:sldLayoutId id="2147483681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Startup_Success_Binary%20(Gerald%20Velas).xlsx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>
            <a:spLocks noGrp="1"/>
          </p:cNvSpPr>
          <p:nvPr>
            <p:ph type="ctrTitle"/>
          </p:nvPr>
        </p:nvSpPr>
        <p:spPr>
          <a:xfrm>
            <a:off x="384048" y="500868"/>
            <a:ext cx="7842043" cy="21615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Venture</a:t>
            </a:r>
            <a:br>
              <a:rPr lang="en" dirty="0"/>
            </a:br>
            <a:r>
              <a:rPr lang="en" dirty="0"/>
              <a:t> </a:t>
            </a:r>
            <a:r>
              <a:rPr lang="en" dirty="0">
                <a:highlight>
                  <a:srgbClr val="0000FF"/>
                </a:highlight>
              </a:rPr>
              <a:t>Signal</a:t>
            </a:r>
            <a:r>
              <a:rPr lang="en" dirty="0"/>
              <a:t> Science</a:t>
            </a:r>
            <a:endParaRPr dirty="0"/>
          </a:p>
        </p:txBody>
      </p:sp>
      <p:sp>
        <p:nvSpPr>
          <p:cNvPr id="277" name="Google Shape;277;p39"/>
          <p:cNvSpPr txBox="1">
            <a:spLocks noGrp="1"/>
          </p:cNvSpPr>
          <p:nvPr>
            <p:ph type="subTitle" idx="1"/>
          </p:nvPr>
        </p:nvSpPr>
        <p:spPr>
          <a:xfrm>
            <a:off x="1024128" y="2852840"/>
            <a:ext cx="2889504" cy="7888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Decoding the Metrics That Drive Early Success</a:t>
            </a:r>
            <a:endParaRPr dirty="0"/>
          </a:p>
        </p:txBody>
      </p:sp>
      <p:grpSp>
        <p:nvGrpSpPr>
          <p:cNvPr id="278" name="Google Shape;278;p39"/>
          <p:cNvGrpSpPr/>
          <p:nvPr/>
        </p:nvGrpSpPr>
        <p:grpSpPr>
          <a:xfrm flipH="1">
            <a:off x="5604181" y="3641663"/>
            <a:ext cx="1749061" cy="1000969"/>
            <a:chOff x="7506767" y="660738"/>
            <a:chExt cx="1382100" cy="706200"/>
          </a:xfrm>
        </p:grpSpPr>
        <p:sp>
          <p:nvSpPr>
            <p:cNvPr id="279" name="Google Shape;279;p39"/>
            <p:cNvSpPr/>
            <p:nvPr/>
          </p:nvSpPr>
          <p:spPr>
            <a:xfrm>
              <a:off x="7506767" y="660738"/>
              <a:ext cx="1382100" cy="7062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9"/>
            <p:cNvSpPr/>
            <p:nvPr/>
          </p:nvSpPr>
          <p:spPr>
            <a:xfrm>
              <a:off x="8197817" y="731759"/>
              <a:ext cx="564212" cy="564186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39"/>
          <p:cNvGrpSpPr/>
          <p:nvPr/>
        </p:nvGrpSpPr>
        <p:grpSpPr>
          <a:xfrm flipH="1">
            <a:off x="469854" y="-612236"/>
            <a:ext cx="921992" cy="1919100"/>
            <a:chOff x="7814625" y="-472625"/>
            <a:chExt cx="804300" cy="1775700"/>
          </a:xfrm>
        </p:grpSpPr>
        <p:sp>
          <p:nvSpPr>
            <p:cNvPr id="282" name="Google Shape;282;p39"/>
            <p:cNvSpPr/>
            <p:nvPr/>
          </p:nvSpPr>
          <p:spPr>
            <a:xfrm rot="5400000">
              <a:off x="7328925" y="13075"/>
              <a:ext cx="1775700" cy="804300"/>
            </a:xfrm>
            <a:prstGeom prst="roundRect">
              <a:avLst>
                <a:gd name="adj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9"/>
            <p:cNvSpPr/>
            <p:nvPr/>
          </p:nvSpPr>
          <p:spPr>
            <a:xfrm rot="5400000">
              <a:off x="7895524" y="540085"/>
              <a:ext cx="642534" cy="642504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9A9D8EB-62C1-579E-D976-88F720F21FC8}"/>
              </a:ext>
            </a:extLst>
          </p:cNvPr>
          <p:cNvSpPr txBox="1"/>
          <p:nvPr/>
        </p:nvSpPr>
        <p:spPr>
          <a:xfrm>
            <a:off x="7666074" y="4226535"/>
            <a:ext cx="1477926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/>
            </a:r>
          </a:p>
          <a:p>
            <a:pPr algn="r"/>
            <a:r>
              <a:rPr lang="en-GB" sz="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INTRO TO DATA SCIENCE</a:t>
            </a:r>
          </a:p>
          <a:p>
            <a:pPr algn="r"/>
            <a:r>
              <a:rPr lang="en-GB" sz="700" b="1" dirty="0">
                <a:solidFill>
                  <a:schemeClr val="tx1"/>
                </a:solidFill>
                <a:highlight>
                  <a:srgbClr val="0000FF"/>
                </a:highlight>
                <a:latin typeface="Segoe UI" panose="020B0502040204020203" pitchFamily="34" charset="0"/>
              </a:rPr>
              <a:t>GERALD VELAS</a:t>
            </a:r>
          </a:p>
          <a:p>
            <a:pPr algn="r"/>
            <a:r>
              <a:rPr lang="en-GB" sz="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244017</a:t>
            </a:r>
          </a:p>
          <a:p>
            <a:pPr algn="r"/>
            <a:r>
              <a:rPr lang="en-GB" sz="600" b="1" dirty="0">
                <a:solidFill>
                  <a:schemeClr val="tx1"/>
                </a:solidFill>
                <a:latin typeface="Segoe UI" panose="020B0502040204020203" pitchFamily="34" charset="0"/>
              </a:rPr>
              <a:t>PROF. VASILEIOS VLASEROS</a:t>
            </a:r>
            <a:endParaRPr lang="en-GB" sz="600" b="1" i="0" dirty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4"/>
          <p:cNvSpPr txBox="1">
            <a:spLocks noGrp="1"/>
          </p:cNvSpPr>
          <p:nvPr>
            <p:ph type="title"/>
          </p:nvPr>
        </p:nvSpPr>
        <p:spPr>
          <a:xfrm>
            <a:off x="285879" y="448056"/>
            <a:ext cx="4195926" cy="36210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A  </a:t>
            </a:r>
            <a:r>
              <a:rPr lang="en" sz="3600" dirty="0">
                <a:highlight>
                  <a:schemeClr val="dk2"/>
                </a:highlight>
              </a:rPr>
              <a:t>Data Science </a:t>
            </a:r>
            <a:r>
              <a:rPr lang="en" sz="3600" dirty="0"/>
              <a:t>approach to early-stage</a:t>
            </a:r>
            <a:br>
              <a:rPr lang="en" sz="3600" dirty="0">
                <a:highlight>
                  <a:schemeClr val="dk2"/>
                </a:highlight>
              </a:rPr>
            </a:br>
            <a:r>
              <a:rPr lang="en" sz="3600" dirty="0">
                <a:highlight>
                  <a:schemeClr val="dk2"/>
                </a:highlight>
              </a:rPr>
              <a:t> Venture Capital </a:t>
            </a:r>
            <a:r>
              <a:rPr lang="en" sz="3600" dirty="0"/>
              <a:t>screening</a:t>
            </a:r>
            <a:endParaRPr sz="3600" dirty="0"/>
          </a:p>
        </p:txBody>
      </p:sp>
      <p:sp>
        <p:nvSpPr>
          <p:cNvPr id="450" name="Google Shape;450;p44"/>
          <p:cNvSpPr txBox="1">
            <a:spLocks noGrp="1"/>
          </p:cNvSpPr>
          <p:nvPr>
            <p:ph type="subTitle" idx="1"/>
          </p:nvPr>
        </p:nvSpPr>
        <p:spPr>
          <a:xfrm>
            <a:off x="4284443" y="2713344"/>
            <a:ext cx="4573678" cy="19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400" dirty="0"/>
              <a:t> 	This project uses data science to uncover early signals of start-up success. </a:t>
            </a:r>
          </a:p>
          <a:p>
            <a:pPr algn="just"/>
            <a:endParaRPr lang="en-GB" sz="1400" dirty="0"/>
          </a:p>
          <a:p>
            <a:pPr algn="just"/>
            <a:r>
              <a:rPr lang="en-GB" sz="1400" dirty="0"/>
              <a:t>	By analysing venture data with machine learning, we reveal how factors like funding size</a:t>
            </a:r>
            <a:r>
              <a:rPr lang="en-GB" sz="1400"/>
              <a:t>, </a:t>
            </a:r>
            <a:r>
              <a:rPr lang="en-US" sz="1400"/>
              <a:t>funding rounds, company age, and investor backing influence whether a start-up succeeds or closes.</a:t>
            </a:r>
            <a:endParaRPr lang="en-GB" sz="1400" dirty="0"/>
          </a:p>
        </p:txBody>
      </p:sp>
      <p:grpSp>
        <p:nvGrpSpPr>
          <p:cNvPr id="451" name="Google Shape;451;p44"/>
          <p:cNvGrpSpPr/>
          <p:nvPr/>
        </p:nvGrpSpPr>
        <p:grpSpPr>
          <a:xfrm>
            <a:off x="3294588" y="2964892"/>
            <a:ext cx="1213404" cy="2178608"/>
            <a:chOff x="2340500" y="2798475"/>
            <a:chExt cx="1524300" cy="2124000"/>
          </a:xfrm>
        </p:grpSpPr>
        <p:sp>
          <p:nvSpPr>
            <p:cNvPr id="452" name="Google Shape;452;p44"/>
            <p:cNvSpPr/>
            <p:nvPr/>
          </p:nvSpPr>
          <p:spPr>
            <a:xfrm>
              <a:off x="2340500" y="2798475"/>
              <a:ext cx="1524300" cy="2124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4"/>
            <p:cNvSpPr/>
            <p:nvPr/>
          </p:nvSpPr>
          <p:spPr>
            <a:xfrm rot="16200000">
              <a:off x="2638252" y="2767541"/>
              <a:ext cx="928818" cy="128607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4" name="Google Shape;454;p44"/>
          <p:cNvSpPr/>
          <p:nvPr/>
        </p:nvSpPr>
        <p:spPr>
          <a:xfrm rot="-5400000">
            <a:off x="6066721" y="-722827"/>
            <a:ext cx="1754400" cy="44001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44"/>
          <p:cNvGrpSpPr/>
          <p:nvPr/>
        </p:nvGrpSpPr>
        <p:grpSpPr>
          <a:xfrm>
            <a:off x="5031756" y="903730"/>
            <a:ext cx="1057566" cy="981983"/>
            <a:chOff x="5619305" y="2372335"/>
            <a:chExt cx="459971" cy="427116"/>
          </a:xfrm>
        </p:grpSpPr>
        <p:sp>
          <p:nvSpPr>
            <p:cNvPr id="456" name="Google Shape;456;p44"/>
            <p:cNvSpPr/>
            <p:nvPr/>
          </p:nvSpPr>
          <p:spPr>
            <a:xfrm>
              <a:off x="5691868" y="2459757"/>
              <a:ext cx="300275" cy="149993"/>
            </a:xfrm>
            <a:custGeom>
              <a:avLst/>
              <a:gdLst/>
              <a:ahLst/>
              <a:cxnLst/>
              <a:rect l="l" t="t" r="r" b="b"/>
              <a:pathLst>
                <a:path w="9377" h="4684" extrusionOk="0">
                  <a:moveTo>
                    <a:pt x="4693" y="0"/>
                  </a:moveTo>
                  <a:cubicBezTo>
                    <a:pt x="2097" y="0"/>
                    <a:pt x="1" y="2097"/>
                    <a:pt x="1" y="4684"/>
                  </a:cubicBezTo>
                  <a:lnTo>
                    <a:pt x="9377" y="4684"/>
                  </a:lnTo>
                  <a:cubicBezTo>
                    <a:pt x="9377" y="2097"/>
                    <a:pt x="7280" y="0"/>
                    <a:pt x="4693" y="0"/>
                  </a:cubicBezTo>
                  <a:close/>
                </a:path>
              </a:pathLst>
            </a:custGeom>
            <a:solidFill>
              <a:srgbClr val="07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" name="Google Shape;457;p44"/>
            <p:cNvSpPr/>
            <p:nvPr/>
          </p:nvSpPr>
          <p:spPr>
            <a:xfrm>
              <a:off x="5647613" y="2667999"/>
              <a:ext cx="14570" cy="13449"/>
            </a:xfrm>
            <a:custGeom>
              <a:avLst/>
              <a:gdLst/>
              <a:ahLst/>
              <a:cxnLst/>
              <a:rect l="l" t="t" r="r" b="b"/>
              <a:pathLst>
                <a:path w="455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4"/>
            <p:cNvSpPr/>
            <p:nvPr/>
          </p:nvSpPr>
          <p:spPr>
            <a:xfrm>
              <a:off x="5676465" y="266799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4"/>
            <p:cNvSpPr/>
            <p:nvPr/>
          </p:nvSpPr>
          <p:spPr>
            <a:xfrm>
              <a:off x="6036398" y="266799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4"/>
            <p:cNvSpPr/>
            <p:nvPr/>
          </p:nvSpPr>
          <p:spPr>
            <a:xfrm>
              <a:off x="5669324" y="2459180"/>
              <a:ext cx="345395" cy="157423"/>
            </a:xfrm>
            <a:custGeom>
              <a:avLst/>
              <a:gdLst/>
              <a:ahLst/>
              <a:cxnLst/>
              <a:rect l="l" t="t" r="r" b="b"/>
              <a:pathLst>
                <a:path w="10786" h="4916" extrusionOk="0">
                  <a:moveTo>
                    <a:pt x="5183" y="438"/>
                  </a:moveTo>
                  <a:lnTo>
                    <a:pt x="5183" y="2472"/>
                  </a:lnTo>
                  <a:lnTo>
                    <a:pt x="3488" y="2472"/>
                  </a:lnTo>
                  <a:cubicBezTo>
                    <a:pt x="3586" y="2168"/>
                    <a:pt x="3702" y="1883"/>
                    <a:pt x="3845" y="1624"/>
                  </a:cubicBezTo>
                  <a:cubicBezTo>
                    <a:pt x="4220" y="946"/>
                    <a:pt x="4684" y="527"/>
                    <a:pt x="5183" y="438"/>
                  </a:cubicBezTo>
                  <a:close/>
                  <a:moveTo>
                    <a:pt x="5602" y="438"/>
                  </a:moveTo>
                  <a:cubicBezTo>
                    <a:pt x="6102" y="527"/>
                    <a:pt x="6566" y="946"/>
                    <a:pt x="6941" y="1624"/>
                  </a:cubicBezTo>
                  <a:cubicBezTo>
                    <a:pt x="7083" y="1883"/>
                    <a:pt x="7199" y="2168"/>
                    <a:pt x="7306" y="2472"/>
                  </a:cubicBezTo>
                  <a:lnTo>
                    <a:pt x="5602" y="2472"/>
                  </a:lnTo>
                  <a:lnTo>
                    <a:pt x="5602" y="438"/>
                  </a:lnTo>
                  <a:close/>
                  <a:moveTo>
                    <a:pt x="5183" y="2891"/>
                  </a:moveTo>
                  <a:lnTo>
                    <a:pt x="5183" y="4497"/>
                  </a:lnTo>
                  <a:lnTo>
                    <a:pt x="3158" y="4497"/>
                  </a:lnTo>
                  <a:cubicBezTo>
                    <a:pt x="3167" y="3935"/>
                    <a:pt x="3238" y="3390"/>
                    <a:pt x="3363" y="2891"/>
                  </a:cubicBezTo>
                  <a:close/>
                  <a:moveTo>
                    <a:pt x="7422" y="2891"/>
                  </a:moveTo>
                  <a:cubicBezTo>
                    <a:pt x="7547" y="3390"/>
                    <a:pt x="7619" y="3935"/>
                    <a:pt x="7636" y="4497"/>
                  </a:cubicBezTo>
                  <a:lnTo>
                    <a:pt x="5602" y="4497"/>
                  </a:lnTo>
                  <a:lnTo>
                    <a:pt x="5602" y="2891"/>
                  </a:lnTo>
                  <a:close/>
                  <a:moveTo>
                    <a:pt x="5397" y="0"/>
                  </a:moveTo>
                  <a:cubicBezTo>
                    <a:pt x="4657" y="0"/>
                    <a:pt x="3979" y="509"/>
                    <a:pt x="3470" y="1428"/>
                  </a:cubicBezTo>
                  <a:cubicBezTo>
                    <a:pt x="3301" y="1740"/>
                    <a:pt x="3158" y="2088"/>
                    <a:pt x="3042" y="2472"/>
                  </a:cubicBezTo>
                  <a:lnTo>
                    <a:pt x="1347" y="2472"/>
                  </a:lnTo>
                  <a:lnTo>
                    <a:pt x="1347" y="2891"/>
                  </a:lnTo>
                  <a:lnTo>
                    <a:pt x="2935" y="2891"/>
                  </a:lnTo>
                  <a:cubicBezTo>
                    <a:pt x="2810" y="3399"/>
                    <a:pt x="2748" y="3935"/>
                    <a:pt x="2730" y="4497"/>
                  </a:cubicBezTo>
                  <a:lnTo>
                    <a:pt x="0" y="4497"/>
                  </a:lnTo>
                  <a:lnTo>
                    <a:pt x="0" y="4916"/>
                  </a:lnTo>
                  <a:lnTo>
                    <a:pt x="10786" y="4916"/>
                  </a:lnTo>
                  <a:lnTo>
                    <a:pt x="10786" y="4497"/>
                  </a:lnTo>
                  <a:lnTo>
                    <a:pt x="8056" y="4497"/>
                  </a:lnTo>
                  <a:cubicBezTo>
                    <a:pt x="8038" y="3935"/>
                    <a:pt x="7975" y="3399"/>
                    <a:pt x="7859" y="2891"/>
                  </a:cubicBezTo>
                  <a:lnTo>
                    <a:pt x="9438" y="2891"/>
                  </a:lnTo>
                  <a:lnTo>
                    <a:pt x="9438" y="2472"/>
                  </a:lnTo>
                  <a:lnTo>
                    <a:pt x="7743" y="2472"/>
                  </a:lnTo>
                  <a:cubicBezTo>
                    <a:pt x="7628" y="2088"/>
                    <a:pt x="7485" y="1740"/>
                    <a:pt x="7315" y="1428"/>
                  </a:cubicBezTo>
                  <a:cubicBezTo>
                    <a:pt x="6807" y="509"/>
                    <a:pt x="6129" y="0"/>
                    <a:pt x="5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4"/>
            <p:cNvSpPr/>
            <p:nvPr/>
          </p:nvSpPr>
          <p:spPr>
            <a:xfrm>
              <a:off x="5791586" y="2574301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4"/>
            <p:cNvSpPr/>
            <p:nvPr/>
          </p:nvSpPr>
          <p:spPr>
            <a:xfrm>
              <a:off x="5863573" y="2516596"/>
              <a:ext cx="14602" cy="13738"/>
            </a:xfrm>
            <a:custGeom>
              <a:avLst/>
              <a:gdLst/>
              <a:ahLst/>
              <a:cxnLst/>
              <a:rect l="l" t="t" r="r" b="b"/>
              <a:pathLst>
                <a:path w="456" h="429" extrusionOk="0">
                  <a:moveTo>
                    <a:pt x="0" y="1"/>
                  </a:moveTo>
                  <a:lnTo>
                    <a:pt x="0" y="429"/>
                  </a:lnTo>
                  <a:lnTo>
                    <a:pt x="455" y="429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4"/>
            <p:cNvSpPr/>
            <p:nvPr/>
          </p:nvSpPr>
          <p:spPr>
            <a:xfrm>
              <a:off x="5726741" y="2574301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4"/>
            <p:cNvSpPr/>
            <p:nvPr/>
          </p:nvSpPr>
          <p:spPr>
            <a:xfrm>
              <a:off x="5619305" y="2632006"/>
              <a:ext cx="459971" cy="167446"/>
            </a:xfrm>
            <a:custGeom>
              <a:avLst/>
              <a:gdLst/>
              <a:ahLst/>
              <a:cxnLst/>
              <a:rect l="l" t="t" r="r" b="b"/>
              <a:pathLst>
                <a:path w="14364" h="5229" extrusionOk="0">
                  <a:moveTo>
                    <a:pt x="13936" y="420"/>
                  </a:moveTo>
                  <a:lnTo>
                    <a:pt x="13936" y="2249"/>
                  </a:lnTo>
                  <a:lnTo>
                    <a:pt x="10688" y="2249"/>
                  </a:lnTo>
                  <a:lnTo>
                    <a:pt x="10099" y="2829"/>
                  </a:lnTo>
                  <a:lnTo>
                    <a:pt x="8164" y="893"/>
                  </a:lnTo>
                  <a:lnTo>
                    <a:pt x="6647" y="893"/>
                  </a:lnTo>
                  <a:lnTo>
                    <a:pt x="5835" y="1705"/>
                  </a:lnTo>
                  <a:lnTo>
                    <a:pt x="5452" y="1330"/>
                  </a:lnTo>
                  <a:lnTo>
                    <a:pt x="6370" y="420"/>
                  </a:lnTo>
                  <a:close/>
                  <a:moveTo>
                    <a:pt x="5773" y="420"/>
                  </a:moveTo>
                  <a:lnTo>
                    <a:pt x="4863" y="1330"/>
                  </a:lnTo>
                  <a:lnTo>
                    <a:pt x="5835" y="2302"/>
                  </a:lnTo>
                  <a:lnTo>
                    <a:pt x="6817" y="1321"/>
                  </a:lnTo>
                  <a:lnTo>
                    <a:pt x="7994" y="1321"/>
                  </a:lnTo>
                  <a:lnTo>
                    <a:pt x="10251" y="3578"/>
                  </a:lnTo>
                  <a:lnTo>
                    <a:pt x="9876" y="3953"/>
                  </a:lnTo>
                  <a:lnTo>
                    <a:pt x="7557" y="1633"/>
                  </a:lnTo>
                  <a:lnTo>
                    <a:pt x="7254" y="1928"/>
                  </a:lnTo>
                  <a:lnTo>
                    <a:pt x="9127" y="3801"/>
                  </a:lnTo>
                  <a:lnTo>
                    <a:pt x="8752" y="4185"/>
                  </a:lnTo>
                  <a:lnTo>
                    <a:pt x="7102" y="2534"/>
                  </a:lnTo>
                  <a:lnTo>
                    <a:pt x="6808" y="2829"/>
                  </a:lnTo>
                  <a:lnTo>
                    <a:pt x="8003" y="4033"/>
                  </a:lnTo>
                  <a:lnTo>
                    <a:pt x="7628" y="4408"/>
                  </a:lnTo>
                  <a:lnTo>
                    <a:pt x="6656" y="3426"/>
                  </a:lnTo>
                  <a:lnTo>
                    <a:pt x="6353" y="3730"/>
                  </a:lnTo>
                  <a:lnTo>
                    <a:pt x="6879" y="4256"/>
                  </a:lnTo>
                  <a:lnTo>
                    <a:pt x="6504" y="4631"/>
                  </a:lnTo>
                  <a:lnTo>
                    <a:pt x="4122" y="2249"/>
                  </a:lnTo>
                  <a:lnTo>
                    <a:pt x="420" y="2249"/>
                  </a:lnTo>
                  <a:lnTo>
                    <a:pt x="420" y="420"/>
                  </a:lnTo>
                  <a:close/>
                  <a:moveTo>
                    <a:pt x="1" y="1"/>
                  </a:moveTo>
                  <a:lnTo>
                    <a:pt x="1" y="2668"/>
                  </a:lnTo>
                  <a:lnTo>
                    <a:pt x="3944" y="2668"/>
                  </a:lnTo>
                  <a:lnTo>
                    <a:pt x="6504" y="5228"/>
                  </a:lnTo>
                  <a:lnTo>
                    <a:pt x="7182" y="4550"/>
                  </a:lnTo>
                  <a:lnTo>
                    <a:pt x="7628" y="5005"/>
                  </a:lnTo>
                  <a:lnTo>
                    <a:pt x="8306" y="4327"/>
                  </a:lnTo>
                  <a:lnTo>
                    <a:pt x="8752" y="4773"/>
                  </a:lnTo>
                  <a:lnTo>
                    <a:pt x="9430" y="4104"/>
                  </a:lnTo>
                  <a:lnTo>
                    <a:pt x="9876" y="4550"/>
                  </a:lnTo>
                  <a:lnTo>
                    <a:pt x="10849" y="3578"/>
                  </a:lnTo>
                  <a:lnTo>
                    <a:pt x="10403" y="3132"/>
                  </a:lnTo>
                  <a:lnTo>
                    <a:pt x="10867" y="2668"/>
                  </a:lnTo>
                  <a:lnTo>
                    <a:pt x="14364" y="2668"/>
                  </a:lnTo>
                  <a:lnTo>
                    <a:pt x="143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" name="Google Shape;465;p44"/>
            <p:cNvSpPr/>
            <p:nvPr/>
          </p:nvSpPr>
          <p:spPr>
            <a:xfrm>
              <a:off x="6007546" y="2667999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4"/>
            <p:cNvSpPr/>
            <p:nvPr/>
          </p:nvSpPr>
          <p:spPr>
            <a:xfrm>
              <a:off x="5820438" y="2372335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4" y="0"/>
                  </a:moveTo>
                  <a:lnTo>
                    <a:pt x="464" y="241"/>
                  </a:lnTo>
                  <a:lnTo>
                    <a:pt x="18" y="241"/>
                  </a:lnTo>
                  <a:lnTo>
                    <a:pt x="18" y="1330"/>
                  </a:lnTo>
                  <a:lnTo>
                    <a:pt x="910" y="1330"/>
                  </a:lnTo>
                  <a:lnTo>
                    <a:pt x="910" y="1588"/>
                  </a:lnTo>
                  <a:lnTo>
                    <a:pt x="0" y="1588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8"/>
                  </a:lnTo>
                  <a:lnTo>
                    <a:pt x="883" y="2248"/>
                  </a:lnTo>
                  <a:lnTo>
                    <a:pt x="883" y="2008"/>
                  </a:lnTo>
                  <a:lnTo>
                    <a:pt x="1338" y="2008"/>
                  </a:lnTo>
                  <a:lnTo>
                    <a:pt x="1338" y="910"/>
                  </a:lnTo>
                  <a:lnTo>
                    <a:pt x="437" y="910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41"/>
                  </a:lnTo>
                  <a:lnTo>
                    <a:pt x="883" y="241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28D2E00-94B0-6E8A-4E89-2E4D2920AFF9}"/>
              </a:ext>
            </a:extLst>
          </p:cNvPr>
          <p:cNvSpPr txBox="1"/>
          <p:nvPr/>
        </p:nvSpPr>
        <p:spPr>
          <a:xfrm>
            <a:off x="7928846" y="4619741"/>
            <a:ext cx="115541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Potanin et al. (2023)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854BB7-5AD9-695D-75CA-4C09414B85A8}"/>
              </a:ext>
            </a:extLst>
          </p:cNvPr>
          <p:cNvSpPr txBox="1"/>
          <p:nvPr/>
        </p:nvSpPr>
        <p:spPr>
          <a:xfrm>
            <a:off x="0" y="4672301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55000"/>
              </a:schemeClr>
            </a:glow>
            <a:outerShdw blurRad="50800" dist="50800" dir="5400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2"/>
          <p:cNvSpPr/>
          <p:nvPr/>
        </p:nvSpPr>
        <p:spPr>
          <a:xfrm rot="10800000" flipH="1">
            <a:off x="7596858" y="-19750"/>
            <a:ext cx="1138800" cy="36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2"/>
          <p:cNvSpPr txBox="1">
            <a:spLocks noGrp="1"/>
          </p:cNvSpPr>
          <p:nvPr>
            <p:ph type="title"/>
          </p:nvPr>
        </p:nvSpPr>
        <p:spPr>
          <a:xfrm>
            <a:off x="655901" y="1933299"/>
            <a:ext cx="6240781" cy="22915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Why </a:t>
            </a:r>
            <a:r>
              <a:rPr lang="en" sz="4400" dirty="0">
                <a:highlight>
                  <a:schemeClr val="dk2"/>
                </a:highlight>
              </a:rPr>
              <a:t>Seed-Stage</a:t>
            </a:r>
            <a:r>
              <a:rPr lang="en" sz="4400" dirty="0"/>
              <a:t> Signals Matter in 						</a:t>
            </a:r>
            <a:r>
              <a:rPr lang="en" sz="4400" dirty="0">
                <a:highlight>
                  <a:srgbClr val="0000FF"/>
                </a:highlight>
              </a:rPr>
              <a:t> </a:t>
            </a:r>
            <a:r>
              <a:rPr lang="en" sz="5400" dirty="0">
                <a:highlight>
                  <a:srgbClr val="0000FF"/>
                </a:highlight>
              </a:rPr>
              <a:t>VC </a:t>
            </a:r>
            <a:endParaRPr sz="5400" dirty="0">
              <a:highlight>
                <a:srgbClr val="0000FF"/>
              </a:highlight>
            </a:endParaRPr>
          </a:p>
        </p:txBody>
      </p:sp>
      <p:sp>
        <p:nvSpPr>
          <p:cNvPr id="331" name="Google Shape;331;p42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2783750" cy="7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333" name="Google Shape;333;p42"/>
          <p:cNvGrpSpPr/>
          <p:nvPr/>
        </p:nvGrpSpPr>
        <p:grpSpPr>
          <a:xfrm>
            <a:off x="7258594" y="3181229"/>
            <a:ext cx="676528" cy="730372"/>
            <a:chOff x="4872572" y="450313"/>
            <a:chExt cx="386832" cy="459971"/>
          </a:xfrm>
        </p:grpSpPr>
        <p:sp>
          <p:nvSpPr>
            <p:cNvPr id="334" name="Google Shape;334;p42"/>
            <p:cNvSpPr/>
            <p:nvPr/>
          </p:nvSpPr>
          <p:spPr>
            <a:xfrm>
              <a:off x="5231641" y="486306"/>
              <a:ext cx="13481" cy="201165"/>
            </a:xfrm>
            <a:custGeom>
              <a:avLst/>
              <a:gdLst/>
              <a:ahLst/>
              <a:cxnLst/>
              <a:rect l="l" t="t" r="r" b="b"/>
              <a:pathLst>
                <a:path w="421" h="6282" extrusionOk="0">
                  <a:moveTo>
                    <a:pt x="1" y="1"/>
                  </a:moveTo>
                  <a:lnTo>
                    <a:pt x="1" y="6281"/>
                  </a:lnTo>
                  <a:lnTo>
                    <a:pt x="420" y="6281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2"/>
            <p:cNvSpPr/>
            <p:nvPr/>
          </p:nvSpPr>
          <p:spPr>
            <a:xfrm>
              <a:off x="4886566" y="486306"/>
              <a:ext cx="13449" cy="201165"/>
            </a:xfrm>
            <a:custGeom>
              <a:avLst/>
              <a:gdLst/>
              <a:ahLst/>
              <a:cxnLst/>
              <a:rect l="l" t="t" r="r" b="b"/>
              <a:pathLst>
                <a:path w="420" h="6282" extrusionOk="0">
                  <a:moveTo>
                    <a:pt x="0" y="1"/>
                  </a:moveTo>
                  <a:lnTo>
                    <a:pt x="0" y="6281"/>
                  </a:lnTo>
                  <a:lnTo>
                    <a:pt x="420" y="6281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2"/>
            <p:cNvSpPr/>
            <p:nvPr/>
          </p:nvSpPr>
          <p:spPr>
            <a:xfrm>
              <a:off x="5137655" y="507761"/>
              <a:ext cx="43198" cy="72019"/>
            </a:xfrm>
            <a:custGeom>
              <a:avLst/>
              <a:gdLst/>
              <a:ahLst/>
              <a:cxnLst/>
              <a:rect l="l" t="t" r="r" b="b"/>
              <a:pathLst>
                <a:path w="1349" h="2249" extrusionOk="0">
                  <a:moveTo>
                    <a:pt x="465" y="0"/>
                  </a:moveTo>
                  <a:lnTo>
                    <a:pt x="465" y="241"/>
                  </a:lnTo>
                  <a:lnTo>
                    <a:pt x="19" y="241"/>
                  </a:lnTo>
                  <a:lnTo>
                    <a:pt x="19" y="1338"/>
                  </a:lnTo>
                  <a:lnTo>
                    <a:pt x="911" y="1338"/>
                  </a:lnTo>
                  <a:lnTo>
                    <a:pt x="911" y="1588"/>
                  </a:lnTo>
                  <a:lnTo>
                    <a:pt x="1" y="1588"/>
                  </a:lnTo>
                  <a:lnTo>
                    <a:pt x="1" y="2007"/>
                  </a:lnTo>
                  <a:lnTo>
                    <a:pt x="465" y="2007"/>
                  </a:lnTo>
                  <a:lnTo>
                    <a:pt x="465" y="2248"/>
                  </a:lnTo>
                  <a:lnTo>
                    <a:pt x="884" y="2248"/>
                  </a:lnTo>
                  <a:lnTo>
                    <a:pt x="884" y="2007"/>
                  </a:lnTo>
                  <a:lnTo>
                    <a:pt x="1330" y="2007"/>
                  </a:lnTo>
                  <a:lnTo>
                    <a:pt x="1330" y="919"/>
                  </a:lnTo>
                  <a:lnTo>
                    <a:pt x="438" y="919"/>
                  </a:lnTo>
                  <a:lnTo>
                    <a:pt x="438" y="660"/>
                  </a:lnTo>
                  <a:lnTo>
                    <a:pt x="1348" y="660"/>
                  </a:lnTo>
                  <a:lnTo>
                    <a:pt x="1348" y="241"/>
                  </a:lnTo>
                  <a:lnTo>
                    <a:pt x="884" y="241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2"/>
            <p:cNvSpPr/>
            <p:nvPr/>
          </p:nvSpPr>
          <p:spPr>
            <a:xfrm>
              <a:off x="5058527" y="652022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56" y="419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2"/>
            <p:cNvSpPr/>
            <p:nvPr/>
          </p:nvSpPr>
          <p:spPr>
            <a:xfrm>
              <a:off x="5087379" y="65202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2"/>
            <p:cNvSpPr/>
            <p:nvPr/>
          </p:nvSpPr>
          <p:spPr>
            <a:xfrm>
              <a:off x="5029963" y="65202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2"/>
            <p:cNvSpPr/>
            <p:nvPr/>
          </p:nvSpPr>
          <p:spPr>
            <a:xfrm>
              <a:off x="4943694" y="508305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2"/>
            <p:cNvSpPr/>
            <p:nvPr/>
          </p:nvSpPr>
          <p:spPr>
            <a:xfrm>
              <a:off x="4914842" y="50830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2"/>
            <p:cNvSpPr/>
            <p:nvPr/>
          </p:nvSpPr>
          <p:spPr>
            <a:xfrm>
              <a:off x="4924545" y="716292"/>
              <a:ext cx="282567" cy="193992"/>
            </a:xfrm>
            <a:custGeom>
              <a:avLst/>
              <a:gdLst/>
              <a:ahLst/>
              <a:cxnLst/>
              <a:rect l="l" t="t" r="r" b="b"/>
              <a:pathLst>
                <a:path w="8824" h="6058" extrusionOk="0">
                  <a:moveTo>
                    <a:pt x="4203" y="1856"/>
                  </a:moveTo>
                  <a:lnTo>
                    <a:pt x="4203" y="2926"/>
                  </a:lnTo>
                  <a:lnTo>
                    <a:pt x="3123" y="2926"/>
                  </a:lnTo>
                  <a:lnTo>
                    <a:pt x="4203" y="1856"/>
                  </a:lnTo>
                  <a:close/>
                  <a:moveTo>
                    <a:pt x="4622" y="1856"/>
                  </a:moveTo>
                  <a:lnTo>
                    <a:pt x="5701" y="2926"/>
                  </a:lnTo>
                  <a:lnTo>
                    <a:pt x="4622" y="2926"/>
                  </a:lnTo>
                  <a:lnTo>
                    <a:pt x="4622" y="1856"/>
                  </a:lnTo>
                  <a:close/>
                  <a:moveTo>
                    <a:pt x="4203" y="0"/>
                  </a:moveTo>
                  <a:lnTo>
                    <a:pt x="4203" y="1133"/>
                  </a:lnTo>
                  <a:lnTo>
                    <a:pt x="3516" y="1133"/>
                  </a:lnTo>
                  <a:lnTo>
                    <a:pt x="3516" y="1553"/>
                  </a:lnTo>
                  <a:lnTo>
                    <a:pt x="3908" y="1553"/>
                  </a:lnTo>
                  <a:lnTo>
                    <a:pt x="1" y="5460"/>
                  </a:lnTo>
                  <a:lnTo>
                    <a:pt x="295" y="5754"/>
                  </a:lnTo>
                  <a:lnTo>
                    <a:pt x="2704" y="3355"/>
                  </a:lnTo>
                  <a:lnTo>
                    <a:pt x="4203" y="3355"/>
                  </a:lnTo>
                  <a:lnTo>
                    <a:pt x="4203" y="6058"/>
                  </a:lnTo>
                  <a:lnTo>
                    <a:pt x="4622" y="6058"/>
                  </a:lnTo>
                  <a:lnTo>
                    <a:pt x="4622" y="3355"/>
                  </a:lnTo>
                  <a:lnTo>
                    <a:pt x="6121" y="3355"/>
                  </a:lnTo>
                  <a:lnTo>
                    <a:pt x="8529" y="5754"/>
                  </a:lnTo>
                  <a:lnTo>
                    <a:pt x="8824" y="5460"/>
                  </a:lnTo>
                  <a:lnTo>
                    <a:pt x="4916" y="1553"/>
                  </a:lnTo>
                  <a:lnTo>
                    <a:pt x="5309" y="1553"/>
                  </a:lnTo>
                  <a:lnTo>
                    <a:pt x="5309" y="1133"/>
                  </a:lnTo>
                  <a:lnTo>
                    <a:pt x="4622" y="1133"/>
                  </a:lnTo>
                  <a:lnTo>
                    <a:pt x="46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2"/>
            <p:cNvSpPr/>
            <p:nvPr/>
          </p:nvSpPr>
          <p:spPr>
            <a:xfrm>
              <a:off x="4872572" y="450313"/>
              <a:ext cx="386832" cy="43198"/>
            </a:xfrm>
            <a:custGeom>
              <a:avLst/>
              <a:gdLst/>
              <a:ahLst/>
              <a:cxnLst/>
              <a:rect l="l" t="t" r="r" b="b"/>
              <a:pathLst>
                <a:path w="12080" h="1349" extrusionOk="0">
                  <a:moveTo>
                    <a:pt x="0" y="1"/>
                  </a:moveTo>
                  <a:lnTo>
                    <a:pt x="0" y="1348"/>
                  </a:lnTo>
                  <a:lnTo>
                    <a:pt x="12079" y="1348"/>
                  </a:lnTo>
                  <a:lnTo>
                    <a:pt x="12079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2"/>
            <p:cNvSpPr/>
            <p:nvPr/>
          </p:nvSpPr>
          <p:spPr>
            <a:xfrm>
              <a:off x="4872572" y="680298"/>
              <a:ext cx="386832" cy="43166"/>
            </a:xfrm>
            <a:custGeom>
              <a:avLst/>
              <a:gdLst/>
              <a:ahLst/>
              <a:cxnLst/>
              <a:rect l="l" t="t" r="r" b="b"/>
              <a:pathLst>
                <a:path w="12080" h="1348" extrusionOk="0">
                  <a:moveTo>
                    <a:pt x="0" y="0"/>
                  </a:moveTo>
                  <a:lnTo>
                    <a:pt x="0" y="1347"/>
                  </a:lnTo>
                  <a:lnTo>
                    <a:pt x="12079" y="1347"/>
                  </a:lnTo>
                  <a:lnTo>
                    <a:pt x="1207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2"/>
            <p:cNvSpPr/>
            <p:nvPr/>
          </p:nvSpPr>
          <p:spPr>
            <a:xfrm>
              <a:off x="4910263" y="527167"/>
              <a:ext cx="311131" cy="107724"/>
            </a:xfrm>
            <a:custGeom>
              <a:avLst/>
              <a:gdLst/>
              <a:ahLst/>
              <a:cxnLst/>
              <a:rect l="l" t="t" r="r" b="b"/>
              <a:pathLst>
                <a:path w="9716" h="3364" extrusionOk="0">
                  <a:moveTo>
                    <a:pt x="4408" y="1"/>
                  </a:moveTo>
                  <a:lnTo>
                    <a:pt x="2169" y="2240"/>
                  </a:lnTo>
                  <a:lnTo>
                    <a:pt x="1491" y="1571"/>
                  </a:lnTo>
                  <a:lnTo>
                    <a:pt x="1" y="3061"/>
                  </a:lnTo>
                  <a:lnTo>
                    <a:pt x="295" y="3364"/>
                  </a:lnTo>
                  <a:lnTo>
                    <a:pt x="1491" y="2168"/>
                  </a:lnTo>
                  <a:lnTo>
                    <a:pt x="2169" y="2838"/>
                  </a:lnTo>
                  <a:lnTo>
                    <a:pt x="4408" y="589"/>
                  </a:lnTo>
                  <a:lnTo>
                    <a:pt x="5443" y="1624"/>
                  </a:lnTo>
                  <a:lnTo>
                    <a:pt x="6121" y="1624"/>
                  </a:lnTo>
                  <a:lnTo>
                    <a:pt x="7771" y="3284"/>
                  </a:lnTo>
                  <a:lnTo>
                    <a:pt x="9716" y="1339"/>
                  </a:lnTo>
                  <a:lnTo>
                    <a:pt x="9421" y="1044"/>
                  </a:lnTo>
                  <a:lnTo>
                    <a:pt x="7771" y="2695"/>
                  </a:lnTo>
                  <a:lnTo>
                    <a:pt x="6290" y="1205"/>
                  </a:lnTo>
                  <a:lnTo>
                    <a:pt x="5621" y="1205"/>
                  </a:lnTo>
                  <a:lnTo>
                    <a:pt x="4408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B794083-07DD-8703-4866-D43C0A5A30C7}"/>
              </a:ext>
            </a:extLst>
          </p:cNvPr>
          <p:cNvSpPr txBox="1"/>
          <p:nvPr/>
        </p:nvSpPr>
        <p:spPr>
          <a:xfrm>
            <a:off x="0" y="4672301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55000"/>
              </a:schemeClr>
            </a:glow>
            <a:outerShdw blurRad="50800" dist="50800" dir="5400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1" name="Google Shape;891;p54"/>
          <p:cNvGrpSpPr/>
          <p:nvPr/>
        </p:nvGrpSpPr>
        <p:grpSpPr>
          <a:xfrm>
            <a:off x="290623" y="652130"/>
            <a:ext cx="759869" cy="797725"/>
            <a:chOff x="715100" y="1106417"/>
            <a:chExt cx="822000" cy="822211"/>
          </a:xfrm>
        </p:grpSpPr>
        <p:sp>
          <p:nvSpPr>
            <p:cNvPr id="892" name="Google Shape;892;p54"/>
            <p:cNvSpPr/>
            <p:nvPr/>
          </p:nvSpPr>
          <p:spPr>
            <a:xfrm>
              <a:off x="807354" y="1166629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893" name="Google Shape;893;p54"/>
            <p:cNvSpPr/>
            <p:nvPr/>
          </p:nvSpPr>
          <p:spPr>
            <a:xfrm rot="5400000">
              <a:off x="715100" y="1106417"/>
              <a:ext cx="822000" cy="822000"/>
            </a:xfrm>
            <a:prstGeom prst="blockArc">
              <a:avLst>
                <a:gd name="adj1" fmla="val 10776226"/>
                <a:gd name="adj2" fmla="val 6475975"/>
                <a:gd name="adj3" fmla="val 21174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894" name="Google Shape;894;p54"/>
            <p:cNvSpPr/>
            <p:nvPr/>
          </p:nvSpPr>
          <p:spPr>
            <a:xfrm>
              <a:off x="865327" y="1256727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grpSp>
          <p:nvGrpSpPr>
            <p:cNvPr id="895" name="Google Shape;895;p54"/>
            <p:cNvGrpSpPr/>
            <p:nvPr/>
          </p:nvGrpSpPr>
          <p:grpSpPr>
            <a:xfrm>
              <a:off x="952843" y="1412161"/>
              <a:ext cx="346815" cy="211302"/>
              <a:chOff x="3535791" y="3227408"/>
              <a:chExt cx="730598" cy="445128"/>
            </a:xfrm>
          </p:grpSpPr>
          <p:sp>
            <p:nvSpPr>
              <p:cNvPr id="896" name="Google Shape;896;p54"/>
              <p:cNvSpPr/>
              <p:nvPr/>
            </p:nvSpPr>
            <p:spPr>
              <a:xfrm>
                <a:off x="4046813" y="3269939"/>
                <a:ext cx="165351" cy="165362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68" extrusionOk="0">
                    <a:moveTo>
                      <a:pt x="834" y="334"/>
                    </a:moveTo>
                    <a:cubicBezTo>
                      <a:pt x="1108" y="334"/>
                      <a:pt x="1334" y="548"/>
                      <a:pt x="1334" y="834"/>
                    </a:cubicBezTo>
                    <a:cubicBezTo>
                      <a:pt x="1334" y="1119"/>
                      <a:pt x="1108" y="1346"/>
                      <a:pt x="834" y="1346"/>
                    </a:cubicBezTo>
                    <a:cubicBezTo>
                      <a:pt x="548" y="1346"/>
                      <a:pt x="322" y="1119"/>
                      <a:pt x="322" y="834"/>
                    </a:cubicBezTo>
                    <a:cubicBezTo>
                      <a:pt x="322" y="548"/>
                      <a:pt x="548" y="334"/>
                      <a:pt x="834" y="334"/>
                    </a:cubicBezTo>
                    <a:close/>
                    <a:moveTo>
                      <a:pt x="834" y="0"/>
                    </a:moveTo>
                    <a:cubicBezTo>
                      <a:pt x="370" y="0"/>
                      <a:pt x="0" y="369"/>
                      <a:pt x="0" y="834"/>
                    </a:cubicBezTo>
                    <a:cubicBezTo>
                      <a:pt x="0" y="1298"/>
                      <a:pt x="370" y="1667"/>
                      <a:pt x="834" y="1667"/>
                    </a:cubicBezTo>
                    <a:cubicBezTo>
                      <a:pt x="1286" y="1667"/>
                      <a:pt x="1667" y="1298"/>
                      <a:pt x="1667" y="834"/>
                    </a:cubicBezTo>
                    <a:cubicBezTo>
                      <a:pt x="1667" y="369"/>
                      <a:pt x="1286" y="0"/>
                      <a:pt x="8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897" name="Google Shape;897;p54"/>
              <p:cNvSpPr/>
              <p:nvPr/>
            </p:nvSpPr>
            <p:spPr>
              <a:xfrm>
                <a:off x="4052662" y="3469404"/>
                <a:ext cx="213727" cy="153564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549" extrusionOk="0">
                    <a:moveTo>
                      <a:pt x="775" y="0"/>
                    </a:moveTo>
                    <a:cubicBezTo>
                      <a:pt x="549" y="0"/>
                      <a:pt x="311" y="60"/>
                      <a:pt x="120" y="167"/>
                    </a:cubicBezTo>
                    <a:cubicBezTo>
                      <a:pt x="37" y="203"/>
                      <a:pt x="1" y="310"/>
                      <a:pt x="37" y="381"/>
                    </a:cubicBezTo>
                    <a:cubicBezTo>
                      <a:pt x="72" y="443"/>
                      <a:pt x="140" y="479"/>
                      <a:pt x="201" y="479"/>
                    </a:cubicBezTo>
                    <a:cubicBezTo>
                      <a:pt x="223" y="479"/>
                      <a:pt x="244" y="474"/>
                      <a:pt x="263" y="465"/>
                    </a:cubicBezTo>
                    <a:cubicBezTo>
                      <a:pt x="418" y="381"/>
                      <a:pt x="596" y="346"/>
                      <a:pt x="751" y="346"/>
                    </a:cubicBezTo>
                    <a:cubicBezTo>
                      <a:pt x="1275" y="346"/>
                      <a:pt x="1704" y="727"/>
                      <a:pt x="1799" y="1215"/>
                    </a:cubicBezTo>
                    <a:lnTo>
                      <a:pt x="751" y="1215"/>
                    </a:lnTo>
                    <a:cubicBezTo>
                      <a:pt x="668" y="1215"/>
                      <a:pt x="584" y="1298"/>
                      <a:pt x="584" y="1382"/>
                    </a:cubicBezTo>
                    <a:cubicBezTo>
                      <a:pt x="584" y="1477"/>
                      <a:pt x="668" y="1548"/>
                      <a:pt x="751" y="1548"/>
                    </a:cubicBezTo>
                    <a:lnTo>
                      <a:pt x="1977" y="1548"/>
                    </a:lnTo>
                    <a:cubicBezTo>
                      <a:pt x="2061" y="1548"/>
                      <a:pt x="2144" y="1477"/>
                      <a:pt x="2144" y="1382"/>
                    </a:cubicBezTo>
                    <a:cubicBezTo>
                      <a:pt x="2156" y="620"/>
                      <a:pt x="1525" y="0"/>
                      <a:pt x="7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898" name="Google Shape;898;p54"/>
              <p:cNvSpPr/>
              <p:nvPr/>
            </p:nvSpPr>
            <p:spPr>
              <a:xfrm>
                <a:off x="3535791" y="3469404"/>
                <a:ext cx="213727" cy="153564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549" extrusionOk="0">
                    <a:moveTo>
                      <a:pt x="1381" y="0"/>
                    </a:moveTo>
                    <a:cubicBezTo>
                      <a:pt x="631" y="0"/>
                      <a:pt x="0" y="620"/>
                      <a:pt x="0" y="1382"/>
                    </a:cubicBezTo>
                    <a:cubicBezTo>
                      <a:pt x="0" y="1477"/>
                      <a:pt x="71" y="1548"/>
                      <a:pt x="167" y="1548"/>
                    </a:cubicBezTo>
                    <a:lnTo>
                      <a:pt x="1405" y="1548"/>
                    </a:lnTo>
                    <a:cubicBezTo>
                      <a:pt x="1488" y="1548"/>
                      <a:pt x="1560" y="1477"/>
                      <a:pt x="1560" y="1382"/>
                    </a:cubicBezTo>
                    <a:cubicBezTo>
                      <a:pt x="1560" y="1298"/>
                      <a:pt x="1500" y="1215"/>
                      <a:pt x="1417" y="1215"/>
                    </a:cubicBezTo>
                    <a:lnTo>
                      <a:pt x="357" y="1215"/>
                    </a:lnTo>
                    <a:cubicBezTo>
                      <a:pt x="429" y="715"/>
                      <a:pt x="881" y="346"/>
                      <a:pt x="1405" y="346"/>
                    </a:cubicBezTo>
                    <a:cubicBezTo>
                      <a:pt x="1584" y="346"/>
                      <a:pt x="1738" y="381"/>
                      <a:pt x="1893" y="465"/>
                    </a:cubicBezTo>
                    <a:cubicBezTo>
                      <a:pt x="1914" y="475"/>
                      <a:pt x="1938" y="481"/>
                      <a:pt x="1962" y="481"/>
                    </a:cubicBezTo>
                    <a:cubicBezTo>
                      <a:pt x="2022" y="481"/>
                      <a:pt x="2086" y="449"/>
                      <a:pt x="2119" y="381"/>
                    </a:cubicBezTo>
                    <a:cubicBezTo>
                      <a:pt x="2155" y="310"/>
                      <a:pt x="2131" y="203"/>
                      <a:pt x="2036" y="167"/>
                    </a:cubicBezTo>
                    <a:cubicBezTo>
                      <a:pt x="1846" y="60"/>
                      <a:pt x="1607" y="0"/>
                      <a:pt x="13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899" name="Google Shape;899;p54"/>
              <p:cNvSpPr/>
              <p:nvPr/>
            </p:nvSpPr>
            <p:spPr>
              <a:xfrm>
                <a:off x="3592395" y="3269939"/>
                <a:ext cx="165351" cy="165362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68" extrusionOk="0">
                    <a:moveTo>
                      <a:pt x="834" y="334"/>
                    </a:moveTo>
                    <a:cubicBezTo>
                      <a:pt x="1108" y="334"/>
                      <a:pt x="1334" y="548"/>
                      <a:pt x="1334" y="834"/>
                    </a:cubicBezTo>
                    <a:cubicBezTo>
                      <a:pt x="1334" y="1119"/>
                      <a:pt x="1108" y="1346"/>
                      <a:pt x="834" y="1346"/>
                    </a:cubicBezTo>
                    <a:cubicBezTo>
                      <a:pt x="548" y="1346"/>
                      <a:pt x="322" y="1119"/>
                      <a:pt x="322" y="834"/>
                    </a:cubicBezTo>
                    <a:cubicBezTo>
                      <a:pt x="322" y="548"/>
                      <a:pt x="560" y="334"/>
                      <a:pt x="834" y="334"/>
                    </a:cubicBezTo>
                    <a:close/>
                    <a:moveTo>
                      <a:pt x="834" y="0"/>
                    </a:moveTo>
                    <a:cubicBezTo>
                      <a:pt x="370" y="0"/>
                      <a:pt x="1" y="369"/>
                      <a:pt x="1" y="834"/>
                    </a:cubicBezTo>
                    <a:cubicBezTo>
                      <a:pt x="1" y="1298"/>
                      <a:pt x="370" y="1667"/>
                      <a:pt x="834" y="1667"/>
                    </a:cubicBezTo>
                    <a:cubicBezTo>
                      <a:pt x="1286" y="1667"/>
                      <a:pt x="1667" y="1298"/>
                      <a:pt x="1667" y="834"/>
                    </a:cubicBezTo>
                    <a:cubicBezTo>
                      <a:pt x="1667" y="369"/>
                      <a:pt x="1286" y="0"/>
                      <a:pt x="8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00" name="Google Shape;900;p54"/>
              <p:cNvSpPr/>
              <p:nvPr/>
            </p:nvSpPr>
            <p:spPr>
              <a:xfrm>
                <a:off x="3794227" y="3227408"/>
                <a:ext cx="214917" cy="214931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2168" extrusionOk="0">
                    <a:moveTo>
                      <a:pt x="1084" y="346"/>
                    </a:moveTo>
                    <a:cubicBezTo>
                      <a:pt x="1501" y="346"/>
                      <a:pt x="1834" y="667"/>
                      <a:pt x="1834" y="1084"/>
                    </a:cubicBezTo>
                    <a:cubicBezTo>
                      <a:pt x="1834" y="1501"/>
                      <a:pt x="1501" y="1834"/>
                      <a:pt x="1084" y="1834"/>
                    </a:cubicBezTo>
                    <a:cubicBezTo>
                      <a:pt x="667" y="1834"/>
                      <a:pt x="346" y="1501"/>
                      <a:pt x="346" y="1084"/>
                    </a:cubicBezTo>
                    <a:cubicBezTo>
                      <a:pt x="346" y="667"/>
                      <a:pt x="667" y="346"/>
                      <a:pt x="1084" y="346"/>
                    </a:cubicBezTo>
                    <a:close/>
                    <a:moveTo>
                      <a:pt x="1084" y="1"/>
                    </a:moveTo>
                    <a:cubicBezTo>
                      <a:pt x="489" y="1"/>
                      <a:pt x="1" y="489"/>
                      <a:pt x="1" y="1084"/>
                    </a:cubicBezTo>
                    <a:cubicBezTo>
                      <a:pt x="1" y="1679"/>
                      <a:pt x="489" y="2168"/>
                      <a:pt x="1084" y="2168"/>
                    </a:cubicBezTo>
                    <a:cubicBezTo>
                      <a:pt x="1679" y="2168"/>
                      <a:pt x="2167" y="1679"/>
                      <a:pt x="2167" y="1084"/>
                    </a:cubicBezTo>
                    <a:cubicBezTo>
                      <a:pt x="2167" y="489"/>
                      <a:pt x="1679" y="1"/>
                      <a:pt x="10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01" name="Google Shape;901;p54"/>
              <p:cNvSpPr/>
              <p:nvPr/>
            </p:nvSpPr>
            <p:spPr>
              <a:xfrm>
                <a:off x="3719878" y="3475253"/>
                <a:ext cx="363614" cy="197284"/>
              </a:xfrm>
              <a:custGeom>
                <a:avLst/>
                <a:gdLst/>
                <a:ahLst/>
                <a:cxnLst/>
                <a:rect l="l" t="t" r="r" b="b"/>
                <a:pathLst>
                  <a:path w="3668" h="1990" extrusionOk="0">
                    <a:moveTo>
                      <a:pt x="1834" y="322"/>
                    </a:moveTo>
                    <a:cubicBezTo>
                      <a:pt x="2596" y="322"/>
                      <a:pt x="3239" y="906"/>
                      <a:pt x="3310" y="1656"/>
                    </a:cubicBezTo>
                    <a:lnTo>
                      <a:pt x="358" y="1656"/>
                    </a:lnTo>
                    <a:cubicBezTo>
                      <a:pt x="453" y="906"/>
                      <a:pt x="1072" y="322"/>
                      <a:pt x="1834" y="322"/>
                    </a:cubicBezTo>
                    <a:close/>
                    <a:moveTo>
                      <a:pt x="1834" y="1"/>
                    </a:moveTo>
                    <a:cubicBezTo>
                      <a:pt x="822" y="1"/>
                      <a:pt x="0" y="823"/>
                      <a:pt x="0" y="1835"/>
                    </a:cubicBezTo>
                    <a:cubicBezTo>
                      <a:pt x="0" y="1918"/>
                      <a:pt x="84" y="1989"/>
                      <a:pt x="167" y="1989"/>
                    </a:cubicBezTo>
                    <a:lnTo>
                      <a:pt x="3489" y="1989"/>
                    </a:lnTo>
                    <a:cubicBezTo>
                      <a:pt x="3572" y="1989"/>
                      <a:pt x="3656" y="1918"/>
                      <a:pt x="3656" y="1835"/>
                    </a:cubicBezTo>
                    <a:cubicBezTo>
                      <a:pt x="3668" y="823"/>
                      <a:pt x="2846" y="1"/>
                      <a:pt x="18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</p:grpSp>
      <p:sp>
        <p:nvSpPr>
          <p:cNvPr id="909" name="Google Shape;909;p54"/>
          <p:cNvSpPr txBox="1">
            <a:spLocks noGrp="1"/>
          </p:cNvSpPr>
          <p:nvPr>
            <p:ph type="subTitle" idx="4294967295"/>
          </p:nvPr>
        </p:nvSpPr>
        <p:spPr>
          <a:xfrm>
            <a:off x="1295379" y="842113"/>
            <a:ext cx="5600654" cy="4834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highlight>
                  <a:srgbClr val="0000FF"/>
                </a:highlight>
              </a:rPr>
              <a:t>Early-stage venture decisions are high-risk, with over 80% of </a:t>
            </a:r>
            <a:r>
              <a:rPr lang="en-GB" sz="1600" dirty="0" err="1">
                <a:highlight>
                  <a:srgbClr val="0000FF"/>
                </a:highlight>
              </a:rPr>
              <a:t>startups</a:t>
            </a:r>
            <a:r>
              <a:rPr lang="en-GB" sz="1600" dirty="0">
                <a:highlight>
                  <a:srgbClr val="0000FF"/>
                </a:highlight>
              </a:rPr>
              <a:t> failing before Series A</a:t>
            </a:r>
            <a:endParaRPr lang="en" sz="1600" b="1" dirty="0">
              <a:solidFill>
                <a:schemeClr val="dk2"/>
              </a:solidFill>
              <a:highlight>
                <a:srgbClr val="0000FF"/>
              </a:highlight>
            </a:endParaRPr>
          </a:p>
        </p:txBody>
      </p:sp>
      <p:sp>
        <p:nvSpPr>
          <p:cNvPr id="910" name="Google Shape;910;p54"/>
          <p:cNvSpPr txBox="1">
            <a:spLocks noGrp="1"/>
          </p:cNvSpPr>
          <p:nvPr>
            <p:ph type="subTitle" idx="4294967295"/>
          </p:nvPr>
        </p:nvSpPr>
        <p:spPr>
          <a:xfrm>
            <a:off x="1697950" y="2095514"/>
            <a:ext cx="5991125" cy="4834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highlight>
                  <a:schemeClr val="dk1"/>
                </a:highlight>
              </a:rPr>
              <a:t>VCs rely on “signals” / data-driven indicators of potential</a:t>
            </a:r>
            <a:endParaRPr sz="1600" b="1" dirty="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911" name="Google Shape;911;p54"/>
          <p:cNvSpPr txBox="1">
            <a:spLocks noGrp="1"/>
          </p:cNvSpPr>
          <p:nvPr>
            <p:ph type="subTitle" idx="4294967295"/>
          </p:nvPr>
        </p:nvSpPr>
        <p:spPr>
          <a:xfrm>
            <a:off x="2085110" y="3390691"/>
            <a:ext cx="4835546" cy="4834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tx1"/>
                </a:solidFill>
                <a:highlight>
                  <a:srgbClr val="0000FF"/>
                </a:highlight>
              </a:rPr>
              <a:t>Using data science, we can detect patterns that separate successful from unsuccessful start-ups</a:t>
            </a:r>
            <a:endParaRPr sz="1600" b="1" dirty="0">
              <a:solidFill>
                <a:schemeClr val="tx1"/>
              </a:solidFill>
              <a:highlight>
                <a:srgbClr val="0000FF"/>
              </a:highlight>
            </a:endParaRPr>
          </a:p>
        </p:txBody>
      </p:sp>
      <p:grpSp>
        <p:nvGrpSpPr>
          <p:cNvPr id="912" name="Google Shape;912;p54"/>
          <p:cNvGrpSpPr/>
          <p:nvPr/>
        </p:nvGrpSpPr>
        <p:grpSpPr>
          <a:xfrm>
            <a:off x="1171672" y="3175452"/>
            <a:ext cx="759869" cy="797725"/>
            <a:chOff x="1737203" y="2931736"/>
            <a:chExt cx="822000" cy="822211"/>
          </a:xfrm>
        </p:grpSpPr>
        <p:sp>
          <p:nvSpPr>
            <p:cNvPr id="913" name="Google Shape;913;p54"/>
            <p:cNvSpPr/>
            <p:nvPr/>
          </p:nvSpPr>
          <p:spPr>
            <a:xfrm>
              <a:off x="1829457" y="2991947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14" name="Google Shape;914;p54"/>
            <p:cNvSpPr/>
            <p:nvPr/>
          </p:nvSpPr>
          <p:spPr>
            <a:xfrm rot="5400000">
              <a:off x="1737203" y="2931736"/>
              <a:ext cx="822000" cy="822000"/>
            </a:xfrm>
            <a:prstGeom prst="blockArc">
              <a:avLst>
                <a:gd name="adj1" fmla="val 10776226"/>
                <a:gd name="adj2" fmla="val 4317431"/>
                <a:gd name="adj3" fmla="val 2091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915" name="Google Shape;915;p54"/>
            <p:cNvSpPr/>
            <p:nvPr/>
          </p:nvSpPr>
          <p:spPr>
            <a:xfrm>
              <a:off x="1887429" y="3082045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grpSp>
          <p:nvGrpSpPr>
            <p:cNvPr id="916" name="Google Shape;916;p54"/>
            <p:cNvGrpSpPr/>
            <p:nvPr/>
          </p:nvGrpSpPr>
          <p:grpSpPr>
            <a:xfrm>
              <a:off x="1917983" y="3158016"/>
              <a:ext cx="459971" cy="369412"/>
              <a:chOff x="919683" y="1448166"/>
              <a:chExt cx="459971" cy="369412"/>
            </a:xfrm>
          </p:grpSpPr>
          <p:sp>
            <p:nvSpPr>
              <p:cNvPr id="917" name="Google Shape;917;p54"/>
              <p:cNvSpPr/>
              <p:nvPr/>
            </p:nvSpPr>
            <p:spPr>
              <a:xfrm>
                <a:off x="919683" y="1650164"/>
                <a:ext cx="459971" cy="167414"/>
              </a:xfrm>
              <a:custGeom>
                <a:avLst/>
                <a:gdLst/>
                <a:ahLst/>
                <a:cxnLst/>
                <a:rect l="l" t="t" r="r" b="b"/>
                <a:pathLst>
                  <a:path w="14364" h="5228" extrusionOk="0">
                    <a:moveTo>
                      <a:pt x="13944" y="419"/>
                    </a:moveTo>
                    <a:lnTo>
                      <a:pt x="13944" y="2248"/>
                    </a:lnTo>
                    <a:lnTo>
                      <a:pt x="10697" y="2248"/>
                    </a:lnTo>
                    <a:lnTo>
                      <a:pt x="10108" y="2837"/>
                    </a:lnTo>
                    <a:lnTo>
                      <a:pt x="8172" y="901"/>
                    </a:lnTo>
                    <a:lnTo>
                      <a:pt x="6647" y="901"/>
                    </a:lnTo>
                    <a:lnTo>
                      <a:pt x="5835" y="1713"/>
                    </a:lnTo>
                    <a:lnTo>
                      <a:pt x="5460" y="1338"/>
                    </a:lnTo>
                    <a:lnTo>
                      <a:pt x="6370" y="419"/>
                    </a:lnTo>
                    <a:close/>
                    <a:moveTo>
                      <a:pt x="5773" y="419"/>
                    </a:moveTo>
                    <a:lnTo>
                      <a:pt x="4863" y="1338"/>
                    </a:lnTo>
                    <a:lnTo>
                      <a:pt x="5835" y="2311"/>
                    </a:lnTo>
                    <a:lnTo>
                      <a:pt x="6825" y="1320"/>
                    </a:lnTo>
                    <a:lnTo>
                      <a:pt x="7994" y="1320"/>
                    </a:lnTo>
                    <a:lnTo>
                      <a:pt x="10260" y="3586"/>
                    </a:lnTo>
                    <a:lnTo>
                      <a:pt x="9885" y="3961"/>
                    </a:lnTo>
                    <a:lnTo>
                      <a:pt x="7557" y="1633"/>
                    </a:lnTo>
                    <a:lnTo>
                      <a:pt x="7262" y="1936"/>
                    </a:lnTo>
                    <a:lnTo>
                      <a:pt x="9136" y="3809"/>
                    </a:lnTo>
                    <a:lnTo>
                      <a:pt x="8761" y="4184"/>
                    </a:lnTo>
                    <a:lnTo>
                      <a:pt x="7111" y="2534"/>
                    </a:lnTo>
                    <a:lnTo>
                      <a:pt x="6807" y="2837"/>
                    </a:lnTo>
                    <a:lnTo>
                      <a:pt x="8012" y="4032"/>
                    </a:lnTo>
                    <a:lnTo>
                      <a:pt x="7637" y="4407"/>
                    </a:lnTo>
                    <a:lnTo>
                      <a:pt x="6656" y="3435"/>
                    </a:lnTo>
                    <a:lnTo>
                      <a:pt x="6361" y="3729"/>
                    </a:lnTo>
                    <a:lnTo>
                      <a:pt x="6888" y="4255"/>
                    </a:lnTo>
                    <a:lnTo>
                      <a:pt x="6513" y="4639"/>
                    </a:lnTo>
                    <a:lnTo>
                      <a:pt x="4122" y="2248"/>
                    </a:lnTo>
                    <a:lnTo>
                      <a:pt x="429" y="2248"/>
                    </a:lnTo>
                    <a:lnTo>
                      <a:pt x="429" y="419"/>
                    </a:lnTo>
                    <a:close/>
                    <a:moveTo>
                      <a:pt x="1" y="0"/>
                    </a:moveTo>
                    <a:lnTo>
                      <a:pt x="1" y="2668"/>
                    </a:lnTo>
                    <a:lnTo>
                      <a:pt x="3953" y="2668"/>
                    </a:lnTo>
                    <a:lnTo>
                      <a:pt x="6513" y="5228"/>
                    </a:lnTo>
                    <a:lnTo>
                      <a:pt x="7182" y="4559"/>
                    </a:lnTo>
                    <a:lnTo>
                      <a:pt x="7637" y="5005"/>
                    </a:lnTo>
                    <a:lnTo>
                      <a:pt x="8306" y="4336"/>
                    </a:lnTo>
                    <a:lnTo>
                      <a:pt x="8761" y="4782"/>
                    </a:lnTo>
                    <a:lnTo>
                      <a:pt x="9430" y="4104"/>
                    </a:lnTo>
                    <a:lnTo>
                      <a:pt x="9885" y="4559"/>
                    </a:lnTo>
                    <a:lnTo>
                      <a:pt x="10858" y="3586"/>
                    </a:lnTo>
                    <a:lnTo>
                      <a:pt x="10403" y="3131"/>
                    </a:lnTo>
                    <a:lnTo>
                      <a:pt x="10867" y="2668"/>
                    </a:lnTo>
                    <a:lnTo>
                      <a:pt x="14364" y="2668"/>
                    </a:lnTo>
                    <a:lnTo>
                      <a:pt x="143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18" name="Google Shape;918;p54"/>
              <p:cNvSpPr/>
              <p:nvPr/>
            </p:nvSpPr>
            <p:spPr>
              <a:xfrm>
                <a:off x="948247" y="1686157"/>
                <a:ext cx="14314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47" y="419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19" name="Google Shape;919;p54"/>
              <p:cNvSpPr/>
              <p:nvPr/>
            </p:nvSpPr>
            <p:spPr>
              <a:xfrm>
                <a:off x="976811" y="1686157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0" name="Google Shape;920;p54"/>
              <p:cNvSpPr/>
              <p:nvPr/>
            </p:nvSpPr>
            <p:spPr>
              <a:xfrm>
                <a:off x="1308212" y="1686157"/>
                <a:ext cx="14314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0" extrusionOk="0">
                    <a:moveTo>
                      <a:pt x="0" y="0"/>
                    </a:moveTo>
                    <a:lnTo>
                      <a:pt x="0" y="419"/>
                    </a:lnTo>
                    <a:lnTo>
                      <a:pt x="446" y="419"/>
                    </a:lnTo>
                    <a:lnTo>
                      <a:pt x="44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1" name="Google Shape;921;p54"/>
              <p:cNvSpPr/>
              <p:nvPr/>
            </p:nvSpPr>
            <p:spPr>
              <a:xfrm>
                <a:off x="1336776" y="1686157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0" y="0"/>
                    </a:moveTo>
                    <a:lnTo>
                      <a:pt x="0" y="419"/>
                    </a:lnTo>
                    <a:lnTo>
                      <a:pt x="455" y="419"/>
                    </a:lnTo>
                    <a:lnTo>
                      <a:pt x="4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2" name="Google Shape;922;p54"/>
              <p:cNvSpPr/>
              <p:nvPr/>
            </p:nvSpPr>
            <p:spPr>
              <a:xfrm>
                <a:off x="1056227" y="1491332"/>
                <a:ext cx="187172" cy="136864"/>
              </a:xfrm>
              <a:custGeom>
                <a:avLst/>
                <a:gdLst/>
                <a:ahLst/>
                <a:cxnLst/>
                <a:rect l="l" t="t" r="r" b="b"/>
                <a:pathLst>
                  <a:path w="5845" h="4274" extrusionOk="0">
                    <a:moveTo>
                      <a:pt x="2918" y="0"/>
                    </a:moveTo>
                    <a:lnTo>
                      <a:pt x="1" y="2926"/>
                    </a:lnTo>
                    <a:lnTo>
                      <a:pt x="1" y="4273"/>
                    </a:lnTo>
                    <a:lnTo>
                      <a:pt x="5844" y="4273"/>
                    </a:lnTo>
                    <a:lnTo>
                      <a:pt x="5844" y="2926"/>
                    </a:lnTo>
                    <a:lnTo>
                      <a:pt x="2918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3" name="Google Shape;923;p54"/>
              <p:cNvSpPr/>
              <p:nvPr/>
            </p:nvSpPr>
            <p:spPr>
              <a:xfrm>
                <a:off x="1106534" y="1448166"/>
                <a:ext cx="86301" cy="43198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1349" extrusionOk="0">
                    <a:moveTo>
                      <a:pt x="0" y="1"/>
                    </a:moveTo>
                    <a:lnTo>
                      <a:pt x="1347" y="1348"/>
                    </a:lnTo>
                    <a:lnTo>
                      <a:pt x="2694" y="1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4" name="Google Shape;924;p54"/>
              <p:cNvSpPr/>
              <p:nvPr/>
            </p:nvSpPr>
            <p:spPr>
              <a:xfrm>
                <a:off x="1128246" y="1534466"/>
                <a:ext cx="43166" cy="72019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2249" extrusionOk="0">
                    <a:moveTo>
                      <a:pt x="464" y="0"/>
                    </a:moveTo>
                    <a:lnTo>
                      <a:pt x="464" y="241"/>
                    </a:lnTo>
                    <a:lnTo>
                      <a:pt x="9" y="241"/>
                    </a:lnTo>
                    <a:lnTo>
                      <a:pt x="9" y="1338"/>
                    </a:lnTo>
                    <a:lnTo>
                      <a:pt x="910" y="1338"/>
                    </a:lnTo>
                    <a:lnTo>
                      <a:pt x="910" y="1588"/>
                    </a:lnTo>
                    <a:lnTo>
                      <a:pt x="0" y="1588"/>
                    </a:lnTo>
                    <a:lnTo>
                      <a:pt x="0" y="2016"/>
                    </a:lnTo>
                    <a:lnTo>
                      <a:pt x="464" y="2016"/>
                    </a:lnTo>
                    <a:lnTo>
                      <a:pt x="464" y="2248"/>
                    </a:lnTo>
                    <a:lnTo>
                      <a:pt x="883" y="2248"/>
                    </a:lnTo>
                    <a:lnTo>
                      <a:pt x="883" y="2016"/>
                    </a:lnTo>
                    <a:lnTo>
                      <a:pt x="1329" y="2016"/>
                    </a:lnTo>
                    <a:lnTo>
                      <a:pt x="1329" y="919"/>
                    </a:lnTo>
                    <a:lnTo>
                      <a:pt x="437" y="919"/>
                    </a:lnTo>
                    <a:lnTo>
                      <a:pt x="437" y="660"/>
                    </a:lnTo>
                    <a:lnTo>
                      <a:pt x="1347" y="660"/>
                    </a:lnTo>
                    <a:lnTo>
                      <a:pt x="1347" y="241"/>
                    </a:lnTo>
                    <a:lnTo>
                      <a:pt x="883" y="241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5" name="Google Shape;925;p54"/>
              <p:cNvSpPr/>
              <p:nvPr/>
            </p:nvSpPr>
            <p:spPr>
              <a:xfrm>
                <a:off x="1221655" y="1484735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55" y="420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6" name="Google Shape;926;p54"/>
              <p:cNvSpPr/>
              <p:nvPr/>
            </p:nvSpPr>
            <p:spPr>
              <a:xfrm>
                <a:off x="1192803" y="1484735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55" y="420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7" name="Google Shape;927;p54"/>
              <p:cNvSpPr/>
              <p:nvPr/>
            </p:nvSpPr>
            <p:spPr>
              <a:xfrm>
                <a:off x="1063400" y="1484735"/>
                <a:ext cx="14314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46" y="420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8" name="Google Shape;928;p54"/>
              <p:cNvSpPr/>
              <p:nvPr/>
            </p:nvSpPr>
            <p:spPr>
              <a:xfrm>
                <a:off x="1092252" y="1484735"/>
                <a:ext cx="14314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46" y="420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</p:grpSp>
      <p:grpSp>
        <p:nvGrpSpPr>
          <p:cNvPr id="929" name="Google Shape;929;p54"/>
          <p:cNvGrpSpPr/>
          <p:nvPr/>
        </p:nvGrpSpPr>
        <p:grpSpPr>
          <a:xfrm>
            <a:off x="707035" y="1958502"/>
            <a:ext cx="759869" cy="797725"/>
            <a:chOff x="1226151" y="2025073"/>
            <a:chExt cx="822000" cy="822211"/>
          </a:xfrm>
        </p:grpSpPr>
        <p:sp>
          <p:nvSpPr>
            <p:cNvPr id="930" name="Google Shape;930;p54"/>
            <p:cNvSpPr/>
            <p:nvPr/>
          </p:nvSpPr>
          <p:spPr>
            <a:xfrm>
              <a:off x="1318405" y="2085285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31" name="Google Shape;931;p54"/>
            <p:cNvSpPr/>
            <p:nvPr/>
          </p:nvSpPr>
          <p:spPr>
            <a:xfrm rot="5400000">
              <a:off x="1226151" y="2025073"/>
              <a:ext cx="822000" cy="822000"/>
            </a:xfrm>
            <a:prstGeom prst="blockArc">
              <a:avLst>
                <a:gd name="adj1" fmla="val 10776226"/>
                <a:gd name="adj2" fmla="val 49983"/>
                <a:gd name="adj3" fmla="val 1891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932" name="Google Shape;932;p54"/>
            <p:cNvSpPr/>
            <p:nvPr/>
          </p:nvSpPr>
          <p:spPr>
            <a:xfrm>
              <a:off x="1376378" y="2175382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grpSp>
          <p:nvGrpSpPr>
            <p:cNvPr id="933" name="Google Shape;933;p54"/>
            <p:cNvGrpSpPr/>
            <p:nvPr/>
          </p:nvGrpSpPr>
          <p:grpSpPr>
            <a:xfrm>
              <a:off x="1463532" y="2278745"/>
              <a:ext cx="346784" cy="324412"/>
              <a:chOff x="3752468" y="1814821"/>
              <a:chExt cx="459987" cy="430254"/>
            </a:xfrm>
          </p:grpSpPr>
          <p:sp>
            <p:nvSpPr>
              <p:cNvPr id="934" name="Google Shape;934;p54"/>
              <p:cNvSpPr/>
              <p:nvPr/>
            </p:nvSpPr>
            <p:spPr>
              <a:xfrm flipH="1">
                <a:off x="4054167" y="1893404"/>
                <a:ext cx="57448" cy="345106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10777" extrusionOk="0">
                    <a:moveTo>
                      <a:pt x="1" y="0"/>
                    </a:moveTo>
                    <a:lnTo>
                      <a:pt x="1" y="10777"/>
                    </a:lnTo>
                    <a:lnTo>
                      <a:pt x="1794" y="10777"/>
                    </a:lnTo>
                    <a:lnTo>
                      <a:pt x="17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35" name="Google Shape;935;p54"/>
              <p:cNvSpPr/>
              <p:nvPr/>
            </p:nvSpPr>
            <p:spPr>
              <a:xfrm flipH="1">
                <a:off x="3953584" y="1993955"/>
                <a:ext cx="57448" cy="244556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7637" extrusionOk="0">
                    <a:moveTo>
                      <a:pt x="0" y="0"/>
                    </a:moveTo>
                    <a:lnTo>
                      <a:pt x="0" y="7637"/>
                    </a:lnTo>
                    <a:lnTo>
                      <a:pt x="1793" y="7637"/>
                    </a:lnTo>
                    <a:lnTo>
                      <a:pt x="17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36" name="Google Shape;936;p54"/>
              <p:cNvSpPr/>
              <p:nvPr/>
            </p:nvSpPr>
            <p:spPr>
              <a:xfrm flipH="1">
                <a:off x="3853034" y="2094506"/>
                <a:ext cx="57448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4497" extrusionOk="0">
                    <a:moveTo>
                      <a:pt x="0" y="0"/>
                    </a:moveTo>
                    <a:lnTo>
                      <a:pt x="0" y="4497"/>
                    </a:lnTo>
                    <a:lnTo>
                      <a:pt x="1793" y="4497"/>
                    </a:lnTo>
                    <a:lnTo>
                      <a:pt x="17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37" name="Google Shape;937;p54"/>
              <p:cNvSpPr/>
              <p:nvPr/>
            </p:nvSpPr>
            <p:spPr>
              <a:xfrm flipH="1">
                <a:off x="3877019" y="1814821"/>
                <a:ext cx="212597" cy="212854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47" extrusionOk="0">
                    <a:moveTo>
                      <a:pt x="1" y="1"/>
                    </a:moveTo>
                    <a:lnTo>
                      <a:pt x="1" y="1562"/>
                    </a:lnTo>
                    <a:lnTo>
                      <a:pt x="420" y="1562"/>
                    </a:lnTo>
                    <a:lnTo>
                      <a:pt x="420" y="723"/>
                    </a:lnTo>
                    <a:lnTo>
                      <a:pt x="6344" y="6647"/>
                    </a:lnTo>
                    <a:lnTo>
                      <a:pt x="6638" y="6344"/>
                    </a:lnTo>
                    <a:lnTo>
                      <a:pt x="714" y="420"/>
                    </a:lnTo>
                    <a:lnTo>
                      <a:pt x="1553" y="420"/>
                    </a:lnTo>
                    <a:lnTo>
                      <a:pt x="15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38" name="Google Shape;938;p54"/>
              <p:cNvSpPr/>
              <p:nvPr/>
            </p:nvSpPr>
            <p:spPr>
              <a:xfrm flipH="1">
                <a:off x="3752483" y="2231626"/>
                <a:ext cx="459971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14364" h="420" extrusionOk="0">
                    <a:moveTo>
                      <a:pt x="1" y="1"/>
                    </a:moveTo>
                    <a:lnTo>
                      <a:pt x="1" y="420"/>
                    </a:lnTo>
                    <a:lnTo>
                      <a:pt x="14364" y="420"/>
                    </a:lnTo>
                    <a:lnTo>
                      <a:pt x="143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39" name="Google Shape;939;p54"/>
              <p:cNvSpPr/>
              <p:nvPr/>
            </p:nvSpPr>
            <p:spPr>
              <a:xfrm flipH="1">
                <a:off x="3752468" y="1886808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1" y="1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0" name="Google Shape;940;p54"/>
              <p:cNvSpPr/>
              <p:nvPr/>
            </p:nvSpPr>
            <p:spPr>
              <a:xfrm flipH="1">
                <a:off x="3752468" y="1944256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1" name="Google Shape;941;p54"/>
              <p:cNvSpPr/>
              <p:nvPr/>
            </p:nvSpPr>
            <p:spPr>
              <a:xfrm flipH="1">
                <a:off x="3752468" y="2001672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2" name="Google Shape;942;p54"/>
              <p:cNvSpPr/>
              <p:nvPr/>
            </p:nvSpPr>
            <p:spPr>
              <a:xfrm flipH="1">
                <a:off x="3752468" y="2059089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3" name="Google Shape;943;p54"/>
              <p:cNvSpPr/>
              <p:nvPr/>
            </p:nvSpPr>
            <p:spPr>
              <a:xfrm flipH="1">
                <a:off x="3752468" y="2116793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4" name="Google Shape;944;p54"/>
              <p:cNvSpPr/>
              <p:nvPr/>
            </p:nvSpPr>
            <p:spPr>
              <a:xfrm flipH="1">
                <a:off x="3752468" y="2174210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5" name="Google Shape;945;p54"/>
              <p:cNvSpPr/>
              <p:nvPr/>
            </p:nvSpPr>
            <p:spPr>
              <a:xfrm flipH="1">
                <a:off x="4076134" y="1943680"/>
                <a:ext cx="13481" cy="14602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20" y="455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6" name="Google Shape;946;p54"/>
              <p:cNvSpPr/>
              <p:nvPr/>
            </p:nvSpPr>
            <p:spPr>
              <a:xfrm flipH="1">
                <a:off x="4076134" y="1915116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0"/>
                    </a:moveTo>
                    <a:lnTo>
                      <a:pt x="1" y="446"/>
                    </a:lnTo>
                    <a:lnTo>
                      <a:pt x="420" y="446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7" name="Google Shape;947;p54"/>
              <p:cNvSpPr/>
              <p:nvPr/>
            </p:nvSpPr>
            <p:spPr>
              <a:xfrm flipH="1">
                <a:off x="3975584" y="2173633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1"/>
                    </a:moveTo>
                    <a:lnTo>
                      <a:pt x="1" y="447"/>
                    </a:lnTo>
                    <a:lnTo>
                      <a:pt x="420" y="447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8" name="Google Shape;948;p54"/>
              <p:cNvSpPr/>
              <p:nvPr/>
            </p:nvSpPr>
            <p:spPr>
              <a:xfrm flipH="1">
                <a:off x="3975584" y="2202485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1"/>
                    </a:moveTo>
                    <a:lnTo>
                      <a:pt x="1" y="447"/>
                    </a:lnTo>
                    <a:lnTo>
                      <a:pt x="420" y="447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9" name="Google Shape;949;p54"/>
              <p:cNvSpPr/>
              <p:nvPr/>
            </p:nvSpPr>
            <p:spPr>
              <a:xfrm flipH="1">
                <a:off x="3875033" y="2116217"/>
                <a:ext cx="13449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0" h="447" extrusionOk="0">
                    <a:moveTo>
                      <a:pt x="0" y="0"/>
                    </a:moveTo>
                    <a:lnTo>
                      <a:pt x="0" y="447"/>
                    </a:lnTo>
                    <a:lnTo>
                      <a:pt x="419" y="447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50" name="Google Shape;950;p54"/>
              <p:cNvSpPr/>
              <p:nvPr/>
            </p:nvSpPr>
            <p:spPr>
              <a:xfrm>
                <a:off x="3860175" y="1893404"/>
                <a:ext cx="43166" cy="72019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2249" extrusionOk="0">
                    <a:moveTo>
                      <a:pt x="464" y="0"/>
                    </a:moveTo>
                    <a:lnTo>
                      <a:pt x="464" y="241"/>
                    </a:lnTo>
                    <a:lnTo>
                      <a:pt x="18" y="241"/>
                    </a:lnTo>
                    <a:lnTo>
                      <a:pt x="18" y="1338"/>
                    </a:lnTo>
                    <a:lnTo>
                      <a:pt x="910" y="1338"/>
                    </a:lnTo>
                    <a:lnTo>
                      <a:pt x="910" y="1588"/>
                    </a:lnTo>
                    <a:lnTo>
                      <a:pt x="0" y="1588"/>
                    </a:lnTo>
                    <a:lnTo>
                      <a:pt x="0" y="2007"/>
                    </a:lnTo>
                    <a:lnTo>
                      <a:pt x="464" y="2007"/>
                    </a:lnTo>
                    <a:lnTo>
                      <a:pt x="464" y="2248"/>
                    </a:lnTo>
                    <a:lnTo>
                      <a:pt x="883" y="2248"/>
                    </a:lnTo>
                    <a:lnTo>
                      <a:pt x="883" y="2007"/>
                    </a:lnTo>
                    <a:lnTo>
                      <a:pt x="1330" y="2007"/>
                    </a:lnTo>
                    <a:lnTo>
                      <a:pt x="1330" y="910"/>
                    </a:lnTo>
                    <a:lnTo>
                      <a:pt x="437" y="910"/>
                    </a:lnTo>
                    <a:lnTo>
                      <a:pt x="437" y="660"/>
                    </a:lnTo>
                    <a:lnTo>
                      <a:pt x="1347" y="660"/>
                    </a:lnTo>
                    <a:lnTo>
                      <a:pt x="1347" y="241"/>
                    </a:lnTo>
                    <a:lnTo>
                      <a:pt x="883" y="241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</p:grpSp>
      <p:sp>
        <p:nvSpPr>
          <p:cNvPr id="58" name="Google Shape;740;p51">
            <a:extLst>
              <a:ext uri="{FF2B5EF4-FFF2-40B4-BE49-F238E27FC236}">
                <a16:creationId xmlns:a16="http://schemas.microsoft.com/office/drawing/2014/main" id="{DA669982-75F9-9245-C40C-845C9C164ABD}"/>
              </a:ext>
            </a:extLst>
          </p:cNvPr>
          <p:cNvSpPr/>
          <p:nvPr/>
        </p:nvSpPr>
        <p:spPr>
          <a:xfrm rot="10800000">
            <a:off x="7207011" y="-31977"/>
            <a:ext cx="1217972" cy="26037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FA1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49;p47">
            <a:extLst>
              <a:ext uri="{FF2B5EF4-FFF2-40B4-BE49-F238E27FC236}">
                <a16:creationId xmlns:a16="http://schemas.microsoft.com/office/drawing/2014/main" id="{E098DF48-F4F4-D502-71DA-1C5FBC4780E2}"/>
              </a:ext>
            </a:extLst>
          </p:cNvPr>
          <p:cNvGrpSpPr/>
          <p:nvPr/>
        </p:nvGrpSpPr>
        <p:grpSpPr>
          <a:xfrm>
            <a:off x="8057031" y="1369572"/>
            <a:ext cx="759869" cy="843346"/>
            <a:chOff x="3305359" y="3309057"/>
            <a:chExt cx="387985" cy="459683"/>
          </a:xfrm>
        </p:grpSpPr>
        <p:sp>
          <p:nvSpPr>
            <p:cNvPr id="60" name="Google Shape;550;p47">
              <a:extLst>
                <a:ext uri="{FF2B5EF4-FFF2-40B4-BE49-F238E27FC236}">
                  <a16:creationId xmlns:a16="http://schemas.microsoft.com/office/drawing/2014/main" id="{5422D05E-893F-1E58-4A3C-11BA8A99D729}"/>
                </a:ext>
              </a:extLst>
            </p:cNvPr>
            <p:cNvSpPr/>
            <p:nvPr/>
          </p:nvSpPr>
          <p:spPr>
            <a:xfrm>
              <a:off x="3384199" y="3682728"/>
              <a:ext cx="43166" cy="50596"/>
            </a:xfrm>
            <a:custGeom>
              <a:avLst/>
              <a:gdLst/>
              <a:ahLst/>
              <a:cxnLst/>
              <a:rect l="l" t="t" r="r" b="b"/>
              <a:pathLst>
                <a:path w="1348" h="1580" extrusionOk="0">
                  <a:moveTo>
                    <a:pt x="1" y="0"/>
                  </a:moveTo>
                  <a:lnTo>
                    <a:pt x="1" y="1579"/>
                  </a:lnTo>
                  <a:lnTo>
                    <a:pt x="1348" y="1579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51;p47">
              <a:extLst>
                <a:ext uri="{FF2B5EF4-FFF2-40B4-BE49-F238E27FC236}">
                  <a16:creationId xmlns:a16="http://schemas.microsoft.com/office/drawing/2014/main" id="{30F2D8E4-7413-EFEE-0A37-E101ABD41958}"/>
                </a:ext>
              </a:extLst>
            </p:cNvPr>
            <p:cNvSpPr/>
            <p:nvPr/>
          </p:nvSpPr>
          <p:spPr>
            <a:xfrm>
              <a:off x="3405910" y="3495588"/>
              <a:ext cx="28596" cy="72019"/>
            </a:xfrm>
            <a:custGeom>
              <a:avLst/>
              <a:gdLst/>
              <a:ahLst/>
              <a:cxnLst/>
              <a:rect l="l" t="t" r="r" b="b"/>
              <a:pathLst>
                <a:path w="893" h="2249" extrusionOk="0">
                  <a:moveTo>
                    <a:pt x="1" y="1"/>
                  </a:moveTo>
                  <a:lnTo>
                    <a:pt x="1" y="2249"/>
                  </a:lnTo>
                  <a:lnTo>
                    <a:pt x="893" y="2249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52;p47">
              <a:extLst>
                <a:ext uri="{FF2B5EF4-FFF2-40B4-BE49-F238E27FC236}">
                  <a16:creationId xmlns:a16="http://schemas.microsoft.com/office/drawing/2014/main" id="{E1DAE7FA-3BBE-8381-EC8E-2E3CBD2B3842}"/>
                </a:ext>
              </a:extLst>
            </p:cNvPr>
            <p:cNvSpPr/>
            <p:nvPr/>
          </p:nvSpPr>
          <p:spPr>
            <a:xfrm>
              <a:off x="3463326" y="3466736"/>
              <a:ext cx="28884" cy="100871"/>
            </a:xfrm>
            <a:custGeom>
              <a:avLst/>
              <a:gdLst/>
              <a:ahLst/>
              <a:cxnLst/>
              <a:rect l="l" t="t" r="r" b="b"/>
              <a:pathLst>
                <a:path w="902" h="3150" extrusionOk="0">
                  <a:moveTo>
                    <a:pt x="1" y="1"/>
                  </a:moveTo>
                  <a:lnTo>
                    <a:pt x="1" y="3150"/>
                  </a:lnTo>
                  <a:lnTo>
                    <a:pt x="902" y="315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53;p47">
              <a:extLst>
                <a:ext uri="{FF2B5EF4-FFF2-40B4-BE49-F238E27FC236}">
                  <a16:creationId xmlns:a16="http://schemas.microsoft.com/office/drawing/2014/main" id="{0599EFC8-E28B-6637-A7B7-FD8F90A70E40}"/>
                </a:ext>
              </a:extLst>
            </p:cNvPr>
            <p:cNvSpPr/>
            <p:nvPr/>
          </p:nvSpPr>
          <p:spPr>
            <a:xfrm>
              <a:off x="3521031" y="3438172"/>
              <a:ext cx="28884" cy="129435"/>
            </a:xfrm>
            <a:custGeom>
              <a:avLst/>
              <a:gdLst/>
              <a:ahLst/>
              <a:cxnLst/>
              <a:rect l="l" t="t" r="r" b="b"/>
              <a:pathLst>
                <a:path w="902" h="4042" extrusionOk="0">
                  <a:moveTo>
                    <a:pt x="1" y="1"/>
                  </a:moveTo>
                  <a:lnTo>
                    <a:pt x="1" y="4042"/>
                  </a:lnTo>
                  <a:lnTo>
                    <a:pt x="902" y="404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554;p47">
              <a:extLst>
                <a:ext uri="{FF2B5EF4-FFF2-40B4-BE49-F238E27FC236}">
                  <a16:creationId xmlns:a16="http://schemas.microsoft.com/office/drawing/2014/main" id="{FF78962F-58BC-17F8-29EC-920073A8AC9F}"/>
                </a:ext>
              </a:extLst>
            </p:cNvPr>
            <p:cNvSpPr/>
            <p:nvPr/>
          </p:nvSpPr>
          <p:spPr>
            <a:xfrm>
              <a:off x="3377346" y="3402179"/>
              <a:ext cx="201133" cy="172281"/>
            </a:xfrm>
            <a:custGeom>
              <a:avLst/>
              <a:gdLst/>
              <a:ahLst/>
              <a:cxnLst/>
              <a:rect l="l" t="t" r="r" b="b"/>
              <a:pathLst>
                <a:path w="6281" h="5380" extrusionOk="0">
                  <a:moveTo>
                    <a:pt x="0" y="1"/>
                  </a:moveTo>
                  <a:lnTo>
                    <a:pt x="0" y="5380"/>
                  </a:lnTo>
                  <a:lnTo>
                    <a:pt x="6281" y="5380"/>
                  </a:lnTo>
                  <a:lnTo>
                    <a:pt x="6281" y="4961"/>
                  </a:lnTo>
                  <a:lnTo>
                    <a:pt x="429" y="4961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555;p47">
              <a:extLst>
                <a:ext uri="{FF2B5EF4-FFF2-40B4-BE49-F238E27FC236}">
                  <a16:creationId xmlns:a16="http://schemas.microsoft.com/office/drawing/2014/main" id="{8512C244-989E-3BFD-F462-7B3F71AF66EF}"/>
                </a:ext>
              </a:extLst>
            </p:cNvPr>
            <p:cNvSpPr/>
            <p:nvPr/>
          </p:nvSpPr>
          <p:spPr>
            <a:xfrm>
              <a:off x="3415325" y="3373615"/>
              <a:ext cx="126873" cy="83739"/>
            </a:xfrm>
            <a:custGeom>
              <a:avLst/>
              <a:gdLst/>
              <a:ahLst/>
              <a:cxnLst/>
              <a:rect l="l" t="t" r="r" b="b"/>
              <a:pathLst>
                <a:path w="3962" h="2615" extrusionOk="0">
                  <a:moveTo>
                    <a:pt x="2847" y="1"/>
                  </a:moveTo>
                  <a:lnTo>
                    <a:pt x="2847" y="429"/>
                  </a:lnTo>
                  <a:lnTo>
                    <a:pt x="3239" y="429"/>
                  </a:lnTo>
                  <a:lnTo>
                    <a:pt x="2401" y="1267"/>
                  </a:lnTo>
                  <a:lnTo>
                    <a:pt x="1723" y="589"/>
                  </a:lnTo>
                  <a:lnTo>
                    <a:pt x="1" y="2311"/>
                  </a:lnTo>
                  <a:lnTo>
                    <a:pt x="304" y="2614"/>
                  </a:lnTo>
                  <a:lnTo>
                    <a:pt x="1723" y="1187"/>
                  </a:lnTo>
                  <a:lnTo>
                    <a:pt x="2401" y="1865"/>
                  </a:lnTo>
                  <a:lnTo>
                    <a:pt x="3543" y="723"/>
                  </a:lnTo>
                  <a:lnTo>
                    <a:pt x="3543" y="1116"/>
                  </a:lnTo>
                  <a:lnTo>
                    <a:pt x="3962" y="1116"/>
                  </a:lnTo>
                  <a:lnTo>
                    <a:pt x="3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556;p47">
              <a:extLst>
                <a:ext uri="{FF2B5EF4-FFF2-40B4-BE49-F238E27FC236}">
                  <a16:creationId xmlns:a16="http://schemas.microsoft.com/office/drawing/2014/main" id="{FE7FDD84-2D37-DC12-1121-67EA150CA0A7}"/>
                </a:ext>
              </a:extLst>
            </p:cNvPr>
            <p:cNvSpPr/>
            <p:nvPr/>
          </p:nvSpPr>
          <p:spPr>
            <a:xfrm>
              <a:off x="3441903" y="3604145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557;p47">
              <a:extLst>
                <a:ext uri="{FF2B5EF4-FFF2-40B4-BE49-F238E27FC236}">
                  <a16:creationId xmlns:a16="http://schemas.microsoft.com/office/drawing/2014/main" id="{2A87B580-3CFD-6B42-C165-5E11AEF5601E}"/>
                </a:ext>
              </a:extLst>
            </p:cNvPr>
            <p:cNvSpPr/>
            <p:nvPr/>
          </p:nvSpPr>
          <p:spPr>
            <a:xfrm>
              <a:off x="3470467" y="360414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558;p47">
              <a:extLst>
                <a:ext uri="{FF2B5EF4-FFF2-40B4-BE49-F238E27FC236}">
                  <a16:creationId xmlns:a16="http://schemas.microsoft.com/office/drawing/2014/main" id="{C613D279-A87F-2E69-ACB4-B28FA4267B8C}"/>
                </a:ext>
              </a:extLst>
            </p:cNvPr>
            <p:cNvSpPr/>
            <p:nvPr/>
          </p:nvSpPr>
          <p:spPr>
            <a:xfrm>
              <a:off x="3499320" y="360414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559;p47">
              <a:extLst>
                <a:ext uri="{FF2B5EF4-FFF2-40B4-BE49-F238E27FC236}">
                  <a16:creationId xmlns:a16="http://schemas.microsoft.com/office/drawing/2014/main" id="{0C3F729D-4CA8-5C78-9747-6CD9377F51C9}"/>
                </a:ext>
              </a:extLst>
            </p:cNvPr>
            <p:cNvSpPr/>
            <p:nvPr/>
          </p:nvSpPr>
          <p:spPr>
            <a:xfrm>
              <a:off x="3398481" y="3366474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560;p47">
              <a:extLst>
                <a:ext uri="{FF2B5EF4-FFF2-40B4-BE49-F238E27FC236}">
                  <a16:creationId xmlns:a16="http://schemas.microsoft.com/office/drawing/2014/main" id="{1A1FEC39-A9F7-5058-A450-477CEA7BB118}"/>
                </a:ext>
              </a:extLst>
            </p:cNvPr>
            <p:cNvSpPr/>
            <p:nvPr/>
          </p:nvSpPr>
          <p:spPr>
            <a:xfrm>
              <a:off x="3427333" y="3366474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561;p47">
              <a:extLst>
                <a:ext uri="{FF2B5EF4-FFF2-40B4-BE49-F238E27FC236}">
                  <a16:creationId xmlns:a16="http://schemas.microsoft.com/office/drawing/2014/main" id="{9D1234D6-CA90-6FB1-05E6-4637C2BD92FB}"/>
                </a:ext>
              </a:extLst>
            </p:cNvPr>
            <p:cNvSpPr/>
            <p:nvPr/>
          </p:nvSpPr>
          <p:spPr>
            <a:xfrm>
              <a:off x="3355346" y="3676131"/>
              <a:ext cx="151146" cy="13481"/>
            </a:xfrm>
            <a:custGeom>
              <a:avLst/>
              <a:gdLst/>
              <a:ahLst/>
              <a:cxnLst/>
              <a:rect l="l" t="t" r="r" b="b"/>
              <a:pathLst>
                <a:path w="4720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720" y="420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562;p47">
              <a:extLst>
                <a:ext uri="{FF2B5EF4-FFF2-40B4-BE49-F238E27FC236}">
                  <a16:creationId xmlns:a16="http://schemas.microsoft.com/office/drawing/2014/main" id="{F07046AE-5473-0803-FB22-6DA1E5BF228D}"/>
                </a:ext>
              </a:extLst>
            </p:cNvPr>
            <p:cNvSpPr/>
            <p:nvPr/>
          </p:nvSpPr>
          <p:spPr>
            <a:xfrm>
              <a:off x="3621870" y="3538723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5" y="1"/>
                  </a:moveTo>
                  <a:lnTo>
                    <a:pt x="465" y="242"/>
                  </a:lnTo>
                  <a:lnTo>
                    <a:pt x="10" y="242"/>
                  </a:lnTo>
                  <a:lnTo>
                    <a:pt x="10" y="1339"/>
                  </a:lnTo>
                  <a:lnTo>
                    <a:pt x="911" y="1339"/>
                  </a:lnTo>
                  <a:lnTo>
                    <a:pt x="911" y="1589"/>
                  </a:lnTo>
                  <a:lnTo>
                    <a:pt x="1" y="1589"/>
                  </a:lnTo>
                  <a:lnTo>
                    <a:pt x="1" y="2017"/>
                  </a:lnTo>
                  <a:lnTo>
                    <a:pt x="465" y="2017"/>
                  </a:lnTo>
                  <a:lnTo>
                    <a:pt x="465" y="2249"/>
                  </a:lnTo>
                  <a:lnTo>
                    <a:pt x="884" y="2249"/>
                  </a:lnTo>
                  <a:lnTo>
                    <a:pt x="884" y="2017"/>
                  </a:lnTo>
                  <a:lnTo>
                    <a:pt x="1330" y="2017"/>
                  </a:lnTo>
                  <a:lnTo>
                    <a:pt x="1330" y="920"/>
                  </a:lnTo>
                  <a:lnTo>
                    <a:pt x="438" y="920"/>
                  </a:lnTo>
                  <a:lnTo>
                    <a:pt x="438" y="661"/>
                  </a:lnTo>
                  <a:lnTo>
                    <a:pt x="1348" y="661"/>
                  </a:lnTo>
                  <a:lnTo>
                    <a:pt x="1348" y="242"/>
                  </a:lnTo>
                  <a:lnTo>
                    <a:pt x="884" y="24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563;p47">
              <a:extLst>
                <a:ext uri="{FF2B5EF4-FFF2-40B4-BE49-F238E27FC236}">
                  <a16:creationId xmlns:a16="http://schemas.microsoft.com/office/drawing/2014/main" id="{3EED59AD-437C-697C-7995-5FC5569896ED}"/>
                </a:ext>
              </a:extLst>
            </p:cNvPr>
            <p:cNvSpPr/>
            <p:nvPr/>
          </p:nvSpPr>
          <p:spPr>
            <a:xfrm>
              <a:off x="3305359" y="3309057"/>
              <a:ext cx="387985" cy="459683"/>
            </a:xfrm>
            <a:custGeom>
              <a:avLst/>
              <a:gdLst/>
              <a:ahLst/>
              <a:cxnLst/>
              <a:rect l="l" t="t" r="r" b="b"/>
              <a:pathLst>
                <a:path w="12116" h="14355" extrusionOk="0">
                  <a:moveTo>
                    <a:pt x="8993" y="420"/>
                  </a:moveTo>
                  <a:lnTo>
                    <a:pt x="8993" y="9885"/>
                  </a:lnTo>
                  <a:lnTo>
                    <a:pt x="6745" y="9885"/>
                  </a:lnTo>
                  <a:lnTo>
                    <a:pt x="6745" y="10563"/>
                  </a:lnTo>
                  <a:lnTo>
                    <a:pt x="1776" y="10563"/>
                  </a:lnTo>
                  <a:lnTo>
                    <a:pt x="1776" y="420"/>
                  </a:lnTo>
                  <a:close/>
                  <a:moveTo>
                    <a:pt x="1356" y="420"/>
                  </a:moveTo>
                  <a:lnTo>
                    <a:pt x="1356" y="10563"/>
                  </a:lnTo>
                  <a:lnTo>
                    <a:pt x="1115" y="10563"/>
                  </a:lnTo>
                  <a:cubicBezTo>
                    <a:pt x="857" y="10563"/>
                    <a:pt x="616" y="10652"/>
                    <a:pt x="429" y="10804"/>
                  </a:cubicBezTo>
                  <a:lnTo>
                    <a:pt x="429" y="1107"/>
                  </a:lnTo>
                  <a:cubicBezTo>
                    <a:pt x="429" y="723"/>
                    <a:pt x="732" y="420"/>
                    <a:pt x="1115" y="420"/>
                  </a:cubicBezTo>
                  <a:close/>
                  <a:moveTo>
                    <a:pt x="7646" y="10313"/>
                  </a:moveTo>
                  <a:lnTo>
                    <a:pt x="7646" y="11241"/>
                  </a:lnTo>
                  <a:lnTo>
                    <a:pt x="7173" y="11241"/>
                  </a:lnTo>
                  <a:lnTo>
                    <a:pt x="7173" y="10313"/>
                  </a:lnTo>
                  <a:close/>
                  <a:moveTo>
                    <a:pt x="8547" y="10313"/>
                  </a:moveTo>
                  <a:lnTo>
                    <a:pt x="8547" y="11241"/>
                  </a:lnTo>
                  <a:lnTo>
                    <a:pt x="8074" y="11241"/>
                  </a:lnTo>
                  <a:lnTo>
                    <a:pt x="8074" y="10313"/>
                  </a:lnTo>
                  <a:close/>
                  <a:moveTo>
                    <a:pt x="9448" y="10313"/>
                  </a:moveTo>
                  <a:lnTo>
                    <a:pt x="9448" y="11241"/>
                  </a:lnTo>
                  <a:lnTo>
                    <a:pt x="8966" y="11241"/>
                  </a:lnTo>
                  <a:lnTo>
                    <a:pt x="8966" y="10313"/>
                  </a:lnTo>
                  <a:close/>
                  <a:moveTo>
                    <a:pt x="10349" y="10313"/>
                  </a:moveTo>
                  <a:lnTo>
                    <a:pt x="10349" y="11241"/>
                  </a:lnTo>
                  <a:lnTo>
                    <a:pt x="9867" y="11241"/>
                  </a:lnTo>
                  <a:lnTo>
                    <a:pt x="9867" y="10313"/>
                  </a:lnTo>
                  <a:close/>
                  <a:moveTo>
                    <a:pt x="11241" y="10313"/>
                  </a:moveTo>
                  <a:lnTo>
                    <a:pt x="11241" y="11241"/>
                  </a:lnTo>
                  <a:lnTo>
                    <a:pt x="10768" y="11241"/>
                  </a:lnTo>
                  <a:lnTo>
                    <a:pt x="10768" y="10313"/>
                  </a:lnTo>
                  <a:close/>
                  <a:moveTo>
                    <a:pt x="8101" y="11660"/>
                  </a:moveTo>
                  <a:lnTo>
                    <a:pt x="8101" y="12588"/>
                  </a:lnTo>
                  <a:lnTo>
                    <a:pt x="7619" y="12588"/>
                  </a:lnTo>
                  <a:lnTo>
                    <a:pt x="7619" y="11660"/>
                  </a:lnTo>
                  <a:close/>
                  <a:moveTo>
                    <a:pt x="8993" y="11660"/>
                  </a:moveTo>
                  <a:lnTo>
                    <a:pt x="8993" y="12588"/>
                  </a:lnTo>
                  <a:lnTo>
                    <a:pt x="8520" y="12588"/>
                  </a:lnTo>
                  <a:lnTo>
                    <a:pt x="8520" y="11660"/>
                  </a:lnTo>
                  <a:close/>
                  <a:moveTo>
                    <a:pt x="9894" y="11660"/>
                  </a:moveTo>
                  <a:lnTo>
                    <a:pt x="9894" y="12588"/>
                  </a:lnTo>
                  <a:lnTo>
                    <a:pt x="9421" y="12588"/>
                  </a:lnTo>
                  <a:lnTo>
                    <a:pt x="9421" y="11660"/>
                  </a:lnTo>
                  <a:close/>
                  <a:moveTo>
                    <a:pt x="10795" y="11660"/>
                  </a:moveTo>
                  <a:lnTo>
                    <a:pt x="10795" y="12588"/>
                  </a:lnTo>
                  <a:lnTo>
                    <a:pt x="10322" y="12588"/>
                  </a:lnTo>
                  <a:lnTo>
                    <a:pt x="10322" y="11660"/>
                  </a:lnTo>
                  <a:close/>
                  <a:moveTo>
                    <a:pt x="11696" y="11660"/>
                  </a:moveTo>
                  <a:lnTo>
                    <a:pt x="11696" y="12588"/>
                  </a:lnTo>
                  <a:lnTo>
                    <a:pt x="11214" y="12588"/>
                  </a:lnTo>
                  <a:lnTo>
                    <a:pt x="11214" y="11660"/>
                  </a:lnTo>
                  <a:close/>
                  <a:moveTo>
                    <a:pt x="7646" y="13007"/>
                  </a:moveTo>
                  <a:lnTo>
                    <a:pt x="7646" y="13935"/>
                  </a:lnTo>
                  <a:lnTo>
                    <a:pt x="7173" y="13935"/>
                  </a:lnTo>
                  <a:lnTo>
                    <a:pt x="7173" y="13007"/>
                  </a:lnTo>
                  <a:close/>
                  <a:moveTo>
                    <a:pt x="8547" y="13007"/>
                  </a:moveTo>
                  <a:lnTo>
                    <a:pt x="8547" y="13935"/>
                  </a:lnTo>
                  <a:lnTo>
                    <a:pt x="8074" y="13935"/>
                  </a:lnTo>
                  <a:lnTo>
                    <a:pt x="8074" y="13007"/>
                  </a:lnTo>
                  <a:close/>
                  <a:moveTo>
                    <a:pt x="9448" y="13007"/>
                  </a:moveTo>
                  <a:lnTo>
                    <a:pt x="9448" y="13935"/>
                  </a:lnTo>
                  <a:lnTo>
                    <a:pt x="8966" y="13935"/>
                  </a:lnTo>
                  <a:lnTo>
                    <a:pt x="8966" y="13007"/>
                  </a:lnTo>
                  <a:close/>
                  <a:moveTo>
                    <a:pt x="10349" y="13007"/>
                  </a:moveTo>
                  <a:lnTo>
                    <a:pt x="10349" y="13935"/>
                  </a:lnTo>
                  <a:lnTo>
                    <a:pt x="9867" y="13935"/>
                  </a:lnTo>
                  <a:lnTo>
                    <a:pt x="9867" y="13007"/>
                  </a:lnTo>
                  <a:close/>
                  <a:moveTo>
                    <a:pt x="11241" y="13007"/>
                  </a:moveTo>
                  <a:lnTo>
                    <a:pt x="11241" y="13935"/>
                  </a:lnTo>
                  <a:lnTo>
                    <a:pt x="10768" y="13935"/>
                  </a:lnTo>
                  <a:lnTo>
                    <a:pt x="10768" y="13007"/>
                  </a:lnTo>
                  <a:close/>
                  <a:moveTo>
                    <a:pt x="1115" y="0"/>
                  </a:moveTo>
                  <a:cubicBezTo>
                    <a:pt x="500" y="0"/>
                    <a:pt x="0" y="491"/>
                    <a:pt x="0" y="1107"/>
                  </a:cubicBezTo>
                  <a:lnTo>
                    <a:pt x="0" y="11669"/>
                  </a:lnTo>
                  <a:cubicBezTo>
                    <a:pt x="0" y="12285"/>
                    <a:pt x="500" y="12784"/>
                    <a:pt x="1115" y="12784"/>
                  </a:cubicBezTo>
                  <a:lnTo>
                    <a:pt x="2463" y="12784"/>
                  </a:lnTo>
                  <a:lnTo>
                    <a:pt x="2463" y="12365"/>
                  </a:lnTo>
                  <a:lnTo>
                    <a:pt x="1115" y="12365"/>
                  </a:lnTo>
                  <a:cubicBezTo>
                    <a:pt x="732" y="12365"/>
                    <a:pt x="429" y="12053"/>
                    <a:pt x="429" y="11669"/>
                  </a:cubicBezTo>
                  <a:cubicBezTo>
                    <a:pt x="429" y="11294"/>
                    <a:pt x="732" y="10982"/>
                    <a:pt x="1115" y="10982"/>
                  </a:cubicBezTo>
                  <a:lnTo>
                    <a:pt x="6745" y="10982"/>
                  </a:lnTo>
                  <a:lnTo>
                    <a:pt x="6745" y="11660"/>
                  </a:lnTo>
                  <a:lnTo>
                    <a:pt x="7200" y="11660"/>
                  </a:lnTo>
                  <a:lnTo>
                    <a:pt x="7200" y="12365"/>
                  </a:lnTo>
                  <a:lnTo>
                    <a:pt x="3810" y="12365"/>
                  </a:lnTo>
                  <a:lnTo>
                    <a:pt x="3810" y="12784"/>
                  </a:lnTo>
                  <a:lnTo>
                    <a:pt x="6745" y="12784"/>
                  </a:lnTo>
                  <a:lnTo>
                    <a:pt x="6745" y="14354"/>
                  </a:lnTo>
                  <a:lnTo>
                    <a:pt x="11669" y="14354"/>
                  </a:lnTo>
                  <a:lnTo>
                    <a:pt x="11669" y="13007"/>
                  </a:lnTo>
                  <a:lnTo>
                    <a:pt x="12115" y="13007"/>
                  </a:lnTo>
                  <a:lnTo>
                    <a:pt x="12115" y="11241"/>
                  </a:lnTo>
                  <a:lnTo>
                    <a:pt x="11669" y="11241"/>
                  </a:lnTo>
                  <a:lnTo>
                    <a:pt x="11669" y="9885"/>
                  </a:lnTo>
                  <a:lnTo>
                    <a:pt x="9421" y="9885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5" name="Google Shape;821;p53">
            <a:extLst>
              <a:ext uri="{FF2B5EF4-FFF2-40B4-BE49-F238E27FC236}">
                <a16:creationId xmlns:a16="http://schemas.microsoft.com/office/drawing/2014/main" id="{4F9D0846-DB3F-3F2D-DE59-6DA25B5C04CC}"/>
              </a:ext>
            </a:extLst>
          </p:cNvPr>
          <p:cNvSpPr/>
          <p:nvPr/>
        </p:nvSpPr>
        <p:spPr>
          <a:xfrm flipH="1">
            <a:off x="-1038463" y="3753404"/>
            <a:ext cx="2156400" cy="21022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8" name="Google Shape;331;p42">
            <a:extLst>
              <a:ext uri="{FF2B5EF4-FFF2-40B4-BE49-F238E27FC236}">
                <a16:creationId xmlns:a16="http://schemas.microsoft.com/office/drawing/2014/main" id="{64F6BB7C-E0DB-F619-2EC2-33C71DF2FCA9}"/>
              </a:ext>
            </a:extLst>
          </p:cNvPr>
          <p:cNvSpPr txBox="1">
            <a:spLocks/>
          </p:cNvSpPr>
          <p:nvPr/>
        </p:nvSpPr>
        <p:spPr>
          <a:xfrm>
            <a:off x="6820183" y="4210949"/>
            <a:ext cx="2155469" cy="54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yne"/>
              <a:buNone/>
              <a:defRPr sz="10000" b="1" i="0" u="none" strike="noStrike" cap="none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sz="7200" dirty="0"/>
              <a:t>02</a:t>
            </a:r>
            <a:endParaRPr lang="en" dirty="0"/>
          </a:p>
        </p:txBody>
      </p:sp>
      <p:sp>
        <p:nvSpPr>
          <p:cNvPr id="904" name="Google Shape;904;p54"/>
          <p:cNvSpPr txBox="1">
            <a:spLocks noGrp="1"/>
          </p:cNvSpPr>
          <p:nvPr>
            <p:ph type="subTitle" idx="4294967295"/>
          </p:nvPr>
        </p:nvSpPr>
        <p:spPr>
          <a:xfrm>
            <a:off x="7955802" y="2351148"/>
            <a:ext cx="2039700" cy="4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highlight>
                  <a:schemeClr val="dk2"/>
                </a:highlight>
              </a:rPr>
              <a:t>$10.23</a:t>
            </a:r>
            <a:endParaRPr sz="2000" b="1" dirty="0">
              <a:highlight>
                <a:schemeClr val="dk2"/>
              </a:highlight>
            </a:endParaRPr>
          </a:p>
        </p:txBody>
      </p:sp>
      <p:sp>
        <p:nvSpPr>
          <p:cNvPr id="840" name="TextBox 839">
            <a:extLst>
              <a:ext uri="{FF2B5EF4-FFF2-40B4-BE49-F238E27FC236}">
                <a16:creationId xmlns:a16="http://schemas.microsoft.com/office/drawing/2014/main" id="{4DBFE0BB-B31D-0DCD-89C4-1D625A17E6F6}"/>
              </a:ext>
            </a:extLst>
          </p:cNvPr>
          <p:cNvSpPr txBox="1"/>
          <p:nvPr/>
        </p:nvSpPr>
        <p:spPr>
          <a:xfrm>
            <a:off x="5674874" y="4645275"/>
            <a:ext cx="12457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Gompers et al. (2020)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43" name="Google Shape;821;p53">
            <a:extLst>
              <a:ext uri="{FF2B5EF4-FFF2-40B4-BE49-F238E27FC236}">
                <a16:creationId xmlns:a16="http://schemas.microsoft.com/office/drawing/2014/main" id="{06339A32-A598-C31F-AAF0-00E5350C7899}"/>
              </a:ext>
            </a:extLst>
          </p:cNvPr>
          <p:cNvSpPr/>
          <p:nvPr/>
        </p:nvSpPr>
        <p:spPr>
          <a:xfrm flipH="1">
            <a:off x="-983682" y="3753404"/>
            <a:ext cx="2156400" cy="21022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4" name="TextBox 843">
            <a:extLst>
              <a:ext uri="{FF2B5EF4-FFF2-40B4-BE49-F238E27FC236}">
                <a16:creationId xmlns:a16="http://schemas.microsoft.com/office/drawing/2014/main" id="{208B74CE-ADC2-8EE9-B32C-C8E726A6FFF5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>
            <a:spLocks noGrp="1"/>
          </p:cNvSpPr>
          <p:nvPr>
            <p:ph type="subTitle" idx="1"/>
          </p:nvPr>
        </p:nvSpPr>
        <p:spPr>
          <a:xfrm>
            <a:off x="812506" y="2454067"/>
            <a:ext cx="2336400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Source</a:t>
            </a:r>
            <a:endParaRPr dirty="0"/>
          </a:p>
        </p:txBody>
      </p:sp>
      <p:sp>
        <p:nvSpPr>
          <p:cNvPr id="351" name="Google Shape;351;p43"/>
          <p:cNvSpPr txBox="1">
            <a:spLocks noGrp="1"/>
          </p:cNvSpPr>
          <p:nvPr>
            <p:ph type="subTitle" idx="2"/>
          </p:nvPr>
        </p:nvSpPr>
        <p:spPr>
          <a:xfrm>
            <a:off x="-73152" y="3025280"/>
            <a:ext cx="3028299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defRPr sz="1800"/>
            </a:pPr>
            <a:r>
              <a:rPr lang="en-GB" sz="1200"/>
              <a:t>Kaggle Startup Success</a:t>
            </a:r>
            <a:endParaRPr lang="en-GB" sz="1200" dirty="0"/>
          </a:p>
          <a:p>
            <a:pPr algn="ctr">
              <a:defRPr sz="1800"/>
            </a:pPr>
            <a:r>
              <a:rPr lang="en-GB" sz="1200"/>
              <a:t>Prediction dataset</a:t>
            </a:r>
            <a:endParaRPr lang="en-GB" sz="1200" dirty="0"/>
          </a:p>
          <a:p>
            <a:pPr algn="ctr">
              <a:defRPr sz="1800"/>
            </a:pPr>
            <a:r>
              <a:rPr lang="en-GB" sz="1200"/>
              <a:t>(923 start-ups, 49 columns)</a:t>
            </a:r>
            <a:endParaRPr lang="en-GB" sz="1200" dirty="0"/>
          </a:p>
        </p:txBody>
      </p:sp>
      <p:sp>
        <p:nvSpPr>
          <p:cNvPr id="352" name="Google Shape;352;p43"/>
          <p:cNvSpPr txBox="1">
            <a:spLocks noGrp="1"/>
          </p:cNvSpPr>
          <p:nvPr>
            <p:ph type="subTitle" idx="3"/>
          </p:nvPr>
        </p:nvSpPr>
        <p:spPr>
          <a:xfrm>
            <a:off x="3403799" y="3103210"/>
            <a:ext cx="2559213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Success = 1 (acquired / operating / IPO)</a:t>
            </a:r>
            <a:endParaRPr lang="en-GB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0 = closed</a:t>
            </a:r>
            <a:endParaRPr sz="1200" dirty="0"/>
          </a:p>
        </p:txBody>
      </p:sp>
      <p:sp>
        <p:nvSpPr>
          <p:cNvPr id="353" name="Google Shape;353;p43"/>
          <p:cNvSpPr txBox="1">
            <a:spLocks noGrp="1"/>
          </p:cNvSpPr>
          <p:nvPr>
            <p:ph type="subTitle" idx="4"/>
          </p:nvPr>
        </p:nvSpPr>
        <p:spPr>
          <a:xfrm>
            <a:off x="6445550" y="3109048"/>
            <a:ext cx="2236064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funding_rounds, log_funding, age_proxy, category_code, state_code, has_VC, has_angel, is_top500</a:t>
            </a:r>
            <a:endParaRPr sz="1200" dirty="0"/>
          </a:p>
        </p:txBody>
      </p:sp>
      <p:sp>
        <p:nvSpPr>
          <p:cNvPr id="354" name="Google Shape;354;p43"/>
          <p:cNvSpPr txBox="1">
            <a:spLocks noGrp="1"/>
          </p:cNvSpPr>
          <p:nvPr>
            <p:ph type="title"/>
          </p:nvPr>
        </p:nvSpPr>
        <p:spPr>
          <a:xfrm>
            <a:off x="752453" y="5646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Syne"/>
                <a:ea typeface="Syne"/>
                <a:cs typeface="Syne"/>
                <a:sym typeface="Syne"/>
              </a:rPr>
              <a:t>Dataset </a:t>
            </a:r>
            <a:r>
              <a:rPr lang="en" sz="3600" dirty="0">
                <a:highlight>
                  <a:srgbClr val="0000FF"/>
                </a:highlight>
                <a:latin typeface="Syne"/>
                <a:ea typeface="Syne"/>
                <a:cs typeface="Syne"/>
                <a:sym typeface="Syne"/>
              </a:rPr>
              <a:t>Description</a:t>
            </a:r>
            <a:endParaRPr sz="3600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55" name="Google Shape;355;p43"/>
          <p:cNvSpPr txBox="1">
            <a:spLocks noGrp="1"/>
          </p:cNvSpPr>
          <p:nvPr>
            <p:ph type="subTitle" idx="5"/>
          </p:nvPr>
        </p:nvSpPr>
        <p:spPr>
          <a:xfrm>
            <a:off x="3180985" y="2443454"/>
            <a:ext cx="2782027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Target variable</a:t>
            </a:r>
            <a:endParaRPr dirty="0"/>
          </a:p>
        </p:txBody>
      </p:sp>
      <p:sp>
        <p:nvSpPr>
          <p:cNvPr id="356" name="Google Shape;356;p43"/>
          <p:cNvSpPr txBox="1">
            <a:spLocks noGrp="1"/>
          </p:cNvSpPr>
          <p:nvPr>
            <p:ph type="subTitle" idx="6"/>
          </p:nvPr>
        </p:nvSpPr>
        <p:spPr>
          <a:xfrm>
            <a:off x="6409884" y="2438544"/>
            <a:ext cx="2625618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features</a:t>
            </a:r>
            <a:endParaRPr dirty="0"/>
          </a:p>
        </p:txBody>
      </p:sp>
      <p:grpSp>
        <p:nvGrpSpPr>
          <p:cNvPr id="357" name="Google Shape;357;p43"/>
          <p:cNvGrpSpPr/>
          <p:nvPr/>
        </p:nvGrpSpPr>
        <p:grpSpPr>
          <a:xfrm rot="5400000">
            <a:off x="7307614" y="140931"/>
            <a:ext cx="2242643" cy="915730"/>
            <a:chOff x="7080901" y="660733"/>
            <a:chExt cx="1729500" cy="706200"/>
          </a:xfrm>
        </p:grpSpPr>
        <p:sp>
          <p:nvSpPr>
            <p:cNvPr id="358" name="Google Shape;358;p43"/>
            <p:cNvSpPr/>
            <p:nvPr/>
          </p:nvSpPr>
          <p:spPr>
            <a:xfrm>
              <a:off x="7080901" y="660733"/>
              <a:ext cx="1729500" cy="706200"/>
            </a:xfrm>
            <a:prstGeom prst="roundRect">
              <a:avLst>
                <a:gd name="adj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3"/>
            <p:cNvSpPr/>
            <p:nvPr/>
          </p:nvSpPr>
          <p:spPr>
            <a:xfrm>
              <a:off x="8140584" y="731759"/>
              <a:ext cx="564212" cy="564186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43"/>
          <p:cNvGrpSpPr/>
          <p:nvPr/>
        </p:nvGrpSpPr>
        <p:grpSpPr>
          <a:xfrm>
            <a:off x="7217561" y="1769383"/>
            <a:ext cx="583412" cy="691271"/>
            <a:chOff x="3305359" y="3309057"/>
            <a:chExt cx="387985" cy="459683"/>
          </a:xfrm>
        </p:grpSpPr>
        <p:sp>
          <p:nvSpPr>
            <p:cNvPr id="361" name="Google Shape;361;p43"/>
            <p:cNvSpPr/>
            <p:nvPr/>
          </p:nvSpPr>
          <p:spPr>
            <a:xfrm>
              <a:off x="3384199" y="3682728"/>
              <a:ext cx="43166" cy="50596"/>
            </a:xfrm>
            <a:custGeom>
              <a:avLst/>
              <a:gdLst/>
              <a:ahLst/>
              <a:cxnLst/>
              <a:rect l="l" t="t" r="r" b="b"/>
              <a:pathLst>
                <a:path w="1348" h="1580" extrusionOk="0">
                  <a:moveTo>
                    <a:pt x="1" y="0"/>
                  </a:moveTo>
                  <a:lnTo>
                    <a:pt x="1" y="1579"/>
                  </a:lnTo>
                  <a:lnTo>
                    <a:pt x="1348" y="1579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3"/>
            <p:cNvSpPr/>
            <p:nvPr/>
          </p:nvSpPr>
          <p:spPr>
            <a:xfrm>
              <a:off x="3405910" y="3495588"/>
              <a:ext cx="28596" cy="72019"/>
            </a:xfrm>
            <a:custGeom>
              <a:avLst/>
              <a:gdLst/>
              <a:ahLst/>
              <a:cxnLst/>
              <a:rect l="l" t="t" r="r" b="b"/>
              <a:pathLst>
                <a:path w="893" h="2249" extrusionOk="0">
                  <a:moveTo>
                    <a:pt x="1" y="1"/>
                  </a:moveTo>
                  <a:lnTo>
                    <a:pt x="1" y="2249"/>
                  </a:lnTo>
                  <a:lnTo>
                    <a:pt x="893" y="2249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3"/>
            <p:cNvSpPr/>
            <p:nvPr/>
          </p:nvSpPr>
          <p:spPr>
            <a:xfrm>
              <a:off x="3463326" y="3466736"/>
              <a:ext cx="28884" cy="100871"/>
            </a:xfrm>
            <a:custGeom>
              <a:avLst/>
              <a:gdLst/>
              <a:ahLst/>
              <a:cxnLst/>
              <a:rect l="l" t="t" r="r" b="b"/>
              <a:pathLst>
                <a:path w="902" h="3150" extrusionOk="0">
                  <a:moveTo>
                    <a:pt x="1" y="1"/>
                  </a:moveTo>
                  <a:lnTo>
                    <a:pt x="1" y="3150"/>
                  </a:lnTo>
                  <a:lnTo>
                    <a:pt x="902" y="315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3"/>
            <p:cNvSpPr/>
            <p:nvPr/>
          </p:nvSpPr>
          <p:spPr>
            <a:xfrm>
              <a:off x="3521031" y="3438172"/>
              <a:ext cx="28884" cy="129435"/>
            </a:xfrm>
            <a:custGeom>
              <a:avLst/>
              <a:gdLst/>
              <a:ahLst/>
              <a:cxnLst/>
              <a:rect l="l" t="t" r="r" b="b"/>
              <a:pathLst>
                <a:path w="902" h="4042" extrusionOk="0">
                  <a:moveTo>
                    <a:pt x="1" y="1"/>
                  </a:moveTo>
                  <a:lnTo>
                    <a:pt x="1" y="4042"/>
                  </a:lnTo>
                  <a:lnTo>
                    <a:pt x="902" y="404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3"/>
            <p:cNvSpPr/>
            <p:nvPr/>
          </p:nvSpPr>
          <p:spPr>
            <a:xfrm>
              <a:off x="3377346" y="3402179"/>
              <a:ext cx="201133" cy="172281"/>
            </a:xfrm>
            <a:custGeom>
              <a:avLst/>
              <a:gdLst/>
              <a:ahLst/>
              <a:cxnLst/>
              <a:rect l="l" t="t" r="r" b="b"/>
              <a:pathLst>
                <a:path w="6281" h="5380" extrusionOk="0">
                  <a:moveTo>
                    <a:pt x="0" y="1"/>
                  </a:moveTo>
                  <a:lnTo>
                    <a:pt x="0" y="5380"/>
                  </a:lnTo>
                  <a:lnTo>
                    <a:pt x="6281" y="5380"/>
                  </a:lnTo>
                  <a:lnTo>
                    <a:pt x="6281" y="4961"/>
                  </a:lnTo>
                  <a:lnTo>
                    <a:pt x="429" y="4961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3"/>
            <p:cNvSpPr/>
            <p:nvPr/>
          </p:nvSpPr>
          <p:spPr>
            <a:xfrm>
              <a:off x="3415325" y="3373615"/>
              <a:ext cx="126873" cy="83739"/>
            </a:xfrm>
            <a:custGeom>
              <a:avLst/>
              <a:gdLst/>
              <a:ahLst/>
              <a:cxnLst/>
              <a:rect l="l" t="t" r="r" b="b"/>
              <a:pathLst>
                <a:path w="3962" h="2615" extrusionOk="0">
                  <a:moveTo>
                    <a:pt x="2847" y="1"/>
                  </a:moveTo>
                  <a:lnTo>
                    <a:pt x="2847" y="429"/>
                  </a:lnTo>
                  <a:lnTo>
                    <a:pt x="3239" y="429"/>
                  </a:lnTo>
                  <a:lnTo>
                    <a:pt x="2401" y="1267"/>
                  </a:lnTo>
                  <a:lnTo>
                    <a:pt x="1723" y="589"/>
                  </a:lnTo>
                  <a:lnTo>
                    <a:pt x="1" y="2311"/>
                  </a:lnTo>
                  <a:lnTo>
                    <a:pt x="304" y="2614"/>
                  </a:lnTo>
                  <a:lnTo>
                    <a:pt x="1723" y="1187"/>
                  </a:lnTo>
                  <a:lnTo>
                    <a:pt x="2401" y="1865"/>
                  </a:lnTo>
                  <a:lnTo>
                    <a:pt x="3543" y="723"/>
                  </a:lnTo>
                  <a:lnTo>
                    <a:pt x="3543" y="1116"/>
                  </a:lnTo>
                  <a:lnTo>
                    <a:pt x="3962" y="1116"/>
                  </a:lnTo>
                  <a:lnTo>
                    <a:pt x="3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3"/>
            <p:cNvSpPr/>
            <p:nvPr/>
          </p:nvSpPr>
          <p:spPr>
            <a:xfrm>
              <a:off x="3441903" y="3604145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3"/>
            <p:cNvSpPr/>
            <p:nvPr/>
          </p:nvSpPr>
          <p:spPr>
            <a:xfrm>
              <a:off x="3470467" y="360414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3"/>
            <p:cNvSpPr/>
            <p:nvPr/>
          </p:nvSpPr>
          <p:spPr>
            <a:xfrm>
              <a:off x="3499320" y="360414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3"/>
            <p:cNvSpPr/>
            <p:nvPr/>
          </p:nvSpPr>
          <p:spPr>
            <a:xfrm>
              <a:off x="3398481" y="3366474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3"/>
            <p:cNvSpPr/>
            <p:nvPr/>
          </p:nvSpPr>
          <p:spPr>
            <a:xfrm>
              <a:off x="3427333" y="3366474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3"/>
            <p:cNvSpPr/>
            <p:nvPr/>
          </p:nvSpPr>
          <p:spPr>
            <a:xfrm>
              <a:off x="3355346" y="3676131"/>
              <a:ext cx="151146" cy="13481"/>
            </a:xfrm>
            <a:custGeom>
              <a:avLst/>
              <a:gdLst/>
              <a:ahLst/>
              <a:cxnLst/>
              <a:rect l="l" t="t" r="r" b="b"/>
              <a:pathLst>
                <a:path w="4720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720" y="420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3"/>
            <p:cNvSpPr/>
            <p:nvPr/>
          </p:nvSpPr>
          <p:spPr>
            <a:xfrm>
              <a:off x="3621870" y="3538723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5" y="1"/>
                  </a:moveTo>
                  <a:lnTo>
                    <a:pt x="465" y="242"/>
                  </a:lnTo>
                  <a:lnTo>
                    <a:pt x="10" y="242"/>
                  </a:lnTo>
                  <a:lnTo>
                    <a:pt x="10" y="1339"/>
                  </a:lnTo>
                  <a:lnTo>
                    <a:pt x="911" y="1339"/>
                  </a:lnTo>
                  <a:lnTo>
                    <a:pt x="911" y="1589"/>
                  </a:lnTo>
                  <a:lnTo>
                    <a:pt x="1" y="1589"/>
                  </a:lnTo>
                  <a:lnTo>
                    <a:pt x="1" y="2017"/>
                  </a:lnTo>
                  <a:lnTo>
                    <a:pt x="465" y="2017"/>
                  </a:lnTo>
                  <a:lnTo>
                    <a:pt x="465" y="2249"/>
                  </a:lnTo>
                  <a:lnTo>
                    <a:pt x="884" y="2249"/>
                  </a:lnTo>
                  <a:lnTo>
                    <a:pt x="884" y="2017"/>
                  </a:lnTo>
                  <a:lnTo>
                    <a:pt x="1330" y="2017"/>
                  </a:lnTo>
                  <a:lnTo>
                    <a:pt x="1330" y="920"/>
                  </a:lnTo>
                  <a:lnTo>
                    <a:pt x="438" y="920"/>
                  </a:lnTo>
                  <a:lnTo>
                    <a:pt x="438" y="661"/>
                  </a:lnTo>
                  <a:lnTo>
                    <a:pt x="1348" y="661"/>
                  </a:lnTo>
                  <a:lnTo>
                    <a:pt x="1348" y="242"/>
                  </a:lnTo>
                  <a:lnTo>
                    <a:pt x="884" y="24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3"/>
            <p:cNvSpPr/>
            <p:nvPr/>
          </p:nvSpPr>
          <p:spPr>
            <a:xfrm>
              <a:off x="3305359" y="3309057"/>
              <a:ext cx="387985" cy="459683"/>
            </a:xfrm>
            <a:custGeom>
              <a:avLst/>
              <a:gdLst/>
              <a:ahLst/>
              <a:cxnLst/>
              <a:rect l="l" t="t" r="r" b="b"/>
              <a:pathLst>
                <a:path w="12116" h="14355" extrusionOk="0">
                  <a:moveTo>
                    <a:pt x="8993" y="420"/>
                  </a:moveTo>
                  <a:lnTo>
                    <a:pt x="8993" y="9885"/>
                  </a:lnTo>
                  <a:lnTo>
                    <a:pt x="6745" y="9885"/>
                  </a:lnTo>
                  <a:lnTo>
                    <a:pt x="6745" y="10563"/>
                  </a:lnTo>
                  <a:lnTo>
                    <a:pt x="1776" y="10563"/>
                  </a:lnTo>
                  <a:lnTo>
                    <a:pt x="1776" y="420"/>
                  </a:lnTo>
                  <a:close/>
                  <a:moveTo>
                    <a:pt x="1356" y="420"/>
                  </a:moveTo>
                  <a:lnTo>
                    <a:pt x="1356" y="10563"/>
                  </a:lnTo>
                  <a:lnTo>
                    <a:pt x="1115" y="10563"/>
                  </a:lnTo>
                  <a:cubicBezTo>
                    <a:pt x="857" y="10563"/>
                    <a:pt x="616" y="10652"/>
                    <a:pt x="429" y="10804"/>
                  </a:cubicBezTo>
                  <a:lnTo>
                    <a:pt x="429" y="1107"/>
                  </a:lnTo>
                  <a:cubicBezTo>
                    <a:pt x="429" y="723"/>
                    <a:pt x="732" y="420"/>
                    <a:pt x="1115" y="420"/>
                  </a:cubicBezTo>
                  <a:close/>
                  <a:moveTo>
                    <a:pt x="7646" y="10313"/>
                  </a:moveTo>
                  <a:lnTo>
                    <a:pt x="7646" y="11241"/>
                  </a:lnTo>
                  <a:lnTo>
                    <a:pt x="7173" y="11241"/>
                  </a:lnTo>
                  <a:lnTo>
                    <a:pt x="7173" y="10313"/>
                  </a:lnTo>
                  <a:close/>
                  <a:moveTo>
                    <a:pt x="8547" y="10313"/>
                  </a:moveTo>
                  <a:lnTo>
                    <a:pt x="8547" y="11241"/>
                  </a:lnTo>
                  <a:lnTo>
                    <a:pt x="8074" y="11241"/>
                  </a:lnTo>
                  <a:lnTo>
                    <a:pt x="8074" y="10313"/>
                  </a:lnTo>
                  <a:close/>
                  <a:moveTo>
                    <a:pt x="9448" y="10313"/>
                  </a:moveTo>
                  <a:lnTo>
                    <a:pt x="9448" y="11241"/>
                  </a:lnTo>
                  <a:lnTo>
                    <a:pt x="8966" y="11241"/>
                  </a:lnTo>
                  <a:lnTo>
                    <a:pt x="8966" y="10313"/>
                  </a:lnTo>
                  <a:close/>
                  <a:moveTo>
                    <a:pt x="10349" y="10313"/>
                  </a:moveTo>
                  <a:lnTo>
                    <a:pt x="10349" y="11241"/>
                  </a:lnTo>
                  <a:lnTo>
                    <a:pt x="9867" y="11241"/>
                  </a:lnTo>
                  <a:lnTo>
                    <a:pt x="9867" y="10313"/>
                  </a:lnTo>
                  <a:close/>
                  <a:moveTo>
                    <a:pt x="11241" y="10313"/>
                  </a:moveTo>
                  <a:lnTo>
                    <a:pt x="11241" y="11241"/>
                  </a:lnTo>
                  <a:lnTo>
                    <a:pt x="10768" y="11241"/>
                  </a:lnTo>
                  <a:lnTo>
                    <a:pt x="10768" y="10313"/>
                  </a:lnTo>
                  <a:close/>
                  <a:moveTo>
                    <a:pt x="8101" y="11660"/>
                  </a:moveTo>
                  <a:lnTo>
                    <a:pt x="8101" y="12588"/>
                  </a:lnTo>
                  <a:lnTo>
                    <a:pt x="7619" y="12588"/>
                  </a:lnTo>
                  <a:lnTo>
                    <a:pt x="7619" y="11660"/>
                  </a:lnTo>
                  <a:close/>
                  <a:moveTo>
                    <a:pt x="8993" y="11660"/>
                  </a:moveTo>
                  <a:lnTo>
                    <a:pt x="8993" y="12588"/>
                  </a:lnTo>
                  <a:lnTo>
                    <a:pt x="8520" y="12588"/>
                  </a:lnTo>
                  <a:lnTo>
                    <a:pt x="8520" y="11660"/>
                  </a:lnTo>
                  <a:close/>
                  <a:moveTo>
                    <a:pt x="9894" y="11660"/>
                  </a:moveTo>
                  <a:lnTo>
                    <a:pt x="9894" y="12588"/>
                  </a:lnTo>
                  <a:lnTo>
                    <a:pt x="9421" y="12588"/>
                  </a:lnTo>
                  <a:lnTo>
                    <a:pt x="9421" y="11660"/>
                  </a:lnTo>
                  <a:close/>
                  <a:moveTo>
                    <a:pt x="10795" y="11660"/>
                  </a:moveTo>
                  <a:lnTo>
                    <a:pt x="10795" y="12588"/>
                  </a:lnTo>
                  <a:lnTo>
                    <a:pt x="10322" y="12588"/>
                  </a:lnTo>
                  <a:lnTo>
                    <a:pt x="10322" y="11660"/>
                  </a:lnTo>
                  <a:close/>
                  <a:moveTo>
                    <a:pt x="11696" y="11660"/>
                  </a:moveTo>
                  <a:lnTo>
                    <a:pt x="11696" y="12588"/>
                  </a:lnTo>
                  <a:lnTo>
                    <a:pt x="11214" y="12588"/>
                  </a:lnTo>
                  <a:lnTo>
                    <a:pt x="11214" y="11660"/>
                  </a:lnTo>
                  <a:close/>
                  <a:moveTo>
                    <a:pt x="7646" y="13007"/>
                  </a:moveTo>
                  <a:lnTo>
                    <a:pt x="7646" y="13935"/>
                  </a:lnTo>
                  <a:lnTo>
                    <a:pt x="7173" y="13935"/>
                  </a:lnTo>
                  <a:lnTo>
                    <a:pt x="7173" y="13007"/>
                  </a:lnTo>
                  <a:close/>
                  <a:moveTo>
                    <a:pt x="8547" y="13007"/>
                  </a:moveTo>
                  <a:lnTo>
                    <a:pt x="8547" y="13935"/>
                  </a:lnTo>
                  <a:lnTo>
                    <a:pt x="8074" y="13935"/>
                  </a:lnTo>
                  <a:lnTo>
                    <a:pt x="8074" y="13007"/>
                  </a:lnTo>
                  <a:close/>
                  <a:moveTo>
                    <a:pt x="9448" y="13007"/>
                  </a:moveTo>
                  <a:lnTo>
                    <a:pt x="9448" y="13935"/>
                  </a:lnTo>
                  <a:lnTo>
                    <a:pt x="8966" y="13935"/>
                  </a:lnTo>
                  <a:lnTo>
                    <a:pt x="8966" y="13007"/>
                  </a:lnTo>
                  <a:close/>
                  <a:moveTo>
                    <a:pt x="10349" y="13007"/>
                  </a:moveTo>
                  <a:lnTo>
                    <a:pt x="10349" y="13935"/>
                  </a:lnTo>
                  <a:lnTo>
                    <a:pt x="9867" y="13935"/>
                  </a:lnTo>
                  <a:lnTo>
                    <a:pt x="9867" y="13007"/>
                  </a:lnTo>
                  <a:close/>
                  <a:moveTo>
                    <a:pt x="11241" y="13007"/>
                  </a:moveTo>
                  <a:lnTo>
                    <a:pt x="11241" y="13935"/>
                  </a:lnTo>
                  <a:lnTo>
                    <a:pt x="10768" y="13935"/>
                  </a:lnTo>
                  <a:lnTo>
                    <a:pt x="10768" y="13007"/>
                  </a:lnTo>
                  <a:close/>
                  <a:moveTo>
                    <a:pt x="1115" y="0"/>
                  </a:moveTo>
                  <a:cubicBezTo>
                    <a:pt x="500" y="0"/>
                    <a:pt x="0" y="491"/>
                    <a:pt x="0" y="1107"/>
                  </a:cubicBezTo>
                  <a:lnTo>
                    <a:pt x="0" y="11669"/>
                  </a:lnTo>
                  <a:cubicBezTo>
                    <a:pt x="0" y="12285"/>
                    <a:pt x="500" y="12784"/>
                    <a:pt x="1115" y="12784"/>
                  </a:cubicBezTo>
                  <a:lnTo>
                    <a:pt x="2463" y="12784"/>
                  </a:lnTo>
                  <a:lnTo>
                    <a:pt x="2463" y="12365"/>
                  </a:lnTo>
                  <a:lnTo>
                    <a:pt x="1115" y="12365"/>
                  </a:lnTo>
                  <a:cubicBezTo>
                    <a:pt x="732" y="12365"/>
                    <a:pt x="429" y="12053"/>
                    <a:pt x="429" y="11669"/>
                  </a:cubicBezTo>
                  <a:cubicBezTo>
                    <a:pt x="429" y="11294"/>
                    <a:pt x="732" y="10982"/>
                    <a:pt x="1115" y="10982"/>
                  </a:cubicBezTo>
                  <a:lnTo>
                    <a:pt x="6745" y="10982"/>
                  </a:lnTo>
                  <a:lnTo>
                    <a:pt x="6745" y="11660"/>
                  </a:lnTo>
                  <a:lnTo>
                    <a:pt x="7200" y="11660"/>
                  </a:lnTo>
                  <a:lnTo>
                    <a:pt x="7200" y="12365"/>
                  </a:lnTo>
                  <a:lnTo>
                    <a:pt x="3810" y="12365"/>
                  </a:lnTo>
                  <a:lnTo>
                    <a:pt x="3810" y="12784"/>
                  </a:lnTo>
                  <a:lnTo>
                    <a:pt x="6745" y="12784"/>
                  </a:lnTo>
                  <a:lnTo>
                    <a:pt x="6745" y="14354"/>
                  </a:lnTo>
                  <a:lnTo>
                    <a:pt x="11669" y="14354"/>
                  </a:lnTo>
                  <a:lnTo>
                    <a:pt x="11669" y="13007"/>
                  </a:lnTo>
                  <a:lnTo>
                    <a:pt x="12115" y="13007"/>
                  </a:lnTo>
                  <a:lnTo>
                    <a:pt x="12115" y="11241"/>
                  </a:lnTo>
                  <a:lnTo>
                    <a:pt x="11669" y="11241"/>
                  </a:lnTo>
                  <a:lnTo>
                    <a:pt x="11669" y="9885"/>
                  </a:lnTo>
                  <a:lnTo>
                    <a:pt x="9421" y="9885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43"/>
          <p:cNvGrpSpPr/>
          <p:nvPr/>
        </p:nvGrpSpPr>
        <p:grpSpPr>
          <a:xfrm>
            <a:off x="1248553" y="1795812"/>
            <a:ext cx="634935" cy="691271"/>
            <a:chOff x="1721879" y="3309057"/>
            <a:chExt cx="422249" cy="459683"/>
          </a:xfrm>
        </p:grpSpPr>
        <p:sp>
          <p:nvSpPr>
            <p:cNvPr id="376" name="Google Shape;376;p43"/>
            <p:cNvSpPr/>
            <p:nvPr/>
          </p:nvSpPr>
          <p:spPr>
            <a:xfrm>
              <a:off x="1749290" y="3309057"/>
              <a:ext cx="394837" cy="387408"/>
            </a:xfrm>
            <a:custGeom>
              <a:avLst/>
              <a:gdLst/>
              <a:ahLst/>
              <a:cxnLst/>
              <a:rect l="l" t="t" r="r" b="b"/>
              <a:pathLst>
                <a:path w="12330" h="12098" extrusionOk="0">
                  <a:moveTo>
                    <a:pt x="884" y="420"/>
                  </a:moveTo>
                  <a:cubicBezTo>
                    <a:pt x="1142" y="420"/>
                    <a:pt x="1348" y="625"/>
                    <a:pt x="1348" y="884"/>
                  </a:cubicBezTo>
                  <a:lnTo>
                    <a:pt x="1348" y="1347"/>
                  </a:lnTo>
                  <a:lnTo>
                    <a:pt x="420" y="1347"/>
                  </a:lnTo>
                  <a:lnTo>
                    <a:pt x="420" y="884"/>
                  </a:lnTo>
                  <a:cubicBezTo>
                    <a:pt x="420" y="625"/>
                    <a:pt x="634" y="420"/>
                    <a:pt x="884" y="420"/>
                  </a:cubicBezTo>
                  <a:close/>
                  <a:moveTo>
                    <a:pt x="7396" y="420"/>
                  </a:moveTo>
                  <a:cubicBezTo>
                    <a:pt x="7655" y="420"/>
                    <a:pt x="7860" y="625"/>
                    <a:pt x="7860" y="884"/>
                  </a:cubicBezTo>
                  <a:lnTo>
                    <a:pt x="7860" y="4042"/>
                  </a:lnTo>
                  <a:lnTo>
                    <a:pt x="3578" y="4042"/>
                  </a:lnTo>
                  <a:cubicBezTo>
                    <a:pt x="3096" y="4042"/>
                    <a:pt x="2695" y="4434"/>
                    <a:pt x="2695" y="4925"/>
                  </a:cubicBezTo>
                  <a:lnTo>
                    <a:pt x="2695" y="7173"/>
                  </a:lnTo>
                  <a:cubicBezTo>
                    <a:pt x="2695" y="7423"/>
                    <a:pt x="2489" y="7637"/>
                    <a:pt x="2231" y="7637"/>
                  </a:cubicBezTo>
                  <a:cubicBezTo>
                    <a:pt x="1981" y="7637"/>
                    <a:pt x="1767" y="7423"/>
                    <a:pt x="1767" y="7173"/>
                  </a:cubicBezTo>
                  <a:lnTo>
                    <a:pt x="1767" y="884"/>
                  </a:lnTo>
                  <a:cubicBezTo>
                    <a:pt x="1767" y="714"/>
                    <a:pt x="1722" y="553"/>
                    <a:pt x="1642" y="420"/>
                  </a:cubicBezTo>
                  <a:close/>
                  <a:moveTo>
                    <a:pt x="3578" y="4461"/>
                  </a:moveTo>
                  <a:cubicBezTo>
                    <a:pt x="3836" y="4461"/>
                    <a:pt x="4042" y="4666"/>
                    <a:pt x="4042" y="4925"/>
                  </a:cubicBezTo>
                  <a:lnTo>
                    <a:pt x="4042" y="7637"/>
                  </a:lnTo>
                  <a:lnTo>
                    <a:pt x="2989" y="7637"/>
                  </a:lnTo>
                  <a:cubicBezTo>
                    <a:pt x="3069" y="7494"/>
                    <a:pt x="3123" y="7342"/>
                    <a:pt x="3123" y="7173"/>
                  </a:cubicBezTo>
                  <a:lnTo>
                    <a:pt x="3123" y="4925"/>
                  </a:lnTo>
                  <a:cubicBezTo>
                    <a:pt x="3123" y="4666"/>
                    <a:pt x="3328" y="4461"/>
                    <a:pt x="3578" y="4461"/>
                  </a:cubicBezTo>
                  <a:close/>
                  <a:moveTo>
                    <a:pt x="10099" y="4461"/>
                  </a:moveTo>
                  <a:cubicBezTo>
                    <a:pt x="10349" y="4461"/>
                    <a:pt x="10554" y="4666"/>
                    <a:pt x="10554" y="4925"/>
                  </a:cubicBezTo>
                  <a:lnTo>
                    <a:pt x="10554" y="10331"/>
                  </a:lnTo>
                  <a:lnTo>
                    <a:pt x="5389" y="10331"/>
                  </a:lnTo>
                  <a:lnTo>
                    <a:pt x="5389" y="11214"/>
                  </a:lnTo>
                  <a:cubicBezTo>
                    <a:pt x="5389" y="11464"/>
                    <a:pt x="5184" y="11678"/>
                    <a:pt x="4925" y="11678"/>
                  </a:cubicBezTo>
                  <a:cubicBezTo>
                    <a:pt x="4675" y="11678"/>
                    <a:pt x="4470" y="11464"/>
                    <a:pt x="4470" y="11214"/>
                  </a:cubicBezTo>
                  <a:lnTo>
                    <a:pt x="4470" y="4925"/>
                  </a:lnTo>
                  <a:cubicBezTo>
                    <a:pt x="4470" y="4755"/>
                    <a:pt x="4416" y="4595"/>
                    <a:pt x="4336" y="4461"/>
                  </a:cubicBezTo>
                  <a:close/>
                  <a:moveTo>
                    <a:pt x="11910" y="10750"/>
                  </a:moveTo>
                  <a:lnTo>
                    <a:pt x="11910" y="11214"/>
                  </a:lnTo>
                  <a:cubicBezTo>
                    <a:pt x="11910" y="11464"/>
                    <a:pt x="11696" y="11678"/>
                    <a:pt x="11446" y="11678"/>
                  </a:cubicBezTo>
                  <a:lnTo>
                    <a:pt x="5683" y="11678"/>
                  </a:lnTo>
                  <a:cubicBezTo>
                    <a:pt x="5763" y="11544"/>
                    <a:pt x="5817" y="11384"/>
                    <a:pt x="5817" y="11214"/>
                  </a:cubicBezTo>
                  <a:lnTo>
                    <a:pt x="5817" y="10750"/>
                  </a:lnTo>
                  <a:close/>
                  <a:moveTo>
                    <a:pt x="884" y="0"/>
                  </a:moveTo>
                  <a:cubicBezTo>
                    <a:pt x="402" y="0"/>
                    <a:pt x="0" y="393"/>
                    <a:pt x="0" y="884"/>
                  </a:cubicBezTo>
                  <a:lnTo>
                    <a:pt x="0" y="1767"/>
                  </a:lnTo>
                  <a:lnTo>
                    <a:pt x="1348" y="1767"/>
                  </a:lnTo>
                  <a:lnTo>
                    <a:pt x="1348" y="7173"/>
                  </a:lnTo>
                  <a:cubicBezTo>
                    <a:pt x="1348" y="7655"/>
                    <a:pt x="1749" y="8056"/>
                    <a:pt x="2231" y="8056"/>
                  </a:cubicBezTo>
                  <a:lnTo>
                    <a:pt x="4042" y="8056"/>
                  </a:lnTo>
                  <a:lnTo>
                    <a:pt x="4042" y="11214"/>
                  </a:lnTo>
                  <a:cubicBezTo>
                    <a:pt x="4042" y="11705"/>
                    <a:pt x="4443" y="12097"/>
                    <a:pt x="4925" y="12097"/>
                  </a:cubicBezTo>
                  <a:lnTo>
                    <a:pt x="11446" y="12097"/>
                  </a:lnTo>
                  <a:cubicBezTo>
                    <a:pt x="11928" y="12097"/>
                    <a:pt x="12329" y="11705"/>
                    <a:pt x="12329" y="11214"/>
                  </a:cubicBezTo>
                  <a:lnTo>
                    <a:pt x="12329" y="10331"/>
                  </a:lnTo>
                  <a:lnTo>
                    <a:pt x="10982" y="10331"/>
                  </a:lnTo>
                  <a:lnTo>
                    <a:pt x="10982" y="4925"/>
                  </a:lnTo>
                  <a:cubicBezTo>
                    <a:pt x="10982" y="4434"/>
                    <a:pt x="10581" y="4042"/>
                    <a:pt x="10099" y="4042"/>
                  </a:cubicBezTo>
                  <a:lnTo>
                    <a:pt x="8288" y="4042"/>
                  </a:lnTo>
                  <a:lnTo>
                    <a:pt x="8288" y="884"/>
                  </a:lnTo>
                  <a:cubicBezTo>
                    <a:pt x="8288" y="393"/>
                    <a:pt x="7887" y="0"/>
                    <a:pt x="7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3"/>
            <p:cNvSpPr/>
            <p:nvPr/>
          </p:nvSpPr>
          <p:spPr>
            <a:xfrm>
              <a:off x="2022122" y="3538723"/>
              <a:ext cx="43166" cy="71730"/>
            </a:xfrm>
            <a:custGeom>
              <a:avLst/>
              <a:gdLst/>
              <a:ahLst/>
              <a:cxnLst/>
              <a:rect l="l" t="t" r="r" b="b"/>
              <a:pathLst>
                <a:path w="1348" h="2240" extrusionOk="0">
                  <a:moveTo>
                    <a:pt x="464" y="1"/>
                  </a:moveTo>
                  <a:lnTo>
                    <a:pt x="464" y="233"/>
                  </a:lnTo>
                  <a:lnTo>
                    <a:pt x="18" y="233"/>
                  </a:lnTo>
                  <a:lnTo>
                    <a:pt x="18" y="1330"/>
                  </a:lnTo>
                  <a:lnTo>
                    <a:pt x="919" y="1330"/>
                  </a:lnTo>
                  <a:lnTo>
                    <a:pt x="919" y="1580"/>
                  </a:lnTo>
                  <a:lnTo>
                    <a:pt x="0" y="1580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0"/>
                  </a:lnTo>
                  <a:lnTo>
                    <a:pt x="883" y="2240"/>
                  </a:lnTo>
                  <a:lnTo>
                    <a:pt x="883" y="2008"/>
                  </a:lnTo>
                  <a:lnTo>
                    <a:pt x="1338" y="2008"/>
                  </a:lnTo>
                  <a:lnTo>
                    <a:pt x="1338" y="911"/>
                  </a:lnTo>
                  <a:lnTo>
                    <a:pt x="437" y="911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33"/>
                  </a:lnTo>
                  <a:lnTo>
                    <a:pt x="883" y="233"/>
                  </a:lnTo>
                  <a:lnTo>
                    <a:pt x="88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3"/>
            <p:cNvSpPr/>
            <p:nvPr/>
          </p:nvSpPr>
          <p:spPr>
            <a:xfrm>
              <a:off x="1914398" y="3474454"/>
              <a:ext cx="150890" cy="13449"/>
            </a:xfrm>
            <a:custGeom>
              <a:avLst/>
              <a:gdLst/>
              <a:ahLst/>
              <a:cxnLst/>
              <a:rect l="l" t="t" r="r" b="b"/>
              <a:pathLst>
                <a:path w="4712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711" y="420"/>
                  </a:lnTo>
                  <a:lnTo>
                    <a:pt x="47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3"/>
            <p:cNvSpPr/>
            <p:nvPr/>
          </p:nvSpPr>
          <p:spPr>
            <a:xfrm>
              <a:off x="1986096" y="3539011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3"/>
            <p:cNvSpPr/>
            <p:nvPr/>
          </p:nvSpPr>
          <p:spPr>
            <a:xfrm>
              <a:off x="1986096" y="3510447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3"/>
            <p:cNvSpPr/>
            <p:nvPr/>
          </p:nvSpPr>
          <p:spPr>
            <a:xfrm>
              <a:off x="1914398" y="3510447"/>
              <a:ext cx="57448" cy="13449"/>
            </a:xfrm>
            <a:custGeom>
              <a:avLst/>
              <a:gdLst/>
              <a:ahLst/>
              <a:cxnLst/>
              <a:rect l="l" t="t" r="r" b="b"/>
              <a:pathLst>
                <a:path w="1794" h="420" extrusionOk="0">
                  <a:moveTo>
                    <a:pt x="1" y="1"/>
                  </a:moveTo>
                  <a:lnTo>
                    <a:pt x="1" y="420"/>
                  </a:lnTo>
                  <a:lnTo>
                    <a:pt x="1794" y="420"/>
                  </a:lnTo>
                  <a:lnTo>
                    <a:pt x="17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3"/>
            <p:cNvSpPr/>
            <p:nvPr/>
          </p:nvSpPr>
          <p:spPr>
            <a:xfrm>
              <a:off x="1914398" y="3539011"/>
              <a:ext cx="57448" cy="13481"/>
            </a:xfrm>
            <a:custGeom>
              <a:avLst/>
              <a:gdLst/>
              <a:ahLst/>
              <a:cxnLst/>
              <a:rect l="l" t="t" r="r" b="b"/>
              <a:pathLst>
                <a:path w="1794" h="421" extrusionOk="0">
                  <a:moveTo>
                    <a:pt x="1" y="1"/>
                  </a:moveTo>
                  <a:lnTo>
                    <a:pt x="1" y="420"/>
                  </a:lnTo>
                  <a:lnTo>
                    <a:pt x="1794" y="420"/>
                  </a:lnTo>
                  <a:lnTo>
                    <a:pt x="17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3"/>
            <p:cNvSpPr/>
            <p:nvPr/>
          </p:nvSpPr>
          <p:spPr>
            <a:xfrm>
              <a:off x="1986096" y="3567863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3"/>
            <p:cNvSpPr/>
            <p:nvPr/>
          </p:nvSpPr>
          <p:spPr>
            <a:xfrm>
              <a:off x="1914398" y="3567863"/>
              <a:ext cx="57448" cy="13481"/>
            </a:xfrm>
            <a:custGeom>
              <a:avLst/>
              <a:gdLst/>
              <a:ahLst/>
              <a:cxnLst/>
              <a:rect l="l" t="t" r="r" b="b"/>
              <a:pathLst>
                <a:path w="1794" h="421" extrusionOk="0">
                  <a:moveTo>
                    <a:pt x="1" y="1"/>
                  </a:moveTo>
                  <a:lnTo>
                    <a:pt x="1" y="420"/>
                  </a:lnTo>
                  <a:lnTo>
                    <a:pt x="1794" y="420"/>
                  </a:lnTo>
                  <a:lnTo>
                    <a:pt x="17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3"/>
            <p:cNvSpPr/>
            <p:nvPr/>
          </p:nvSpPr>
          <p:spPr>
            <a:xfrm>
              <a:off x="1986096" y="359671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3"/>
            <p:cNvSpPr/>
            <p:nvPr/>
          </p:nvSpPr>
          <p:spPr>
            <a:xfrm>
              <a:off x="1914398" y="3596715"/>
              <a:ext cx="57448" cy="13481"/>
            </a:xfrm>
            <a:custGeom>
              <a:avLst/>
              <a:gdLst/>
              <a:ahLst/>
              <a:cxnLst/>
              <a:rect l="l" t="t" r="r" b="b"/>
              <a:pathLst>
                <a:path w="1794" h="421" extrusionOk="0">
                  <a:moveTo>
                    <a:pt x="1" y="1"/>
                  </a:moveTo>
                  <a:lnTo>
                    <a:pt x="1" y="420"/>
                  </a:lnTo>
                  <a:lnTo>
                    <a:pt x="1794" y="420"/>
                  </a:lnTo>
                  <a:lnTo>
                    <a:pt x="17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3"/>
            <p:cNvSpPr/>
            <p:nvPr/>
          </p:nvSpPr>
          <p:spPr>
            <a:xfrm>
              <a:off x="1914398" y="3380756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1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3"/>
            <p:cNvSpPr/>
            <p:nvPr/>
          </p:nvSpPr>
          <p:spPr>
            <a:xfrm>
              <a:off x="1914398" y="3409608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3"/>
            <p:cNvSpPr/>
            <p:nvPr/>
          </p:nvSpPr>
          <p:spPr>
            <a:xfrm>
              <a:off x="1828129" y="3380756"/>
              <a:ext cx="71730" cy="13738"/>
            </a:xfrm>
            <a:custGeom>
              <a:avLst/>
              <a:gdLst/>
              <a:ahLst/>
              <a:cxnLst/>
              <a:rect l="l" t="t" r="r" b="b"/>
              <a:pathLst>
                <a:path w="2240" h="429" extrusionOk="0">
                  <a:moveTo>
                    <a:pt x="1" y="1"/>
                  </a:moveTo>
                  <a:lnTo>
                    <a:pt x="1" y="429"/>
                  </a:lnTo>
                  <a:lnTo>
                    <a:pt x="2240" y="429"/>
                  </a:lnTo>
                  <a:lnTo>
                    <a:pt x="22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3"/>
            <p:cNvSpPr/>
            <p:nvPr/>
          </p:nvSpPr>
          <p:spPr>
            <a:xfrm>
              <a:off x="1828129" y="3409608"/>
              <a:ext cx="71730" cy="13449"/>
            </a:xfrm>
            <a:custGeom>
              <a:avLst/>
              <a:gdLst/>
              <a:ahLst/>
              <a:cxnLst/>
              <a:rect l="l" t="t" r="r" b="b"/>
              <a:pathLst>
                <a:path w="2240" h="420" extrusionOk="0">
                  <a:moveTo>
                    <a:pt x="1" y="1"/>
                  </a:moveTo>
                  <a:lnTo>
                    <a:pt x="1" y="420"/>
                  </a:lnTo>
                  <a:lnTo>
                    <a:pt x="2240" y="420"/>
                  </a:lnTo>
                  <a:lnTo>
                    <a:pt x="22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3"/>
            <p:cNvSpPr/>
            <p:nvPr/>
          </p:nvSpPr>
          <p:spPr>
            <a:xfrm>
              <a:off x="1828129" y="3352192"/>
              <a:ext cx="150858" cy="13449"/>
            </a:xfrm>
            <a:custGeom>
              <a:avLst/>
              <a:gdLst/>
              <a:ahLst/>
              <a:cxnLst/>
              <a:rect l="l" t="t" r="r" b="b"/>
              <a:pathLst>
                <a:path w="4711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711" y="420"/>
                  </a:lnTo>
                  <a:lnTo>
                    <a:pt x="47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3"/>
            <p:cNvSpPr/>
            <p:nvPr/>
          </p:nvSpPr>
          <p:spPr>
            <a:xfrm>
              <a:off x="1721879" y="3581857"/>
              <a:ext cx="140291" cy="186883"/>
            </a:xfrm>
            <a:custGeom>
              <a:avLst/>
              <a:gdLst/>
              <a:ahLst/>
              <a:cxnLst/>
              <a:rect l="l" t="t" r="r" b="b"/>
              <a:pathLst>
                <a:path w="4381" h="5836" extrusionOk="0">
                  <a:moveTo>
                    <a:pt x="0" y="1"/>
                  </a:moveTo>
                  <a:lnTo>
                    <a:pt x="0" y="5835"/>
                  </a:lnTo>
                  <a:lnTo>
                    <a:pt x="4380" y="5835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3"/>
            <p:cNvSpPr/>
            <p:nvPr/>
          </p:nvSpPr>
          <p:spPr>
            <a:xfrm>
              <a:off x="1749290" y="3610997"/>
              <a:ext cx="85436" cy="42334"/>
            </a:xfrm>
            <a:custGeom>
              <a:avLst/>
              <a:gdLst/>
              <a:ahLst/>
              <a:cxnLst/>
              <a:rect l="l" t="t" r="r" b="b"/>
              <a:pathLst>
                <a:path w="2668" h="1322" extrusionOk="0">
                  <a:moveTo>
                    <a:pt x="2249" y="420"/>
                  </a:moveTo>
                  <a:lnTo>
                    <a:pt x="2249" y="902"/>
                  </a:lnTo>
                  <a:lnTo>
                    <a:pt x="420" y="902"/>
                  </a:lnTo>
                  <a:lnTo>
                    <a:pt x="420" y="420"/>
                  </a:lnTo>
                  <a:close/>
                  <a:moveTo>
                    <a:pt x="0" y="1"/>
                  </a:moveTo>
                  <a:lnTo>
                    <a:pt x="0" y="1321"/>
                  </a:lnTo>
                  <a:lnTo>
                    <a:pt x="2668" y="1321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3"/>
            <p:cNvSpPr/>
            <p:nvPr/>
          </p:nvSpPr>
          <p:spPr>
            <a:xfrm>
              <a:off x="1749002" y="3697266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3"/>
            <p:cNvSpPr/>
            <p:nvPr/>
          </p:nvSpPr>
          <p:spPr>
            <a:xfrm>
              <a:off x="1749002" y="3668414"/>
              <a:ext cx="14314" cy="13770"/>
            </a:xfrm>
            <a:custGeom>
              <a:avLst/>
              <a:gdLst/>
              <a:ahLst/>
              <a:cxnLst/>
              <a:rect l="l" t="t" r="r" b="b"/>
              <a:pathLst>
                <a:path w="447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3"/>
            <p:cNvSpPr/>
            <p:nvPr/>
          </p:nvSpPr>
          <p:spPr>
            <a:xfrm>
              <a:off x="1784707" y="3697266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3"/>
            <p:cNvSpPr/>
            <p:nvPr/>
          </p:nvSpPr>
          <p:spPr>
            <a:xfrm>
              <a:off x="1784707" y="3668414"/>
              <a:ext cx="14602" cy="13770"/>
            </a:xfrm>
            <a:custGeom>
              <a:avLst/>
              <a:gdLst/>
              <a:ahLst/>
              <a:cxnLst/>
              <a:rect l="l" t="t" r="r" b="b"/>
              <a:pathLst>
                <a:path w="456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56" y="429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3"/>
            <p:cNvSpPr/>
            <p:nvPr/>
          </p:nvSpPr>
          <p:spPr>
            <a:xfrm>
              <a:off x="1820700" y="3697266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3"/>
            <p:cNvSpPr/>
            <p:nvPr/>
          </p:nvSpPr>
          <p:spPr>
            <a:xfrm>
              <a:off x="1749002" y="372615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3"/>
            <p:cNvSpPr/>
            <p:nvPr/>
          </p:nvSpPr>
          <p:spPr>
            <a:xfrm>
              <a:off x="1784707" y="3726150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56" y="419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3"/>
            <p:cNvSpPr/>
            <p:nvPr/>
          </p:nvSpPr>
          <p:spPr>
            <a:xfrm>
              <a:off x="1820700" y="3726150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56" y="419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3"/>
            <p:cNvSpPr/>
            <p:nvPr/>
          </p:nvSpPr>
          <p:spPr>
            <a:xfrm>
              <a:off x="1820700" y="3668414"/>
              <a:ext cx="14602" cy="13770"/>
            </a:xfrm>
            <a:custGeom>
              <a:avLst/>
              <a:gdLst/>
              <a:ahLst/>
              <a:cxnLst/>
              <a:rect l="l" t="t" r="r" b="b"/>
              <a:pathLst>
                <a:path w="456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56" y="429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43"/>
          <p:cNvGrpSpPr/>
          <p:nvPr/>
        </p:nvGrpSpPr>
        <p:grpSpPr>
          <a:xfrm>
            <a:off x="4262042" y="1762796"/>
            <a:ext cx="619912" cy="691271"/>
            <a:chOff x="4859411" y="3309057"/>
            <a:chExt cx="412258" cy="459683"/>
          </a:xfrm>
        </p:grpSpPr>
        <p:sp>
          <p:nvSpPr>
            <p:cNvPr id="404" name="Google Shape;404;p43"/>
            <p:cNvSpPr/>
            <p:nvPr/>
          </p:nvSpPr>
          <p:spPr>
            <a:xfrm>
              <a:off x="4986541" y="3510447"/>
              <a:ext cx="28596" cy="28596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3"/>
            <p:cNvSpPr/>
            <p:nvPr/>
          </p:nvSpPr>
          <p:spPr>
            <a:xfrm>
              <a:off x="5115943" y="3510447"/>
              <a:ext cx="28628" cy="28596"/>
            </a:xfrm>
            <a:custGeom>
              <a:avLst/>
              <a:gdLst/>
              <a:ahLst/>
              <a:cxnLst/>
              <a:rect l="l" t="t" r="r" b="b"/>
              <a:pathLst>
                <a:path w="894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3"/>
            <p:cNvSpPr/>
            <p:nvPr/>
          </p:nvSpPr>
          <p:spPr>
            <a:xfrm>
              <a:off x="5051098" y="3510447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3"/>
            <p:cNvSpPr/>
            <p:nvPr/>
          </p:nvSpPr>
          <p:spPr>
            <a:xfrm>
              <a:off x="5051098" y="3575004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3"/>
            <p:cNvSpPr/>
            <p:nvPr/>
          </p:nvSpPr>
          <p:spPr>
            <a:xfrm>
              <a:off x="5051098" y="3639850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3"/>
            <p:cNvSpPr/>
            <p:nvPr/>
          </p:nvSpPr>
          <p:spPr>
            <a:xfrm>
              <a:off x="4986541" y="3510447"/>
              <a:ext cx="28596" cy="28596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3"/>
            <p:cNvSpPr/>
            <p:nvPr/>
          </p:nvSpPr>
          <p:spPr>
            <a:xfrm>
              <a:off x="5115943" y="3510447"/>
              <a:ext cx="28628" cy="28596"/>
            </a:xfrm>
            <a:custGeom>
              <a:avLst/>
              <a:gdLst/>
              <a:ahLst/>
              <a:cxnLst/>
              <a:rect l="l" t="t" r="r" b="b"/>
              <a:pathLst>
                <a:path w="894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3"/>
            <p:cNvSpPr/>
            <p:nvPr/>
          </p:nvSpPr>
          <p:spPr>
            <a:xfrm>
              <a:off x="5051098" y="3510447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3"/>
            <p:cNvSpPr/>
            <p:nvPr/>
          </p:nvSpPr>
          <p:spPr>
            <a:xfrm>
              <a:off x="5051098" y="3575004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3"/>
            <p:cNvSpPr/>
            <p:nvPr/>
          </p:nvSpPr>
          <p:spPr>
            <a:xfrm>
              <a:off x="5051098" y="3639850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3"/>
            <p:cNvSpPr/>
            <p:nvPr/>
          </p:nvSpPr>
          <p:spPr>
            <a:xfrm>
              <a:off x="5051098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1" y="1"/>
                  </a:moveTo>
                  <a:lnTo>
                    <a:pt x="1" y="1348"/>
                  </a:lnTo>
                  <a:lnTo>
                    <a:pt x="902" y="1348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3"/>
            <p:cNvSpPr/>
            <p:nvPr/>
          </p:nvSpPr>
          <p:spPr>
            <a:xfrm>
              <a:off x="5144540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3"/>
            <p:cNvSpPr/>
            <p:nvPr/>
          </p:nvSpPr>
          <p:spPr>
            <a:xfrm>
              <a:off x="5144540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3"/>
            <p:cNvSpPr/>
            <p:nvPr/>
          </p:nvSpPr>
          <p:spPr>
            <a:xfrm>
              <a:off x="5144540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3"/>
            <p:cNvSpPr/>
            <p:nvPr/>
          </p:nvSpPr>
          <p:spPr>
            <a:xfrm>
              <a:off x="5144540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3"/>
            <p:cNvSpPr/>
            <p:nvPr/>
          </p:nvSpPr>
          <p:spPr>
            <a:xfrm>
              <a:off x="520224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3"/>
            <p:cNvSpPr/>
            <p:nvPr/>
          </p:nvSpPr>
          <p:spPr>
            <a:xfrm>
              <a:off x="520224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3"/>
            <p:cNvSpPr/>
            <p:nvPr/>
          </p:nvSpPr>
          <p:spPr>
            <a:xfrm>
              <a:off x="520224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3"/>
            <p:cNvSpPr/>
            <p:nvPr/>
          </p:nvSpPr>
          <p:spPr>
            <a:xfrm>
              <a:off x="520224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3"/>
            <p:cNvSpPr/>
            <p:nvPr/>
          </p:nvSpPr>
          <p:spPr>
            <a:xfrm>
              <a:off x="5173392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0" y="1"/>
                  </a:moveTo>
                  <a:lnTo>
                    <a:pt x="0" y="1348"/>
                  </a:lnTo>
                  <a:lnTo>
                    <a:pt x="901" y="1348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3"/>
            <p:cNvSpPr/>
            <p:nvPr/>
          </p:nvSpPr>
          <p:spPr>
            <a:xfrm>
              <a:off x="489998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3"/>
            <p:cNvSpPr/>
            <p:nvPr/>
          </p:nvSpPr>
          <p:spPr>
            <a:xfrm>
              <a:off x="489998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3"/>
            <p:cNvSpPr/>
            <p:nvPr/>
          </p:nvSpPr>
          <p:spPr>
            <a:xfrm>
              <a:off x="489998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3"/>
            <p:cNvSpPr/>
            <p:nvPr/>
          </p:nvSpPr>
          <p:spPr>
            <a:xfrm>
              <a:off x="489998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3"/>
            <p:cNvSpPr/>
            <p:nvPr/>
          </p:nvSpPr>
          <p:spPr>
            <a:xfrm>
              <a:off x="4957688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3"/>
            <p:cNvSpPr/>
            <p:nvPr/>
          </p:nvSpPr>
          <p:spPr>
            <a:xfrm>
              <a:off x="4957688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3"/>
            <p:cNvSpPr/>
            <p:nvPr/>
          </p:nvSpPr>
          <p:spPr>
            <a:xfrm>
              <a:off x="4957688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3"/>
            <p:cNvSpPr/>
            <p:nvPr/>
          </p:nvSpPr>
          <p:spPr>
            <a:xfrm>
              <a:off x="4957688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3"/>
            <p:cNvSpPr/>
            <p:nvPr/>
          </p:nvSpPr>
          <p:spPr>
            <a:xfrm>
              <a:off x="4928836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1" y="1"/>
                  </a:moveTo>
                  <a:lnTo>
                    <a:pt x="1" y="1348"/>
                  </a:lnTo>
                  <a:lnTo>
                    <a:pt x="902" y="1348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3"/>
            <p:cNvSpPr/>
            <p:nvPr/>
          </p:nvSpPr>
          <p:spPr>
            <a:xfrm>
              <a:off x="4864567" y="3388473"/>
              <a:ext cx="401978" cy="380267"/>
            </a:xfrm>
            <a:custGeom>
              <a:avLst/>
              <a:gdLst/>
              <a:ahLst/>
              <a:cxnLst/>
              <a:rect l="l" t="t" r="r" b="b"/>
              <a:pathLst>
                <a:path w="12553" h="11875" extrusionOk="0">
                  <a:moveTo>
                    <a:pt x="5603" y="420"/>
                  </a:moveTo>
                  <a:cubicBezTo>
                    <a:pt x="5862" y="420"/>
                    <a:pt x="6067" y="634"/>
                    <a:pt x="6067" y="884"/>
                  </a:cubicBezTo>
                  <a:lnTo>
                    <a:pt x="6067" y="1124"/>
                  </a:lnTo>
                  <a:lnTo>
                    <a:pt x="5157" y="1124"/>
                  </a:lnTo>
                  <a:cubicBezTo>
                    <a:pt x="4898" y="1124"/>
                    <a:pt x="4693" y="919"/>
                    <a:pt x="4693" y="661"/>
                  </a:cubicBezTo>
                  <a:lnTo>
                    <a:pt x="4693" y="420"/>
                  </a:lnTo>
                  <a:close/>
                  <a:moveTo>
                    <a:pt x="7860" y="420"/>
                  </a:moveTo>
                  <a:lnTo>
                    <a:pt x="7860" y="661"/>
                  </a:lnTo>
                  <a:cubicBezTo>
                    <a:pt x="7860" y="919"/>
                    <a:pt x="7655" y="1124"/>
                    <a:pt x="7396" y="1124"/>
                  </a:cubicBezTo>
                  <a:lnTo>
                    <a:pt x="6486" y="1124"/>
                  </a:lnTo>
                  <a:lnTo>
                    <a:pt x="6486" y="884"/>
                  </a:lnTo>
                  <a:cubicBezTo>
                    <a:pt x="6486" y="634"/>
                    <a:pt x="6691" y="420"/>
                    <a:pt x="6950" y="420"/>
                  </a:cubicBezTo>
                  <a:close/>
                  <a:moveTo>
                    <a:pt x="4497" y="6040"/>
                  </a:moveTo>
                  <a:lnTo>
                    <a:pt x="4497" y="11455"/>
                  </a:lnTo>
                  <a:lnTo>
                    <a:pt x="420" y="11455"/>
                  </a:lnTo>
                  <a:lnTo>
                    <a:pt x="420" y="6040"/>
                  </a:lnTo>
                  <a:close/>
                  <a:moveTo>
                    <a:pt x="9662" y="2891"/>
                  </a:moveTo>
                  <a:lnTo>
                    <a:pt x="9662" y="5621"/>
                  </a:lnTo>
                  <a:lnTo>
                    <a:pt x="7637" y="5621"/>
                  </a:lnTo>
                  <a:lnTo>
                    <a:pt x="7637" y="11455"/>
                  </a:lnTo>
                  <a:lnTo>
                    <a:pt x="4916" y="11455"/>
                  </a:lnTo>
                  <a:lnTo>
                    <a:pt x="4916" y="5621"/>
                  </a:lnTo>
                  <a:lnTo>
                    <a:pt x="2891" y="5621"/>
                  </a:lnTo>
                  <a:lnTo>
                    <a:pt x="2891" y="2891"/>
                  </a:lnTo>
                  <a:close/>
                  <a:moveTo>
                    <a:pt x="12133" y="6040"/>
                  </a:moveTo>
                  <a:lnTo>
                    <a:pt x="12133" y="11455"/>
                  </a:lnTo>
                  <a:lnTo>
                    <a:pt x="8056" y="11455"/>
                  </a:lnTo>
                  <a:lnTo>
                    <a:pt x="8056" y="6040"/>
                  </a:lnTo>
                  <a:close/>
                  <a:moveTo>
                    <a:pt x="4274" y="0"/>
                  </a:moveTo>
                  <a:lnTo>
                    <a:pt x="4274" y="661"/>
                  </a:lnTo>
                  <a:cubicBezTo>
                    <a:pt x="4274" y="1151"/>
                    <a:pt x="4666" y="1544"/>
                    <a:pt x="5157" y="1544"/>
                  </a:cubicBezTo>
                  <a:lnTo>
                    <a:pt x="6067" y="1544"/>
                  </a:lnTo>
                  <a:lnTo>
                    <a:pt x="6067" y="2472"/>
                  </a:lnTo>
                  <a:lnTo>
                    <a:pt x="2472" y="2472"/>
                  </a:lnTo>
                  <a:lnTo>
                    <a:pt x="2472" y="5621"/>
                  </a:lnTo>
                  <a:lnTo>
                    <a:pt x="0" y="5621"/>
                  </a:lnTo>
                  <a:lnTo>
                    <a:pt x="0" y="11874"/>
                  </a:lnTo>
                  <a:lnTo>
                    <a:pt x="12552" y="11874"/>
                  </a:lnTo>
                  <a:lnTo>
                    <a:pt x="12552" y="5621"/>
                  </a:lnTo>
                  <a:lnTo>
                    <a:pt x="10081" y="5621"/>
                  </a:lnTo>
                  <a:lnTo>
                    <a:pt x="10081" y="2472"/>
                  </a:lnTo>
                  <a:lnTo>
                    <a:pt x="6486" y="2472"/>
                  </a:lnTo>
                  <a:lnTo>
                    <a:pt x="6486" y="1544"/>
                  </a:lnTo>
                  <a:lnTo>
                    <a:pt x="7396" y="1544"/>
                  </a:lnTo>
                  <a:cubicBezTo>
                    <a:pt x="7887" y="1544"/>
                    <a:pt x="8288" y="1151"/>
                    <a:pt x="8288" y="661"/>
                  </a:cubicBezTo>
                  <a:lnTo>
                    <a:pt x="8288" y="0"/>
                  </a:lnTo>
                  <a:lnTo>
                    <a:pt x="6950" y="0"/>
                  </a:lnTo>
                  <a:cubicBezTo>
                    <a:pt x="6682" y="0"/>
                    <a:pt x="6441" y="125"/>
                    <a:pt x="6281" y="313"/>
                  </a:cubicBezTo>
                  <a:cubicBezTo>
                    <a:pt x="6111" y="125"/>
                    <a:pt x="5870" y="0"/>
                    <a:pt x="56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3"/>
            <p:cNvSpPr/>
            <p:nvPr/>
          </p:nvSpPr>
          <p:spPr>
            <a:xfrm>
              <a:off x="4892843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3"/>
            <p:cNvSpPr/>
            <p:nvPr/>
          </p:nvSpPr>
          <p:spPr>
            <a:xfrm>
              <a:off x="4979111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3"/>
            <p:cNvSpPr/>
            <p:nvPr/>
          </p:nvSpPr>
          <p:spPr>
            <a:xfrm>
              <a:off x="5137399" y="3712124"/>
              <a:ext cx="14570" cy="13481"/>
            </a:xfrm>
            <a:custGeom>
              <a:avLst/>
              <a:gdLst/>
              <a:ahLst/>
              <a:cxnLst/>
              <a:rect l="l" t="t" r="r" b="b"/>
              <a:pathLst>
                <a:path w="455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3"/>
            <p:cNvSpPr/>
            <p:nvPr/>
          </p:nvSpPr>
          <p:spPr>
            <a:xfrm>
              <a:off x="5223667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3"/>
            <p:cNvSpPr/>
            <p:nvPr/>
          </p:nvSpPr>
          <p:spPr>
            <a:xfrm>
              <a:off x="4886278" y="353901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1"/>
                  </a:moveTo>
                  <a:lnTo>
                    <a:pt x="0" y="456"/>
                  </a:lnTo>
                  <a:lnTo>
                    <a:pt x="420" y="456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3"/>
            <p:cNvSpPr/>
            <p:nvPr/>
          </p:nvSpPr>
          <p:spPr>
            <a:xfrm>
              <a:off x="4886278" y="351044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20" y="447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3"/>
            <p:cNvSpPr/>
            <p:nvPr/>
          </p:nvSpPr>
          <p:spPr>
            <a:xfrm>
              <a:off x="5043957" y="3309057"/>
              <a:ext cx="43166" cy="71730"/>
            </a:xfrm>
            <a:custGeom>
              <a:avLst/>
              <a:gdLst/>
              <a:ahLst/>
              <a:cxnLst/>
              <a:rect l="l" t="t" r="r" b="b"/>
              <a:pathLst>
                <a:path w="1348" h="2240" extrusionOk="0">
                  <a:moveTo>
                    <a:pt x="465" y="0"/>
                  </a:moveTo>
                  <a:lnTo>
                    <a:pt x="465" y="232"/>
                  </a:lnTo>
                  <a:lnTo>
                    <a:pt x="19" y="232"/>
                  </a:lnTo>
                  <a:lnTo>
                    <a:pt x="19" y="1330"/>
                  </a:lnTo>
                  <a:lnTo>
                    <a:pt x="911" y="1330"/>
                  </a:lnTo>
                  <a:lnTo>
                    <a:pt x="911" y="1579"/>
                  </a:lnTo>
                  <a:lnTo>
                    <a:pt x="1" y="1579"/>
                  </a:lnTo>
                  <a:lnTo>
                    <a:pt x="1" y="2008"/>
                  </a:lnTo>
                  <a:lnTo>
                    <a:pt x="465" y="2008"/>
                  </a:lnTo>
                  <a:lnTo>
                    <a:pt x="465" y="2240"/>
                  </a:lnTo>
                  <a:lnTo>
                    <a:pt x="884" y="2240"/>
                  </a:lnTo>
                  <a:lnTo>
                    <a:pt x="884" y="2008"/>
                  </a:lnTo>
                  <a:lnTo>
                    <a:pt x="1339" y="2008"/>
                  </a:lnTo>
                  <a:lnTo>
                    <a:pt x="1339" y="910"/>
                  </a:lnTo>
                  <a:lnTo>
                    <a:pt x="438" y="910"/>
                  </a:lnTo>
                  <a:lnTo>
                    <a:pt x="438" y="661"/>
                  </a:lnTo>
                  <a:lnTo>
                    <a:pt x="1348" y="661"/>
                  </a:lnTo>
                  <a:lnTo>
                    <a:pt x="1348" y="232"/>
                  </a:lnTo>
                  <a:lnTo>
                    <a:pt x="884" y="232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3"/>
            <p:cNvSpPr/>
            <p:nvPr/>
          </p:nvSpPr>
          <p:spPr>
            <a:xfrm>
              <a:off x="4859411" y="3407334"/>
              <a:ext cx="67183" cy="88574"/>
            </a:xfrm>
            <a:custGeom>
              <a:avLst/>
              <a:gdLst/>
              <a:ahLst/>
              <a:cxnLst/>
              <a:rect l="l" t="t" r="r" b="b"/>
              <a:pathLst>
                <a:path w="2098" h="2766" extrusionOk="0">
                  <a:moveTo>
                    <a:pt x="1045" y="0"/>
                  </a:moveTo>
                  <a:lnTo>
                    <a:pt x="1" y="1044"/>
                  </a:lnTo>
                  <a:lnTo>
                    <a:pt x="295" y="1347"/>
                  </a:lnTo>
                  <a:lnTo>
                    <a:pt x="839" y="803"/>
                  </a:lnTo>
                  <a:lnTo>
                    <a:pt x="839" y="2766"/>
                  </a:lnTo>
                  <a:lnTo>
                    <a:pt x="1259" y="2766"/>
                  </a:lnTo>
                  <a:lnTo>
                    <a:pt x="1259" y="803"/>
                  </a:lnTo>
                  <a:lnTo>
                    <a:pt x="1794" y="1347"/>
                  </a:lnTo>
                  <a:lnTo>
                    <a:pt x="2097" y="1044"/>
                  </a:lnTo>
                  <a:lnTo>
                    <a:pt x="10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3"/>
            <p:cNvSpPr/>
            <p:nvPr/>
          </p:nvSpPr>
          <p:spPr>
            <a:xfrm>
              <a:off x="5204518" y="3400193"/>
              <a:ext cx="67151" cy="88574"/>
            </a:xfrm>
            <a:custGeom>
              <a:avLst/>
              <a:gdLst/>
              <a:ahLst/>
              <a:cxnLst/>
              <a:rect l="l" t="t" r="r" b="b"/>
              <a:pathLst>
                <a:path w="2097" h="2766" extrusionOk="0">
                  <a:moveTo>
                    <a:pt x="1053" y="0"/>
                  </a:moveTo>
                  <a:lnTo>
                    <a:pt x="0" y="1044"/>
                  </a:lnTo>
                  <a:lnTo>
                    <a:pt x="304" y="1338"/>
                  </a:lnTo>
                  <a:lnTo>
                    <a:pt x="839" y="803"/>
                  </a:lnTo>
                  <a:lnTo>
                    <a:pt x="839" y="2766"/>
                  </a:lnTo>
                  <a:lnTo>
                    <a:pt x="1258" y="2766"/>
                  </a:lnTo>
                  <a:lnTo>
                    <a:pt x="1258" y="803"/>
                  </a:lnTo>
                  <a:lnTo>
                    <a:pt x="1803" y="1338"/>
                  </a:lnTo>
                  <a:lnTo>
                    <a:pt x="2097" y="1044"/>
                  </a:lnTo>
                  <a:lnTo>
                    <a:pt x="10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3"/>
            <p:cNvSpPr/>
            <p:nvPr/>
          </p:nvSpPr>
          <p:spPr>
            <a:xfrm>
              <a:off x="5231385" y="353901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1"/>
                  </a:moveTo>
                  <a:lnTo>
                    <a:pt x="0" y="456"/>
                  </a:lnTo>
                  <a:lnTo>
                    <a:pt x="419" y="456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3"/>
            <p:cNvSpPr/>
            <p:nvPr/>
          </p:nvSpPr>
          <p:spPr>
            <a:xfrm>
              <a:off x="5231385" y="351044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19" y="447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E1B33CB-A11B-EC4E-E52D-B4C921C750A7}"/>
              </a:ext>
            </a:extLst>
          </p:cNvPr>
          <p:cNvSpPr txBox="1"/>
          <p:nvPr/>
        </p:nvSpPr>
        <p:spPr>
          <a:xfrm>
            <a:off x="7957901" y="4644939"/>
            <a:ext cx="12357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Potanin et al. (2023)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FE3BD-A617-5D0F-A624-5EB9958D5B65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1"/>
          <p:cNvSpPr/>
          <p:nvPr/>
        </p:nvSpPr>
        <p:spPr>
          <a:xfrm rot="-5400000">
            <a:off x="7294050" y="-274125"/>
            <a:ext cx="1036800" cy="2663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1" name="Google Shape;741;p51"/>
          <p:cNvGrpSpPr/>
          <p:nvPr/>
        </p:nvGrpSpPr>
        <p:grpSpPr>
          <a:xfrm rot="10800000">
            <a:off x="8130618" y="1026948"/>
            <a:ext cx="596846" cy="1138961"/>
            <a:chOff x="8632600" y="4089800"/>
            <a:chExt cx="271800" cy="518700"/>
          </a:xfrm>
        </p:grpSpPr>
        <p:sp>
          <p:nvSpPr>
            <p:cNvPr id="742" name="Google Shape;742;p51"/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51"/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4" name="Google Shape;744;p51"/>
          <p:cNvSpPr txBox="1">
            <a:spLocks noGrp="1"/>
          </p:cNvSpPr>
          <p:nvPr>
            <p:ph type="title"/>
          </p:nvPr>
        </p:nvSpPr>
        <p:spPr>
          <a:xfrm>
            <a:off x="828591" y="3574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cleaning &amp; </a:t>
            </a:r>
            <a:br>
              <a:rPr lang="en" dirty="0"/>
            </a:br>
            <a:r>
              <a:rPr lang="en" dirty="0">
                <a:highlight>
                  <a:schemeClr val="dk2"/>
                </a:highlight>
              </a:rPr>
              <a:t>Preprocessing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745" name="Google Shape;745;p51"/>
          <p:cNvSpPr/>
          <p:nvPr/>
        </p:nvSpPr>
        <p:spPr>
          <a:xfrm>
            <a:off x="321713" y="2091636"/>
            <a:ext cx="928200" cy="946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51"/>
          <p:cNvSpPr/>
          <p:nvPr/>
        </p:nvSpPr>
        <p:spPr>
          <a:xfrm>
            <a:off x="2049510" y="2091636"/>
            <a:ext cx="928200" cy="946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7" name="Google Shape;747;p51"/>
          <p:cNvSpPr/>
          <p:nvPr/>
        </p:nvSpPr>
        <p:spPr>
          <a:xfrm>
            <a:off x="3962136" y="2162644"/>
            <a:ext cx="928200" cy="946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8" name="Google Shape;748;p51"/>
          <p:cNvSpPr/>
          <p:nvPr/>
        </p:nvSpPr>
        <p:spPr>
          <a:xfrm>
            <a:off x="5727930" y="2154614"/>
            <a:ext cx="928200" cy="946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749" name="Google Shape;749;p51"/>
          <p:cNvCxnSpPr>
            <a:stCxn id="745" idx="0"/>
            <a:endCxn id="746" idx="2"/>
          </p:cNvCxnSpPr>
          <p:nvPr/>
        </p:nvCxnSpPr>
        <p:spPr>
          <a:xfrm>
            <a:off x="1249913" y="2564736"/>
            <a:ext cx="799597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750" name="Google Shape;750;p51"/>
          <p:cNvCxnSpPr>
            <a:cxnSpLocks/>
            <a:endCxn id="747" idx="2"/>
          </p:cNvCxnSpPr>
          <p:nvPr/>
        </p:nvCxnSpPr>
        <p:spPr>
          <a:xfrm>
            <a:off x="2977710" y="2620190"/>
            <a:ext cx="984426" cy="1555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751" name="Google Shape;751;p51"/>
          <p:cNvCxnSpPr>
            <a:stCxn id="747" idx="0"/>
            <a:endCxn id="748" idx="2"/>
          </p:cNvCxnSpPr>
          <p:nvPr/>
        </p:nvCxnSpPr>
        <p:spPr>
          <a:xfrm flipV="1">
            <a:off x="4890336" y="2627714"/>
            <a:ext cx="837594" cy="803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52" name="Google Shape;752;p51"/>
          <p:cNvSpPr txBox="1">
            <a:spLocks noGrp="1"/>
          </p:cNvSpPr>
          <p:nvPr>
            <p:ph type="subTitle" idx="4294967295"/>
          </p:nvPr>
        </p:nvSpPr>
        <p:spPr>
          <a:xfrm>
            <a:off x="-107735" y="4015114"/>
            <a:ext cx="1787095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r>
              <a:rPr lang="en-US" sz="1200"/>
              <a:t>Selected 11 of 49 columns, built binary target</a:t>
            </a:r>
            <a:endParaRPr lang="en-GB" sz="1200" dirty="0"/>
          </a:p>
        </p:txBody>
      </p:sp>
      <p:sp>
        <p:nvSpPr>
          <p:cNvPr id="754" name="Google Shape;754;p51"/>
          <p:cNvSpPr txBox="1">
            <a:spLocks noGrp="1"/>
          </p:cNvSpPr>
          <p:nvPr>
            <p:ph type="subTitle" idx="4294967295"/>
          </p:nvPr>
        </p:nvSpPr>
        <p:spPr>
          <a:xfrm>
            <a:off x="1559118" y="4028967"/>
            <a:ext cx="1908100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r>
              <a:rPr lang="en-GB" sz="1200" dirty="0"/>
              <a:t>Encoded categorical variables</a:t>
            </a:r>
          </a:p>
          <a:p>
            <a:pPr marL="0" indent="0" algn="ctr">
              <a:buNone/>
            </a:pPr>
            <a:r>
              <a:rPr lang="en-GB" sz="1200"/>
              <a:t> (sector, state)</a:t>
            </a:r>
            <a:endParaRPr lang="en-GB" sz="1200" dirty="0"/>
          </a:p>
        </p:txBody>
      </p:sp>
      <p:sp>
        <p:nvSpPr>
          <p:cNvPr id="756" name="Google Shape;756;p51"/>
          <p:cNvSpPr txBox="1">
            <a:spLocks noGrp="1"/>
          </p:cNvSpPr>
          <p:nvPr>
            <p:ph type="subTitle" idx="4294967295"/>
          </p:nvPr>
        </p:nvSpPr>
        <p:spPr>
          <a:xfrm>
            <a:off x="3467218" y="4015114"/>
            <a:ext cx="1953143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/>
              <a:t>Created new features</a:t>
            </a:r>
            <a:r>
              <a:rPr lang="en-GB" sz="1200"/>
              <a:t>: log_funding, age_proxy</a:t>
            </a:r>
            <a:endParaRPr sz="12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758" name="Google Shape;758;p51"/>
          <p:cNvSpPr txBox="1">
            <a:spLocks noGrp="1"/>
          </p:cNvSpPr>
          <p:nvPr>
            <p:ph type="subTitle" idx="4294967295"/>
          </p:nvPr>
        </p:nvSpPr>
        <p:spPr>
          <a:xfrm>
            <a:off x="5465915" y="3997890"/>
            <a:ext cx="1787100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r>
              <a:rPr lang="en-GB" sz="1200"/>
              <a:t>Scaled numeric variables (StandardScaler)</a:t>
            </a:r>
            <a:endParaRPr lang="en-GB" sz="1200" dirty="0"/>
          </a:p>
        </p:txBody>
      </p:sp>
      <p:cxnSp>
        <p:nvCxnSpPr>
          <p:cNvPr id="760" name="Google Shape;760;p51"/>
          <p:cNvCxnSpPr>
            <a:cxnSpLocks/>
            <a:endCxn id="745" idx="1"/>
          </p:cNvCxnSpPr>
          <p:nvPr/>
        </p:nvCxnSpPr>
        <p:spPr>
          <a:xfrm flipV="1">
            <a:off x="785813" y="3037836"/>
            <a:ext cx="0" cy="80646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61" name="Google Shape;761;p51"/>
          <p:cNvCxnSpPr>
            <a:cxnSpLocks/>
          </p:cNvCxnSpPr>
          <p:nvPr/>
        </p:nvCxnSpPr>
        <p:spPr>
          <a:xfrm flipV="1">
            <a:off x="2525195" y="3051690"/>
            <a:ext cx="0" cy="792607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62" name="Google Shape;762;p51"/>
          <p:cNvCxnSpPr>
            <a:cxnSpLocks/>
            <a:endCxn id="747" idx="1"/>
          </p:cNvCxnSpPr>
          <p:nvPr/>
        </p:nvCxnSpPr>
        <p:spPr>
          <a:xfrm flipH="1" flipV="1">
            <a:off x="4426236" y="3108844"/>
            <a:ext cx="8571" cy="792607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63" name="Google Shape;763;p51"/>
          <p:cNvCxnSpPr>
            <a:cxnSpLocks/>
            <a:endCxn id="748" idx="1"/>
          </p:cNvCxnSpPr>
          <p:nvPr/>
        </p:nvCxnSpPr>
        <p:spPr>
          <a:xfrm flipV="1">
            <a:off x="6192030" y="3100814"/>
            <a:ext cx="0" cy="74878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64" name="Google Shape;764;p51"/>
          <p:cNvSpPr/>
          <p:nvPr/>
        </p:nvSpPr>
        <p:spPr>
          <a:xfrm>
            <a:off x="408863" y="2194713"/>
            <a:ext cx="753900" cy="753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1</a:t>
            </a:r>
            <a:endParaRPr sz="4800" dirty="0">
              <a:solidFill>
                <a:schemeClr val="dk2"/>
              </a:solidFill>
            </a:endParaRPr>
          </a:p>
        </p:txBody>
      </p:sp>
      <p:sp>
        <p:nvSpPr>
          <p:cNvPr id="765" name="Google Shape;765;p51"/>
          <p:cNvSpPr/>
          <p:nvPr/>
        </p:nvSpPr>
        <p:spPr>
          <a:xfrm>
            <a:off x="2148245" y="2162644"/>
            <a:ext cx="753900" cy="753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sz="4800" dirty="0">
              <a:solidFill>
                <a:schemeClr val="dk2"/>
              </a:solidFill>
            </a:endParaRPr>
          </a:p>
        </p:txBody>
      </p:sp>
      <p:sp>
        <p:nvSpPr>
          <p:cNvPr id="766" name="Google Shape;766;p51"/>
          <p:cNvSpPr/>
          <p:nvPr/>
        </p:nvSpPr>
        <p:spPr>
          <a:xfrm>
            <a:off x="4072452" y="2249560"/>
            <a:ext cx="724710" cy="753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sz="4800" dirty="0">
              <a:solidFill>
                <a:schemeClr val="dk2"/>
              </a:solidFill>
            </a:endParaRPr>
          </a:p>
        </p:txBody>
      </p:sp>
      <p:sp>
        <p:nvSpPr>
          <p:cNvPr id="767" name="Google Shape;767;p51"/>
          <p:cNvSpPr/>
          <p:nvPr/>
        </p:nvSpPr>
        <p:spPr>
          <a:xfrm>
            <a:off x="5829940" y="2258794"/>
            <a:ext cx="753900" cy="753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4</a:t>
            </a:r>
            <a:endParaRPr sz="4800" dirty="0">
              <a:solidFill>
                <a:schemeClr val="dk2"/>
              </a:solidFill>
            </a:endParaRPr>
          </a:p>
        </p:txBody>
      </p:sp>
      <p:grpSp>
        <p:nvGrpSpPr>
          <p:cNvPr id="768" name="Google Shape;768;p51"/>
          <p:cNvGrpSpPr/>
          <p:nvPr/>
        </p:nvGrpSpPr>
        <p:grpSpPr>
          <a:xfrm flipH="1">
            <a:off x="6284789" y="769624"/>
            <a:ext cx="801684" cy="575612"/>
            <a:chOff x="2486320" y="3373615"/>
            <a:chExt cx="459971" cy="330280"/>
          </a:xfrm>
        </p:grpSpPr>
        <p:sp>
          <p:nvSpPr>
            <p:cNvPr id="769" name="Google Shape;769;p51"/>
            <p:cNvSpPr/>
            <p:nvPr/>
          </p:nvSpPr>
          <p:spPr>
            <a:xfrm>
              <a:off x="2529166" y="3560722"/>
              <a:ext cx="122326" cy="13481"/>
            </a:xfrm>
            <a:custGeom>
              <a:avLst/>
              <a:gdLst/>
              <a:ahLst/>
              <a:cxnLst/>
              <a:rect l="l" t="t" r="r" b="b"/>
              <a:pathLst>
                <a:path w="3820" h="421" extrusionOk="0">
                  <a:moveTo>
                    <a:pt x="1" y="1"/>
                  </a:moveTo>
                  <a:lnTo>
                    <a:pt x="1" y="420"/>
                  </a:lnTo>
                  <a:lnTo>
                    <a:pt x="3819" y="420"/>
                  </a:lnTo>
                  <a:lnTo>
                    <a:pt x="38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51"/>
            <p:cNvSpPr/>
            <p:nvPr/>
          </p:nvSpPr>
          <p:spPr>
            <a:xfrm>
              <a:off x="2557730" y="3402467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51"/>
            <p:cNvSpPr/>
            <p:nvPr/>
          </p:nvSpPr>
          <p:spPr>
            <a:xfrm>
              <a:off x="2586614" y="3402467"/>
              <a:ext cx="14570" cy="13449"/>
            </a:xfrm>
            <a:custGeom>
              <a:avLst/>
              <a:gdLst/>
              <a:ahLst/>
              <a:cxnLst/>
              <a:rect l="l" t="t" r="r" b="b"/>
              <a:pathLst>
                <a:path w="455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51"/>
            <p:cNvSpPr/>
            <p:nvPr/>
          </p:nvSpPr>
          <p:spPr>
            <a:xfrm>
              <a:off x="2529166" y="340246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1"/>
            <p:cNvSpPr/>
            <p:nvPr/>
          </p:nvSpPr>
          <p:spPr>
            <a:xfrm>
              <a:off x="2644319" y="3416461"/>
              <a:ext cx="72019" cy="144005"/>
            </a:xfrm>
            <a:custGeom>
              <a:avLst/>
              <a:gdLst/>
              <a:ahLst/>
              <a:cxnLst/>
              <a:rect l="l" t="t" r="r" b="b"/>
              <a:pathLst>
                <a:path w="2249" h="4497" extrusionOk="0">
                  <a:moveTo>
                    <a:pt x="2248" y="1"/>
                  </a:moveTo>
                  <a:cubicBezTo>
                    <a:pt x="1008" y="1"/>
                    <a:pt x="0" y="1000"/>
                    <a:pt x="0" y="2249"/>
                  </a:cubicBezTo>
                  <a:cubicBezTo>
                    <a:pt x="0" y="3489"/>
                    <a:pt x="1008" y="4497"/>
                    <a:pt x="2248" y="4497"/>
                  </a:cubicBezTo>
                  <a:lnTo>
                    <a:pt x="2248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1"/>
            <p:cNvSpPr/>
            <p:nvPr/>
          </p:nvSpPr>
          <p:spPr>
            <a:xfrm>
              <a:off x="2586614" y="3473877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455" y="1"/>
                  </a:moveTo>
                  <a:cubicBezTo>
                    <a:pt x="205" y="1"/>
                    <a:pt x="0" y="206"/>
                    <a:pt x="0" y="456"/>
                  </a:cubicBezTo>
                  <a:cubicBezTo>
                    <a:pt x="0" y="697"/>
                    <a:pt x="205" y="902"/>
                    <a:pt x="455" y="902"/>
                  </a:cubicBezTo>
                  <a:cubicBezTo>
                    <a:pt x="696" y="902"/>
                    <a:pt x="901" y="697"/>
                    <a:pt x="901" y="456"/>
                  </a:cubicBezTo>
                  <a:cubicBezTo>
                    <a:pt x="901" y="206"/>
                    <a:pt x="696" y="1"/>
                    <a:pt x="455" y="1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1"/>
            <p:cNvSpPr/>
            <p:nvPr/>
          </p:nvSpPr>
          <p:spPr>
            <a:xfrm>
              <a:off x="2860279" y="3459883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0" y="1"/>
                  </a:moveTo>
                  <a:lnTo>
                    <a:pt x="0" y="429"/>
                  </a:lnTo>
                  <a:lnTo>
                    <a:pt x="446" y="429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51"/>
            <p:cNvSpPr/>
            <p:nvPr/>
          </p:nvSpPr>
          <p:spPr>
            <a:xfrm>
              <a:off x="2831426" y="3459883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0" y="1"/>
                  </a:moveTo>
                  <a:lnTo>
                    <a:pt x="0" y="429"/>
                  </a:lnTo>
                  <a:lnTo>
                    <a:pt x="446" y="429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51"/>
            <p:cNvSpPr/>
            <p:nvPr/>
          </p:nvSpPr>
          <p:spPr>
            <a:xfrm>
              <a:off x="2889131" y="3459883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0" y="1"/>
                  </a:moveTo>
                  <a:lnTo>
                    <a:pt x="0" y="429"/>
                  </a:lnTo>
                  <a:lnTo>
                    <a:pt x="446" y="429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51"/>
            <p:cNvSpPr/>
            <p:nvPr/>
          </p:nvSpPr>
          <p:spPr>
            <a:xfrm>
              <a:off x="2486320" y="3373615"/>
              <a:ext cx="459971" cy="330280"/>
            </a:xfrm>
            <a:custGeom>
              <a:avLst/>
              <a:gdLst/>
              <a:ahLst/>
              <a:cxnLst/>
              <a:rect l="l" t="t" r="r" b="b"/>
              <a:pathLst>
                <a:path w="14364" h="10314" extrusionOk="0">
                  <a:moveTo>
                    <a:pt x="8770" y="4916"/>
                  </a:moveTo>
                  <a:lnTo>
                    <a:pt x="8770" y="5844"/>
                  </a:lnTo>
                  <a:lnTo>
                    <a:pt x="8288" y="5844"/>
                  </a:lnTo>
                  <a:lnTo>
                    <a:pt x="8288" y="4916"/>
                  </a:lnTo>
                  <a:close/>
                  <a:moveTo>
                    <a:pt x="9671" y="4916"/>
                  </a:moveTo>
                  <a:lnTo>
                    <a:pt x="9671" y="5844"/>
                  </a:lnTo>
                  <a:lnTo>
                    <a:pt x="9189" y="5844"/>
                  </a:lnTo>
                  <a:lnTo>
                    <a:pt x="9189" y="4916"/>
                  </a:lnTo>
                  <a:close/>
                  <a:moveTo>
                    <a:pt x="10563" y="4916"/>
                  </a:moveTo>
                  <a:lnTo>
                    <a:pt x="10563" y="5844"/>
                  </a:lnTo>
                  <a:lnTo>
                    <a:pt x="10090" y="5844"/>
                  </a:lnTo>
                  <a:lnTo>
                    <a:pt x="10090" y="4916"/>
                  </a:lnTo>
                  <a:close/>
                  <a:moveTo>
                    <a:pt x="11464" y="4916"/>
                  </a:moveTo>
                  <a:lnTo>
                    <a:pt x="11464" y="5844"/>
                  </a:lnTo>
                  <a:lnTo>
                    <a:pt x="10991" y="5844"/>
                  </a:lnTo>
                  <a:lnTo>
                    <a:pt x="10991" y="4916"/>
                  </a:lnTo>
                  <a:close/>
                  <a:moveTo>
                    <a:pt x="12365" y="4916"/>
                  </a:moveTo>
                  <a:lnTo>
                    <a:pt x="12365" y="5844"/>
                  </a:lnTo>
                  <a:lnTo>
                    <a:pt x="11884" y="5844"/>
                  </a:lnTo>
                  <a:lnTo>
                    <a:pt x="11884" y="4916"/>
                  </a:lnTo>
                  <a:close/>
                  <a:moveTo>
                    <a:pt x="6968" y="420"/>
                  </a:moveTo>
                  <a:lnTo>
                    <a:pt x="6968" y="6789"/>
                  </a:lnTo>
                  <a:cubicBezTo>
                    <a:pt x="6897" y="6763"/>
                    <a:pt x="6816" y="6745"/>
                    <a:pt x="6727" y="6745"/>
                  </a:cubicBezTo>
                  <a:lnTo>
                    <a:pt x="420" y="6745"/>
                  </a:lnTo>
                  <a:lnTo>
                    <a:pt x="420" y="420"/>
                  </a:lnTo>
                  <a:close/>
                  <a:moveTo>
                    <a:pt x="9216" y="6263"/>
                  </a:moveTo>
                  <a:lnTo>
                    <a:pt x="9216" y="7191"/>
                  </a:lnTo>
                  <a:lnTo>
                    <a:pt x="8743" y="7191"/>
                  </a:lnTo>
                  <a:lnTo>
                    <a:pt x="8743" y="6263"/>
                  </a:lnTo>
                  <a:close/>
                  <a:moveTo>
                    <a:pt x="10117" y="6263"/>
                  </a:moveTo>
                  <a:lnTo>
                    <a:pt x="10117" y="7191"/>
                  </a:lnTo>
                  <a:lnTo>
                    <a:pt x="9635" y="7191"/>
                  </a:lnTo>
                  <a:lnTo>
                    <a:pt x="9635" y="6263"/>
                  </a:lnTo>
                  <a:close/>
                  <a:moveTo>
                    <a:pt x="11018" y="6263"/>
                  </a:moveTo>
                  <a:lnTo>
                    <a:pt x="11018" y="7191"/>
                  </a:lnTo>
                  <a:lnTo>
                    <a:pt x="10536" y="7191"/>
                  </a:lnTo>
                  <a:lnTo>
                    <a:pt x="10536" y="6263"/>
                  </a:lnTo>
                  <a:close/>
                  <a:moveTo>
                    <a:pt x="11919" y="6263"/>
                  </a:moveTo>
                  <a:lnTo>
                    <a:pt x="11919" y="7191"/>
                  </a:lnTo>
                  <a:lnTo>
                    <a:pt x="11438" y="7191"/>
                  </a:lnTo>
                  <a:lnTo>
                    <a:pt x="11438" y="6263"/>
                  </a:lnTo>
                  <a:close/>
                  <a:moveTo>
                    <a:pt x="12811" y="6263"/>
                  </a:moveTo>
                  <a:lnTo>
                    <a:pt x="12811" y="7191"/>
                  </a:lnTo>
                  <a:lnTo>
                    <a:pt x="12339" y="7191"/>
                  </a:lnTo>
                  <a:lnTo>
                    <a:pt x="12339" y="6263"/>
                  </a:lnTo>
                  <a:close/>
                  <a:moveTo>
                    <a:pt x="6727" y="7164"/>
                  </a:moveTo>
                  <a:cubicBezTo>
                    <a:pt x="6861" y="7164"/>
                    <a:pt x="6968" y="7271"/>
                    <a:pt x="6968" y="7405"/>
                  </a:cubicBezTo>
                  <a:cubicBezTo>
                    <a:pt x="6968" y="7539"/>
                    <a:pt x="6861" y="7646"/>
                    <a:pt x="6727" y="7646"/>
                  </a:cubicBezTo>
                  <a:lnTo>
                    <a:pt x="4711" y="7646"/>
                  </a:lnTo>
                  <a:cubicBezTo>
                    <a:pt x="4622" y="7646"/>
                    <a:pt x="4542" y="7664"/>
                    <a:pt x="4470" y="7690"/>
                  </a:cubicBezTo>
                  <a:lnTo>
                    <a:pt x="4470" y="7164"/>
                  </a:lnTo>
                  <a:close/>
                  <a:moveTo>
                    <a:pt x="9671" y="7619"/>
                  </a:moveTo>
                  <a:lnTo>
                    <a:pt x="9671" y="8547"/>
                  </a:lnTo>
                  <a:lnTo>
                    <a:pt x="9189" y="8547"/>
                  </a:lnTo>
                  <a:lnTo>
                    <a:pt x="9189" y="7619"/>
                  </a:lnTo>
                  <a:close/>
                  <a:moveTo>
                    <a:pt x="10563" y="7619"/>
                  </a:moveTo>
                  <a:lnTo>
                    <a:pt x="10563" y="8547"/>
                  </a:lnTo>
                  <a:lnTo>
                    <a:pt x="10090" y="8547"/>
                  </a:lnTo>
                  <a:lnTo>
                    <a:pt x="10090" y="7619"/>
                  </a:lnTo>
                  <a:close/>
                  <a:moveTo>
                    <a:pt x="11464" y="7619"/>
                  </a:moveTo>
                  <a:lnTo>
                    <a:pt x="11464" y="8547"/>
                  </a:lnTo>
                  <a:lnTo>
                    <a:pt x="10991" y="8547"/>
                  </a:lnTo>
                  <a:lnTo>
                    <a:pt x="10991" y="7619"/>
                  </a:lnTo>
                  <a:close/>
                  <a:moveTo>
                    <a:pt x="12365" y="7619"/>
                  </a:moveTo>
                  <a:lnTo>
                    <a:pt x="12365" y="8547"/>
                  </a:lnTo>
                  <a:lnTo>
                    <a:pt x="11884" y="8547"/>
                  </a:lnTo>
                  <a:lnTo>
                    <a:pt x="11884" y="7619"/>
                  </a:lnTo>
                  <a:close/>
                  <a:moveTo>
                    <a:pt x="13266" y="7619"/>
                  </a:moveTo>
                  <a:lnTo>
                    <a:pt x="13266" y="8547"/>
                  </a:lnTo>
                  <a:lnTo>
                    <a:pt x="12785" y="8547"/>
                  </a:lnTo>
                  <a:lnTo>
                    <a:pt x="12785" y="7619"/>
                  </a:lnTo>
                  <a:close/>
                  <a:moveTo>
                    <a:pt x="13935" y="2222"/>
                  </a:moveTo>
                  <a:lnTo>
                    <a:pt x="13935" y="8547"/>
                  </a:lnTo>
                  <a:lnTo>
                    <a:pt x="13686" y="8547"/>
                  </a:lnTo>
                  <a:lnTo>
                    <a:pt x="13686" y="7191"/>
                  </a:lnTo>
                  <a:lnTo>
                    <a:pt x="13240" y="7191"/>
                  </a:lnTo>
                  <a:lnTo>
                    <a:pt x="13240" y="5844"/>
                  </a:lnTo>
                  <a:lnTo>
                    <a:pt x="12785" y="5844"/>
                  </a:lnTo>
                  <a:lnTo>
                    <a:pt x="12785" y="4497"/>
                  </a:lnTo>
                  <a:lnTo>
                    <a:pt x="7869" y="4497"/>
                  </a:lnTo>
                  <a:lnTo>
                    <a:pt x="7869" y="6263"/>
                  </a:lnTo>
                  <a:lnTo>
                    <a:pt x="8315" y="6263"/>
                  </a:lnTo>
                  <a:lnTo>
                    <a:pt x="8315" y="7619"/>
                  </a:lnTo>
                  <a:lnTo>
                    <a:pt x="8770" y="7619"/>
                  </a:lnTo>
                  <a:lnTo>
                    <a:pt x="8770" y="8547"/>
                  </a:lnTo>
                  <a:lnTo>
                    <a:pt x="4711" y="8547"/>
                  </a:lnTo>
                  <a:cubicBezTo>
                    <a:pt x="4577" y="8547"/>
                    <a:pt x="4470" y="8440"/>
                    <a:pt x="4470" y="8306"/>
                  </a:cubicBezTo>
                  <a:cubicBezTo>
                    <a:pt x="4470" y="8172"/>
                    <a:pt x="4577" y="8065"/>
                    <a:pt x="4711" y="8065"/>
                  </a:cubicBezTo>
                  <a:lnTo>
                    <a:pt x="6727" y="8065"/>
                  </a:lnTo>
                  <a:cubicBezTo>
                    <a:pt x="7093" y="8065"/>
                    <a:pt x="7387" y="7771"/>
                    <a:pt x="7387" y="7405"/>
                  </a:cubicBezTo>
                  <a:lnTo>
                    <a:pt x="7387" y="2222"/>
                  </a:lnTo>
                  <a:close/>
                  <a:moveTo>
                    <a:pt x="8770" y="8966"/>
                  </a:moveTo>
                  <a:lnTo>
                    <a:pt x="8770" y="9894"/>
                  </a:lnTo>
                  <a:lnTo>
                    <a:pt x="8288" y="9894"/>
                  </a:lnTo>
                  <a:lnTo>
                    <a:pt x="8288" y="8966"/>
                  </a:lnTo>
                  <a:close/>
                  <a:moveTo>
                    <a:pt x="9671" y="8966"/>
                  </a:moveTo>
                  <a:lnTo>
                    <a:pt x="9671" y="9894"/>
                  </a:lnTo>
                  <a:lnTo>
                    <a:pt x="9189" y="9894"/>
                  </a:lnTo>
                  <a:lnTo>
                    <a:pt x="9189" y="8966"/>
                  </a:lnTo>
                  <a:close/>
                  <a:moveTo>
                    <a:pt x="10563" y="8966"/>
                  </a:moveTo>
                  <a:lnTo>
                    <a:pt x="10563" y="9894"/>
                  </a:lnTo>
                  <a:lnTo>
                    <a:pt x="10090" y="9894"/>
                  </a:lnTo>
                  <a:lnTo>
                    <a:pt x="10090" y="8966"/>
                  </a:lnTo>
                  <a:close/>
                  <a:moveTo>
                    <a:pt x="11464" y="8966"/>
                  </a:moveTo>
                  <a:lnTo>
                    <a:pt x="11464" y="9894"/>
                  </a:lnTo>
                  <a:lnTo>
                    <a:pt x="10991" y="9894"/>
                  </a:lnTo>
                  <a:lnTo>
                    <a:pt x="10991" y="8966"/>
                  </a:lnTo>
                  <a:close/>
                  <a:moveTo>
                    <a:pt x="12365" y="8966"/>
                  </a:moveTo>
                  <a:lnTo>
                    <a:pt x="12365" y="9894"/>
                  </a:lnTo>
                  <a:lnTo>
                    <a:pt x="11884" y="9894"/>
                  </a:lnTo>
                  <a:lnTo>
                    <a:pt x="11884" y="8966"/>
                  </a:lnTo>
                  <a:close/>
                  <a:moveTo>
                    <a:pt x="1" y="1"/>
                  </a:moveTo>
                  <a:lnTo>
                    <a:pt x="1" y="7164"/>
                  </a:lnTo>
                  <a:lnTo>
                    <a:pt x="4051" y="7164"/>
                  </a:lnTo>
                  <a:lnTo>
                    <a:pt x="4051" y="8306"/>
                  </a:lnTo>
                  <a:cubicBezTo>
                    <a:pt x="4051" y="8672"/>
                    <a:pt x="4345" y="8966"/>
                    <a:pt x="4711" y="8966"/>
                  </a:cubicBezTo>
                  <a:lnTo>
                    <a:pt x="7869" y="8966"/>
                  </a:lnTo>
                  <a:lnTo>
                    <a:pt x="7869" y="10313"/>
                  </a:lnTo>
                  <a:lnTo>
                    <a:pt x="12785" y="10313"/>
                  </a:lnTo>
                  <a:lnTo>
                    <a:pt x="12785" y="8966"/>
                  </a:lnTo>
                  <a:lnTo>
                    <a:pt x="14364" y="8966"/>
                  </a:lnTo>
                  <a:lnTo>
                    <a:pt x="14364" y="1803"/>
                  </a:lnTo>
                  <a:lnTo>
                    <a:pt x="7387" y="1803"/>
                  </a:lnTo>
                  <a:lnTo>
                    <a:pt x="73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748;p51">
            <a:extLst>
              <a:ext uri="{FF2B5EF4-FFF2-40B4-BE49-F238E27FC236}">
                <a16:creationId xmlns:a16="http://schemas.microsoft.com/office/drawing/2014/main" id="{933D3D3F-EA38-CF58-B188-2695D7551AA6}"/>
              </a:ext>
            </a:extLst>
          </p:cNvPr>
          <p:cNvSpPr/>
          <p:nvPr/>
        </p:nvSpPr>
        <p:spPr>
          <a:xfrm>
            <a:off x="7426711" y="2158634"/>
            <a:ext cx="925063" cy="946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3" name="Google Shape;751;p51">
            <a:extLst>
              <a:ext uri="{FF2B5EF4-FFF2-40B4-BE49-F238E27FC236}">
                <a16:creationId xmlns:a16="http://schemas.microsoft.com/office/drawing/2014/main" id="{89264693-94C0-F364-9683-6A1AD0F45002}"/>
              </a:ext>
            </a:extLst>
          </p:cNvPr>
          <p:cNvCxnSpPr>
            <a:cxnSpLocks/>
            <a:stCxn id="748" idx="0"/>
            <a:endCxn id="12" idx="2"/>
          </p:cNvCxnSpPr>
          <p:nvPr/>
        </p:nvCxnSpPr>
        <p:spPr>
          <a:xfrm>
            <a:off x="6656130" y="2627714"/>
            <a:ext cx="770581" cy="402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5" name="Google Shape;763;p51">
            <a:extLst>
              <a:ext uri="{FF2B5EF4-FFF2-40B4-BE49-F238E27FC236}">
                <a16:creationId xmlns:a16="http://schemas.microsoft.com/office/drawing/2014/main" id="{AB9AD988-1FE2-B4C6-61FF-EF5C3DA735C9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889243" y="3104834"/>
            <a:ext cx="0" cy="74878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" name="Google Shape;758;p51">
            <a:extLst>
              <a:ext uri="{FF2B5EF4-FFF2-40B4-BE49-F238E27FC236}">
                <a16:creationId xmlns:a16="http://schemas.microsoft.com/office/drawing/2014/main" id="{DDADF385-B5BB-A6A1-7A0F-ECB19BE0276F}"/>
              </a:ext>
            </a:extLst>
          </p:cNvPr>
          <p:cNvSpPr txBox="1">
            <a:spLocks/>
          </p:cNvSpPr>
          <p:nvPr/>
        </p:nvSpPr>
        <p:spPr>
          <a:xfrm>
            <a:off x="7201205" y="3960412"/>
            <a:ext cx="17871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 algn="ctr">
              <a:buFont typeface="Sora"/>
              <a:buNone/>
            </a:pPr>
            <a:endParaRPr lang="en-GB" sz="1200" dirty="0"/>
          </a:p>
          <a:p>
            <a:pPr marL="0" indent="0" algn="ctr">
              <a:buFont typeface="Sora"/>
              <a:buNone/>
            </a:pPr>
            <a:endParaRPr lang="en-GB" sz="1200" dirty="0"/>
          </a:p>
          <a:p>
            <a:pPr marL="139700" indent="0" algn="l">
              <a:buNone/>
              <a:defRPr sz="1800"/>
            </a:pPr>
            <a:r>
              <a:rPr lang="en-GB" sz="1200"/>
              <a:t> Stratified 70/30 train-test split</a:t>
            </a:r>
            <a:endParaRPr lang="en-GB" sz="1200" dirty="0"/>
          </a:p>
        </p:txBody>
      </p:sp>
      <p:sp>
        <p:nvSpPr>
          <p:cNvPr id="49" name="Google Shape;767;p51">
            <a:extLst>
              <a:ext uri="{FF2B5EF4-FFF2-40B4-BE49-F238E27FC236}">
                <a16:creationId xmlns:a16="http://schemas.microsoft.com/office/drawing/2014/main" id="{1A98EC03-EAF9-7503-0A21-3211E5D7825A}"/>
              </a:ext>
            </a:extLst>
          </p:cNvPr>
          <p:cNvSpPr/>
          <p:nvPr/>
        </p:nvSpPr>
        <p:spPr>
          <a:xfrm>
            <a:off x="7495051" y="2254854"/>
            <a:ext cx="753900" cy="753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2"/>
                </a:solidFill>
                <a:latin typeface="Sora"/>
                <a:cs typeface="Sora"/>
                <a:sym typeface="Sora"/>
              </a:rPr>
              <a:t>5</a:t>
            </a:r>
            <a:endParaRPr sz="4800" dirty="0">
              <a:solidFill>
                <a:schemeClr val="dk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73292-A7D3-0CA5-DC67-48BE03CB1488}"/>
              </a:ext>
            </a:extLst>
          </p:cNvPr>
          <p:cNvSpPr txBox="1"/>
          <p:nvPr/>
        </p:nvSpPr>
        <p:spPr>
          <a:xfrm>
            <a:off x="7393436" y="4602107"/>
            <a:ext cx="1750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 err="1">
                <a:solidFill>
                  <a:schemeClr val="tx1"/>
                </a:solidFill>
                <a:effectLst/>
                <a:latin typeface="+mn-lt"/>
              </a:rPr>
              <a:t>Razaghzadeh</a:t>
            </a:r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800" b="0" i="0" dirty="0" err="1">
                <a:solidFill>
                  <a:schemeClr val="tx1"/>
                </a:solidFill>
                <a:effectLst/>
                <a:latin typeface="+mn-lt"/>
              </a:rPr>
              <a:t>Bidgoli</a:t>
            </a:r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 et al. (2024)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426C45-55CD-559A-FA38-85D926038676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4"/>
          <p:cNvSpPr txBox="1">
            <a:spLocks noGrp="1"/>
          </p:cNvSpPr>
          <p:nvPr>
            <p:ph type="title"/>
          </p:nvPr>
        </p:nvSpPr>
        <p:spPr>
          <a:xfrm>
            <a:off x="395890" y="4275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Exploratory </a:t>
            </a:r>
            <a:r>
              <a:rPr lang="en" sz="3200" dirty="0">
                <a:highlight>
                  <a:schemeClr val="dk2"/>
                </a:highlight>
              </a:rPr>
              <a:t>Data Analysis</a:t>
            </a:r>
            <a:endParaRPr sz="3200" dirty="0">
              <a:highlight>
                <a:schemeClr val="dk2"/>
              </a:highlight>
            </a:endParaRPr>
          </a:p>
        </p:txBody>
      </p:sp>
      <p:sp>
        <p:nvSpPr>
          <p:cNvPr id="888" name="Google Shape;888;p54"/>
          <p:cNvSpPr txBox="1">
            <a:spLocks noGrp="1"/>
          </p:cNvSpPr>
          <p:nvPr>
            <p:ph type="subTitle" idx="4294967295"/>
          </p:nvPr>
        </p:nvSpPr>
        <p:spPr>
          <a:xfrm>
            <a:off x="908156" y="1608279"/>
            <a:ext cx="1610486" cy="3533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Syne"/>
                <a:ea typeface="Syne"/>
                <a:cs typeface="Syne"/>
                <a:sym typeface="Syne"/>
              </a:rPr>
              <a:t>Success</a:t>
            </a:r>
            <a:endParaRPr sz="22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89" name="Google Shape;889;p54"/>
          <p:cNvSpPr txBox="1">
            <a:spLocks noGrp="1"/>
          </p:cNvSpPr>
          <p:nvPr>
            <p:ph type="subTitle" idx="4294967295"/>
          </p:nvPr>
        </p:nvSpPr>
        <p:spPr>
          <a:xfrm>
            <a:off x="1053632" y="2462580"/>
            <a:ext cx="1936500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Syne"/>
                <a:ea typeface="Syne"/>
                <a:cs typeface="Syne"/>
                <a:sym typeface="Syne"/>
              </a:rPr>
              <a:t>Closed</a:t>
            </a:r>
            <a:endParaRPr sz="22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90" name="Google Shape;890;p54"/>
          <p:cNvSpPr txBox="1">
            <a:spLocks noGrp="1"/>
          </p:cNvSpPr>
          <p:nvPr>
            <p:ph type="subTitle" idx="4294967295"/>
          </p:nvPr>
        </p:nvSpPr>
        <p:spPr>
          <a:xfrm>
            <a:off x="1281934" y="3373138"/>
            <a:ext cx="1748705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Syne"/>
                <a:ea typeface="Syne"/>
                <a:cs typeface="Syne"/>
                <a:sym typeface="Syne"/>
              </a:rPr>
              <a:t>Total</a:t>
            </a:r>
            <a:endParaRPr sz="2200" b="1" dirty="0">
              <a:latin typeface="Syne"/>
              <a:ea typeface="Syne"/>
              <a:cs typeface="Syne"/>
              <a:sym typeface="Syne"/>
            </a:endParaRPr>
          </a:p>
        </p:txBody>
      </p:sp>
      <p:grpSp>
        <p:nvGrpSpPr>
          <p:cNvPr id="891" name="Google Shape;891;p54"/>
          <p:cNvGrpSpPr/>
          <p:nvPr/>
        </p:nvGrpSpPr>
        <p:grpSpPr>
          <a:xfrm>
            <a:off x="236866" y="1566591"/>
            <a:ext cx="661278" cy="611640"/>
            <a:chOff x="715100" y="1106417"/>
            <a:chExt cx="822000" cy="822212"/>
          </a:xfrm>
        </p:grpSpPr>
        <p:sp>
          <p:nvSpPr>
            <p:cNvPr id="892" name="Google Shape;892;p54"/>
            <p:cNvSpPr/>
            <p:nvPr/>
          </p:nvSpPr>
          <p:spPr>
            <a:xfrm>
              <a:off x="807354" y="1166629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893" name="Google Shape;893;p54"/>
            <p:cNvSpPr/>
            <p:nvPr/>
          </p:nvSpPr>
          <p:spPr>
            <a:xfrm rot="5400000">
              <a:off x="715100" y="1106417"/>
              <a:ext cx="822000" cy="822000"/>
            </a:xfrm>
            <a:prstGeom prst="blockArc">
              <a:avLst>
                <a:gd name="adj1" fmla="val 10776226"/>
                <a:gd name="adj2" fmla="val 6475975"/>
                <a:gd name="adj3" fmla="val 21174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5" name="Google Shape;895;p54"/>
            <p:cNvGrpSpPr/>
            <p:nvPr/>
          </p:nvGrpSpPr>
          <p:grpSpPr>
            <a:xfrm>
              <a:off x="952843" y="1412161"/>
              <a:ext cx="346815" cy="211302"/>
              <a:chOff x="3535791" y="3227408"/>
              <a:chExt cx="730598" cy="445128"/>
            </a:xfrm>
          </p:grpSpPr>
          <p:sp>
            <p:nvSpPr>
              <p:cNvPr id="896" name="Google Shape;896;p54"/>
              <p:cNvSpPr/>
              <p:nvPr/>
            </p:nvSpPr>
            <p:spPr>
              <a:xfrm>
                <a:off x="4046813" y="3269939"/>
                <a:ext cx="165351" cy="165362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68" extrusionOk="0">
                    <a:moveTo>
                      <a:pt x="834" y="334"/>
                    </a:moveTo>
                    <a:cubicBezTo>
                      <a:pt x="1108" y="334"/>
                      <a:pt x="1334" y="548"/>
                      <a:pt x="1334" y="834"/>
                    </a:cubicBezTo>
                    <a:cubicBezTo>
                      <a:pt x="1334" y="1119"/>
                      <a:pt x="1108" y="1346"/>
                      <a:pt x="834" y="1346"/>
                    </a:cubicBezTo>
                    <a:cubicBezTo>
                      <a:pt x="548" y="1346"/>
                      <a:pt x="322" y="1119"/>
                      <a:pt x="322" y="834"/>
                    </a:cubicBezTo>
                    <a:cubicBezTo>
                      <a:pt x="322" y="548"/>
                      <a:pt x="548" y="334"/>
                      <a:pt x="834" y="334"/>
                    </a:cubicBezTo>
                    <a:close/>
                    <a:moveTo>
                      <a:pt x="834" y="0"/>
                    </a:moveTo>
                    <a:cubicBezTo>
                      <a:pt x="370" y="0"/>
                      <a:pt x="0" y="369"/>
                      <a:pt x="0" y="834"/>
                    </a:cubicBezTo>
                    <a:cubicBezTo>
                      <a:pt x="0" y="1298"/>
                      <a:pt x="370" y="1667"/>
                      <a:pt x="834" y="1667"/>
                    </a:cubicBezTo>
                    <a:cubicBezTo>
                      <a:pt x="1286" y="1667"/>
                      <a:pt x="1667" y="1298"/>
                      <a:pt x="1667" y="834"/>
                    </a:cubicBezTo>
                    <a:cubicBezTo>
                      <a:pt x="1667" y="369"/>
                      <a:pt x="1286" y="0"/>
                      <a:pt x="8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54"/>
              <p:cNvSpPr/>
              <p:nvPr/>
            </p:nvSpPr>
            <p:spPr>
              <a:xfrm>
                <a:off x="4052662" y="3469404"/>
                <a:ext cx="213727" cy="153564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549" extrusionOk="0">
                    <a:moveTo>
                      <a:pt x="775" y="0"/>
                    </a:moveTo>
                    <a:cubicBezTo>
                      <a:pt x="549" y="0"/>
                      <a:pt x="311" y="60"/>
                      <a:pt x="120" y="167"/>
                    </a:cubicBezTo>
                    <a:cubicBezTo>
                      <a:pt x="37" y="203"/>
                      <a:pt x="1" y="310"/>
                      <a:pt x="37" y="381"/>
                    </a:cubicBezTo>
                    <a:cubicBezTo>
                      <a:pt x="72" y="443"/>
                      <a:pt x="140" y="479"/>
                      <a:pt x="201" y="479"/>
                    </a:cubicBezTo>
                    <a:cubicBezTo>
                      <a:pt x="223" y="479"/>
                      <a:pt x="244" y="474"/>
                      <a:pt x="263" y="465"/>
                    </a:cubicBezTo>
                    <a:cubicBezTo>
                      <a:pt x="418" y="381"/>
                      <a:pt x="596" y="346"/>
                      <a:pt x="751" y="346"/>
                    </a:cubicBezTo>
                    <a:cubicBezTo>
                      <a:pt x="1275" y="346"/>
                      <a:pt x="1704" y="727"/>
                      <a:pt x="1799" y="1215"/>
                    </a:cubicBezTo>
                    <a:lnTo>
                      <a:pt x="751" y="1215"/>
                    </a:lnTo>
                    <a:cubicBezTo>
                      <a:pt x="668" y="1215"/>
                      <a:pt x="584" y="1298"/>
                      <a:pt x="584" y="1382"/>
                    </a:cubicBezTo>
                    <a:cubicBezTo>
                      <a:pt x="584" y="1477"/>
                      <a:pt x="668" y="1548"/>
                      <a:pt x="751" y="1548"/>
                    </a:cubicBezTo>
                    <a:lnTo>
                      <a:pt x="1977" y="1548"/>
                    </a:lnTo>
                    <a:cubicBezTo>
                      <a:pt x="2061" y="1548"/>
                      <a:pt x="2144" y="1477"/>
                      <a:pt x="2144" y="1382"/>
                    </a:cubicBezTo>
                    <a:cubicBezTo>
                      <a:pt x="2156" y="620"/>
                      <a:pt x="1525" y="0"/>
                      <a:pt x="7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54"/>
              <p:cNvSpPr/>
              <p:nvPr/>
            </p:nvSpPr>
            <p:spPr>
              <a:xfrm>
                <a:off x="3535791" y="3469404"/>
                <a:ext cx="213727" cy="153564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549" extrusionOk="0">
                    <a:moveTo>
                      <a:pt x="1381" y="0"/>
                    </a:moveTo>
                    <a:cubicBezTo>
                      <a:pt x="631" y="0"/>
                      <a:pt x="0" y="620"/>
                      <a:pt x="0" y="1382"/>
                    </a:cubicBezTo>
                    <a:cubicBezTo>
                      <a:pt x="0" y="1477"/>
                      <a:pt x="71" y="1548"/>
                      <a:pt x="167" y="1548"/>
                    </a:cubicBezTo>
                    <a:lnTo>
                      <a:pt x="1405" y="1548"/>
                    </a:lnTo>
                    <a:cubicBezTo>
                      <a:pt x="1488" y="1548"/>
                      <a:pt x="1560" y="1477"/>
                      <a:pt x="1560" y="1382"/>
                    </a:cubicBezTo>
                    <a:cubicBezTo>
                      <a:pt x="1560" y="1298"/>
                      <a:pt x="1500" y="1215"/>
                      <a:pt x="1417" y="1215"/>
                    </a:cubicBezTo>
                    <a:lnTo>
                      <a:pt x="357" y="1215"/>
                    </a:lnTo>
                    <a:cubicBezTo>
                      <a:pt x="429" y="715"/>
                      <a:pt x="881" y="346"/>
                      <a:pt x="1405" y="346"/>
                    </a:cubicBezTo>
                    <a:cubicBezTo>
                      <a:pt x="1584" y="346"/>
                      <a:pt x="1738" y="381"/>
                      <a:pt x="1893" y="465"/>
                    </a:cubicBezTo>
                    <a:cubicBezTo>
                      <a:pt x="1914" y="475"/>
                      <a:pt x="1938" y="481"/>
                      <a:pt x="1962" y="481"/>
                    </a:cubicBezTo>
                    <a:cubicBezTo>
                      <a:pt x="2022" y="481"/>
                      <a:pt x="2086" y="449"/>
                      <a:pt x="2119" y="381"/>
                    </a:cubicBezTo>
                    <a:cubicBezTo>
                      <a:pt x="2155" y="310"/>
                      <a:pt x="2131" y="203"/>
                      <a:pt x="2036" y="167"/>
                    </a:cubicBezTo>
                    <a:cubicBezTo>
                      <a:pt x="1846" y="60"/>
                      <a:pt x="1607" y="0"/>
                      <a:pt x="13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54"/>
              <p:cNvSpPr/>
              <p:nvPr/>
            </p:nvSpPr>
            <p:spPr>
              <a:xfrm>
                <a:off x="3592395" y="3269939"/>
                <a:ext cx="165351" cy="165362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68" extrusionOk="0">
                    <a:moveTo>
                      <a:pt x="834" y="334"/>
                    </a:moveTo>
                    <a:cubicBezTo>
                      <a:pt x="1108" y="334"/>
                      <a:pt x="1334" y="548"/>
                      <a:pt x="1334" y="834"/>
                    </a:cubicBezTo>
                    <a:cubicBezTo>
                      <a:pt x="1334" y="1119"/>
                      <a:pt x="1108" y="1346"/>
                      <a:pt x="834" y="1346"/>
                    </a:cubicBezTo>
                    <a:cubicBezTo>
                      <a:pt x="548" y="1346"/>
                      <a:pt x="322" y="1119"/>
                      <a:pt x="322" y="834"/>
                    </a:cubicBezTo>
                    <a:cubicBezTo>
                      <a:pt x="322" y="548"/>
                      <a:pt x="560" y="334"/>
                      <a:pt x="834" y="334"/>
                    </a:cubicBezTo>
                    <a:close/>
                    <a:moveTo>
                      <a:pt x="834" y="0"/>
                    </a:moveTo>
                    <a:cubicBezTo>
                      <a:pt x="370" y="0"/>
                      <a:pt x="1" y="369"/>
                      <a:pt x="1" y="834"/>
                    </a:cubicBezTo>
                    <a:cubicBezTo>
                      <a:pt x="1" y="1298"/>
                      <a:pt x="370" y="1667"/>
                      <a:pt x="834" y="1667"/>
                    </a:cubicBezTo>
                    <a:cubicBezTo>
                      <a:pt x="1286" y="1667"/>
                      <a:pt x="1667" y="1298"/>
                      <a:pt x="1667" y="834"/>
                    </a:cubicBezTo>
                    <a:cubicBezTo>
                      <a:pt x="1667" y="369"/>
                      <a:pt x="1286" y="0"/>
                      <a:pt x="8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54"/>
              <p:cNvSpPr/>
              <p:nvPr/>
            </p:nvSpPr>
            <p:spPr>
              <a:xfrm>
                <a:off x="3794227" y="3227408"/>
                <a:ext cx="214917" cy="214931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2168" extrusionOk="0">
                    <a:moveTo>
                      <a:pt x="1084" y="346"/>
                    </a:moveTo>
                    <a:cubicBezTo>
                      <a:pt x="1501" y="346"/>
                      <a:pt x="1834" y="667"/>
                      <a:pt x="1834" y="1084"/>
                    </a:cubicBezTo>
                    <a:cubicBezTo>
                      <a:pt x="1834" y="1501"/>
                      <a:pt x="1501" y="1834"/>
                      <a:pt x="1084" y="1834"/>
                    </a:cubicBezTo>
                    <a:cubicBezTo>
                      <a:pt x="667" y="1834"/>
                      <a:pt x="346" y="1501"/>
                      <a:pt x="346" y="1084"/>
                    </a:cubicBezTo>
                    <a:cubicBezTo>
                      <a:pt x="346" y="667"/>
                      <a:pt x="667" y="346"/>
                      <a:pt x="1084" y="346"/>
                    </a:cubicBezTo>
                    <a:close/>
                    <a:moveTo>
                      <a:pt x="1084" y="1"/>
                    </a:moveTo>
                    <a:cubicBezTo>
                      <a:pt x="489" y="1"/>
                      <a:pt x="1" y="489"/>
                      <a:pt x="1" y="1084"/>
                    </a:cubicBezTo>
                    <a:cubicBezTo>
                      <a:pt x="1" y="1679"/>
                      <a:pt x="489" y="2168"/>
                      <a:pt x="1084" y="2168"/>
                    </a:cubicBezTo>
                    <a:cubicBezTo>
                      <a:pt x="1679" y="2168"/>
                      <a:pt x="2167" y="1679"/>
                      <a:pt x="2167" y="1084"/>
                    </a:cubicBezTo>
                    <a:cubicBezTo>
                      <a:pt x="2167" y="489"/>
                      <a:pt x="1679" y="1"/>
                      <a:pt x="10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54"/>
              <p:cNvSpPr/>
              <p:nvPr/>
            </p:nvSpPr>
            <p:spPr>
              <a:xfrm>
                <a:off x="3719878" y="3475253"/>
                <a:ext cx="363614" cy="197284"/>
              </a:xfrm>
              <a:custGeom>
                <a:avLst/>
                <a:gdLst/>
                <a:ahLst/>
                <a:cxnLst/>
                <a:rect l="l" t="t" r="r" b="b"/>
                <a:pathLst>
                  <a:path w="3668" h="1990" extrusionOk="0">
                    <a:moveTo>
                      <a:pt x="1834" y="322"/>
                    </a:moveTo>
                    <a:cubicBezTo>
                      <a:pt x="2596" y="322"/>
                      <a:pt x="3239" y="906"/>
                      <a:pt x="3310" y="1656"/>
                    </a:cubicBezTo>
                    <a:lnTo>
                      <a:pt x="358" y="1656"/>
                    </a:lnTo>
                    <a:cubicBezTo>
                      <a:pt x="453" y="906"/>
                      <a:pt x="1072" y="322"/>
                      <a:pt x="1834" y="322"/>
                    </a:cubicBezTo>
                    <a:close/>
                    <a:moveTo>
                      <a:pt x="1834" y="1"/>
                    </a:moveTo>
                    <a:cubicBezTo>
                      <a:pt x="822" y="1"/>
                      <a:pt x="0" y="823"/>
                      <a:pt x="0" y="1835"/>
                    </a:cubicBezTo>
                    <a:cubicBezTo>
                      <a:pt x="0" y="1918"/>
                      <a:pt x="84" y="1989"/>
                      <a:pt x="167" y="1989"/>
                    </a:cubicBezTo>
                    <a:lnTo>
                      <a:pt x="3489" y="1989"/>
                    </a:lnTo>
                    <a:cubicBezTo>
                      <a:pt x="3572" y="1989"/>
                      <a:pt x="3656" y="1918"/>
                      <a:pt x="3656" y="1835"/>
                    </a:cubicBezTo>
                    <a:cubicBezTo>
                      <a:pt x="3668" y="823"/>
                      <a:pt x="2846" y="1"/>
                      <a:pt x="18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4" name="Google Shape;894;p54"/>
            <p:cNvSpPr/>
            <p:nvPr/>
          </p:nvSpPr>
          <p:spPr>
            <a:xfrm>
              <a:off x="865327" y="1256727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3" name="Google Shape;903;p54"/>
          <p:cNvSpPr txBox="1"/>
          <p:nvPr/>
        </p:nvSpPr>
        <p:spPr>
          <a:xfrm>
            <a:off x="6878337" y="1448282"/>
            <a:ext cx="1984826" cy="258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0000FF"/>
                </a:highlight>
                <a:latin typeface="Sora"/>
                <a:ea typeface="Sora"/>
                <a:cs typeface="Sora"/>
                <a:sym typeface="Sora"/>
              </a:rPr>
              <a:t>Success</a:t>
            </a:r>
            <a:r>
              <a:rPr lang="en-US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is the majority class: 597 acquired vs 326 closed start-ups, so models learn </a:t>
            </a:r>
            <a:r>
              <a:rPr lang="en-GB">
                <a:solidFill>
                  <a:schemeClr val="dk1"/>
                </a:solidFill>
                <a:highlight>
                  <a:srgbClr val="0000FF"/>
                </a:highlight>
                <a:latin typeface="Sora"/>
                <a:ea typeface="Sora"/>
                <a:cs typeface="Sora"/>
                <a:sym typeface="Sora"/>
              </a:rPr>
              <a:t>successes</a:t>
            </a:r>
            <a:r>
              <a:rPr lang="en-US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better and failures are harder to </a:t>
            </a:r>
            <a:r>
              <a:rPr lang="en-GB">
                <a:solidFill>
                  <a:schemeClr val="dk1"/>
                </a:solidFill>
                <a:highlight>
                  <a:srgbClr val="0000FF"/>
                </a:highlight>
                <a:latin typeface="Sora"/>
                <a:ea typeface="Sora"/>
                <a:cs typeface="Sora"/>
                <a:sym typeface="Sora"/>
              </a:rPr>
              <a:t>detect</a:t>
            </a:r>
            <a:r>
              <a:rPr lang="en-GB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endParaRPr lang="en-GB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9" name="Google Shape;909;p54"/>
          <p:cNvSpPr txBox="1">
            <a:spLocks noGrp="1"/>
          </p:cNvSpPr>
          <p:nvPr>
            <p:ph type="subTitle" idx="4294967295"/>
          </p:nvPr>
        </p:nvSpPr>
        <p:spPr>
          <a:xfrm>
            <a:off x="908250" y="1833662"/>
            <a:ext cx="1192011" cy="4756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highlight>
                  <a:schemeClr val="dk1"/>
                </a:highlight>
              </a:rPr>
              <a:t>65%</a:t>
            </a:r>
            <a:endParaRPr sz="2400" b="1" dirty="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910" name="Google Shape;910;p54"/>
          <p:cNvSpPr txBox="1">
            <a:spLocks noGrp="1"/>
          </p:cNvSpPr>
          <p:nvPr>
            <p:ph type="subTitle" idx="4294967295"/>
          </p:nvPr>
        </p:nvSpPr>
        <p:spPr>
          <a:xfrm>
            <a:off x="1068701" y="2724240"/>
            <a:ext cx="12126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highlight>
                  <a:schemeClr val="dk1"/>
                </a:highlight>
              </a:rPr>
              <a:t>35%</a:t>
            </a:r>
            <a:endParaRPr sz="2400" b="1" dirty="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911" name="Google Shape;911;p54"/>
          <p:cNvSpPr txBox="1">
            <a:spLocks noGrp="1"/>
          </p:cNvSpPr>
          <p:nvPr>
            <p:ph type="subTitle" idx="4294967295"/>
          </p:nvPr>
        </p:nvSpPr>
        <p:spPr>
          <a:xfrm>
            <a:off x="1289031" y="3617969"/>
            <a:ext cx="12126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highlight>
                  <a:schemeClr val="dk1"/>
                </a:highlight>
              </a:rPr>
              <a:t>923</a:t>
            </a:r>
            <a:endParaRPr sz="2400" b="1" dirty="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grpSp>
        <p:nvGrpSpPr>
          <p:cNvPr id="912" name="Google Shape;912;p54"/>
          <p:cNvGrpSpPr/>
          <p:nvPr/>
        </p:nvGrpSpPr>
        <p:grpSpPr>
          <a:xfrm>
            <a:off x="564346" y="3327694"/>
            <a:ext cx="672706" cy="620559"/>
            <a:chOff x="1737203" y="2931736"/>
            <a:chExt cx="822000" cy="822211"/>
          </a:xfrm>
        </p:grpSpPr>
        <p:sp>
          <p:nvSpPr>
            <p:cNvPr id="913" name="Google Shape;913;p54"/>
            <p:cNvSpPr/>
            <p:nvPr/>
          </p:nvSpPr>
          <p:spPr>
            <a:xfrm>
              <a:off x="1829457" y="2991947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14" name="Google Shape;914;p54"/>
            <p:cNvSpPr/>
            <p:nvPr/>
          </p:nvSpPr>
          <p:spPr>
            <a:xfrm rot="5400000">
              <a:off x="1737203" y="2931736"/>
              <a:ext cx="822000" cy="822000"/>
            </a:xfrm>
            <a:prstGeom prst="blockArc">
              <a:avLst>
                <a:gd name="adj1" fmla="val 10776226"/>
                <a:gd name="adj2" fmla="val 4317431"/>
                <a:gd name="adj3" fmla="val 2091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6" name="Google Shape;916;p54"/>
            <p:cNvGrpSpPr/>
            <p:nvPr/>
          </p:nvGrpSpPr>
          <p:grpSpPr>
            <a:xfrm>
              <a:off x="1917983" y="3158016"/>
              <a:ext cx="459971" cy="369412"/>
              <a:chOff x="919683" y="1448166"/>
              <a:chExt cx="459971" cy="369412"/>
            </a:xfrm>
          </p:grpSpPr>
          <p:sp>
            <p:nvSpPr>
              <p:cNvPr id="917" name="Google Shape;917;p54"/>
              <p:cNvSpPr/>
              <p:nvPr/>
            </p:nvSpPr>
            <p:spPr>
              <a:xfrm>
                <a:off x="919683" y="1650164"/>
                <a:ext cx="459971" cy="167414"/>
              </a:xfrm>
              <a:custGeom>
                <a:avLst/>
                <a:gdLst/>
                <a:ahLst/>
                <a:cxnLst/>
                <a:rect l="l" t="t" r="r" b="b"/>
                <a:pathLst>
                  <a:path w="14364" h="5228" extrusionOk="0">
                    <a:moveTo>
                      <a:pt x="13944" y="419"/>
                    </a:moveTo>
                    <a:lnTo>
                      <a:pt x="13944" y="2248"/>
                    </a:lnTo>
                    <a:lnTo>
                      <a:pt x="10697" y="2248"/>
                    </a:lnTo>
                    <a:lnTo>
                      <a:pt x="10108" y="2837"/>
                    </a:lnTo>
                    <a:lnTo>
                      <a:pt x="8172" y="901"/>
                    </a:lnTo>
                    <a:lnTo>
                      <a:pt x="6647" y="901"/>
                    </a:lnTo>
                    <a:lnTo>
                      <a:pt x="5835" y="1713"/>
                    </a:lnTo>
                    <a:lnTo>
                      <a:pt x="5460" y="1338"/>
                    </a:lnTo>
                    <a:lnTo>
                      <a:pt x="6370" y="419"/>
                    </a:lnTo>
                    <a:close/>
                    <a:moveTo>
                      <a:pt x="5773" y="419"/>
                    </a:moveTo>
                    <a:lnTo>
                      <a:pt x="4863" y="1338"/>
                    </a:lnTo>
                    <a:lnTo>
                      <a:pt x="5835" y="2311"/>
                    </a:lnTo>
                    <a:lnTo>
                      <a:pt x="6825" y="1320"/>
                    </a:lnTo>
                    <a:lnTo>
                      <a:pt x="7994" y="1320"/>
                    </a:lnTo>
                    <a:lnTo>
                      <a:pt x="10260" y="3586"/>
                    </a:lnTo>
                    <a:lnTo>
                      <a:pt x="9885" y="3961"/>
                    </a:lnTo>
                    <a:lnTo>
                      <a:pt x="7557" y="1633"/>
                    </a:lnTo>
                    <a:lnTo>
                      <a:pt x="7262" y="1936"/>
                    </a:lnTo>
                    <a:lnTo>
                      <a:pt x="9136" y="3809"/>
                    </a:lnTo>
                    <a:lnTo>
                      <a:pt x="8761" y="4184"/>
                    </a:lnTo>
                    <a:lnTo>
                      <a:pt x="7111" y="2534"/>
                    </a:lnTo>
                    <a:lnTo>
                      <a:pt x="6807" y="2837"/>
                    </a:lnTo>
                    <a:lnTo>
                      <a:pt x="8012" y="4032"/>
                    </a:lnTo>
                    <a:lnTo>
                      <a:pt x="7637" y="4407"/>
                    </a:lnTo>
                    <a:lnTo>
                      <a:pt x="6656" y="3435"/>
                    </a:lnTo>
                    <a:lnTo>
                      <a:pt x="6361" y="3729"/>
                    </a:lnTo>
                    <a:lnTo>
                      <a:pt x="6888" y="4255"/>
                    </a:lnTo>
                    <a:lnTo>
                      <a:pt x="6513" y="4639"/>
                    </a:lnTo>
                    <a:lnTo>
                      <a:pt x="4122" y="2248"/>
                    </a:lnTo>
                    <a:lnTo>
                      <a:pt x="429" y="2248"/>
                    </a:lnTo>
                    <a:lnTo>
                      <a:pt x="429" y="419"/>
                    </a:lnTo>
                    <a:close/>
                    <a:moveTo>
                      <a:pt x="1" y="0"/>
                    </a:moveTo>
                    <a:lnTo>
                      <a:pt x="1" y="2668"/>
                    </a:lnTo>
                    <a:lnTo>
                      <a:pt x="3953" y="2668"/>
                    </a:lnTo>
                    <a:lnTo>
                      <a:pt x="6513" y="5228"/>
                    </a:lnTo>
                    <a:lnTo>
                      <a:pt x="7182" y="4559"/>
                    </a:lnTo>
                    <a:lnTo>
                      <a:pt x="7637" y="5005"/>
                    </a:lnTo>
                    <a:lnTo>
                      <a:pt x="8306" y="4336"/>
                    </a:lnTo>
                    <a:lnTo>
                      <a:pt x="8761" y="4782"/>
                    </a:lnTo>
                    <a:lnTo>
                      <a:pt x="9430" y="4104"/>
                    </a:lnTo>
                    <a:lnTo>
                      <a:pt x="9885" y="4559"/>
                    </a:lnTo>
                    <a:lnTo>
                      <a:pt x="10858" y="3586"/>
                    </a:lnTo>
                    <a:lnTo>
                      <a:pt x="10403" y="3131"/>
                    </a:lnTo>
                    <a:lnTo>
                      <a:pt x="10867" y="2668"/>
                    </a:lnTo>
                    <a:lnTo>
                      <a:pt x="14364" y="2668"/>
                    </a:lnTo>
                    <a:lnTo>
                      <a:pt x="143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54"/>
              <p:cNvSpPr/>
              <p:nvPr/>
            </p:nvSpPr>
            <p:spPr>
              <a:xfrm>
                <a:off x="948247" y="1686157"/>
                <a:ext cx="14314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47" y="419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54"/>
              <p:cNvSpPr/>
              <p:nvPr/>
            </p:nvSpPr>
            <p:spPr>
              <a:xfrm>
                <a:off x="976811" y="1686157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54"/>
              <p:cNvSpPr/>
              <p:nvPr/>
            </p:nvSpPr>
            <p:spPr>
              <a:xfrm>
                <a:off x="1308212" y="1686157"/>
                <a:ext cx="14314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0" extrusionOk="0">
                    <a:moveTo>
                      <a:pt x="0" y="0"/>
                    </a:moveTo>
                    <a:lnTo>
                      <a:pt x="0" y="419"/>
                    </a:lnTo>
                    <a:lnTo>
                      <a:pt x="446" y="419"/>
                    </a:lnTo>
                    <a:lnTo>
                      <a:pt x="44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54"/>
              <p:cNvSpPr/>
              <p:nvPr/>
            </p:nvSpPr>
            <p:spPr>
              <a:xfrm>
                <a:off x="1336776" y="1686157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0" y="0"/>
                    </a:moveTo>
                    <a:lnTo>
                      <a:pt x="0" y="419"/>
                    </a:lnTo>
                    <a:lnTo>
                      <a:pt x="455" y="419"/>
                    </a:lnTo>
                    <a:lnTo>
                      <a:pt x="4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54"/>
              <p:cNvSpPr/>
              <p:nvPr/>
            </p:nvSpPr>
            <p:spPr>
              <a:xfrm>
                <a:off x="1056227" y="1491332"/>
                <a:ext cx="187172" cy="136864"/>
              </a:xfrm>
              <a:custGeom>
                <a:avLst/>
                <a:gdLst/>
                <a:ahLst/>
                <a:cxnLst/>
                <a:rect l="l" t="t" r="r" b="b"/>
                <a:pathLst>
                  <a:path w="5845" h="4274" extrusionOk="0">
                    <a:moveTo>
                      <a:pt x="2918" y="0"/>
                    </a:moveTo>
                    <a:lnTo>
                      <a:pt x="1" y="2926"/>
                    </a:lnTo>
                    <a:lnTo>
                      <a:pt x="1" y="4273"/>
                    </a:lnTo>
                    <a:lnTo>
                      <a:pt x="5844" y="4273"/>
                    </a:lnTo>
                    <a:lnTo>
                      <a:pt x="5844" y="2926"/>
                    </a:lnTo>
                    <a:lnTo>
                      <a:pt x="2918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54"/>
              <p:cNvSpPr/>
              <p:nvPr/>
            </p:nvSpPr>
            <p:spPr>
              <a:xfrm>
                <a:off x="1106534" y="1448166"/>
                <a:ext cx="86301" cy="43198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1349" extrusionOk="0">
                    <a:moveTo>
                      <a:pt x="0" y="1"/>
                    </a:moveTo>
                    <a:lnTo>
                      <a:pt x="1347" y="1348"/>
                    </a:lnTo>
                    <a:lnTo>
                      <a:pt x="2694" y="1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54"/>
              <p:cNvSpPr/>
              <p:nvPr/>
            </p:nvSpPr>
            <p:spPr>
              <a:xfrm>
                <a:off x="1128246" y="1534466"/>
                <a:ext cx="43166" cy="72019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2249" extrusionOk="0">
                    <a:moveTo>
                      <a:pt x="464" y="0"/>
                    </a:moveTo>
                    <a:lnTo>
                      <a:pt x="464" y="241"/>
                    </a:lnTo>
                    <a:lnTo>
                      <a:pt x="9" y="241"/>
                    </a:lnTo>
                    <a:lnTo>
                      <a:pt x="9" y="1338"/>
                    </a:lnTo>
                    <a:lnTo>
                      <a:pt x="910" y="1338"/>
                    </a:lnTo>
                    <a:lnTo>
                      <a:pt x="910" y="1588"/>
                    </a:lnTo>
                    <a:lnTo>
                      <a:pt x="0" y="1588"/>
                    </a:lnTo>
                    <a:lnTo>
                      <a:pt x="0" y="2016"/>
                    </a:lnTo>
                    <a:lnTo>
                      <a:pt x="464" y="2016"/>
                    </a:lnTo>
                    <a:lnTo>
                      <a:pt x="464" y="2248"/>
                    </a:lnTo>
                    <a:lnTo>
                      <a:pt x="883" y="2248"/>
                    </a:lnTo>
                    <a:lnTo>
                      <a:pt x="883" y="2016"/>
                    </a:lnTo>
                    <a:lnTo>
                      <a:pt x="1329" y="2016"/>
                    </a:lnTo>
                    <a:lnTo>
                      <a:pt x="1329" y="919"/>
                    </a:lnTo>
                    <a:lnTo>
                      <a:pt x="437" y="919"/>
                    </a:lnTo>
                    <a:lnTo>
                      <a:pt x="437" y="660"/>
                    </a:lnTo>
                    <a:lnTo>
                      <a:pt x="1347" y="660"/>
                    </a:lnTo>
                    <a:lnTo>
                      <a:pt x="1347" y="241"/>
                    </a:lnTo>
                    <a:lnTo>
                      <a:pt x="883" y="241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54"/>
              <p:cNvSpPr/>
              <p:nvPr/>
            </p:nvSpPr>
            <p:spPr>
              <a:xfrm>
                <a:off x="1221655" y="1484735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55" y="420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54"/>
              <p:cNvSpPr/>
              <p:nvPr/>
            </p:nvSpPr>
            <p:spPr>
              <a:xfrm>
                <a:off x="1192803" y="1484735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55" y="420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54"/>
              <p:cNvSpPr/>
              <p:nvPr/>
            </p:nvSpPr>
            <p:spPr>
              <a:xfrm>
                <a:off x="1063400" y="1484735"/>
                <a:ext cx="14314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46" y="420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54"/>
              <p:cNvSpPr/>
              <p:nvPr/>
            </p:nvSpPr>
            <p:spPr>
              <a:xfrm>
                <a:off x="1092252" y="1484735"/>
                <a:ext cx="14314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46" y="420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15" name="Google Shape;915;p54"/>
            <p:cNvSpPr/>
            <p:nvPr/>
          </p:nvSpPr>
          <p:spPr>
            <a:xfrm>
              <a:off x="1887429" y="3082045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9" name="Google Shape;929;p54"/>
          <p:cNvGrpSpPr/>
          <p:nvPr/>
        </p:nvGrpSpPr>
        <p:grpSpPr>
          <a:xfrm>
            <a:off x="384767" y="2466176"/>
            <a:ext cx="661278" cy="569592"/>
            <a:chOff x="1226151" y="2025073"/>
            <a:chExt cx="822000" cy="822212"/>
          </a:xfrm>
        </p:grpSpPr>
        <p:sp>
          <p:nvSpPr>
            <p:cNvPr id="930" name="Google Shape;930;p54"/>
            <p:cNvSpPr/>
            <p:nvPr/>
          </p:nvSpPr>
          <p:spPr>
            <a:xfrm>
              <a:off x="1318405" y="2085285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31" name="Google Shape;931;p54"/>
            <p:cNvSpPr/>
            <p:nvPr/>
          </p:nvSpPr>
          <p:spPr>
            <a:xfrm rot="5400000">
              <a:off x="1226151" y="2025073"/>
              <a:ext cx="822000" cy="822000"/>
            </a:xfrm>
            <a:prstGeom prst="blockArc">
              <a:avLst>
                <a:gd name="adj1" fmla="val 10776226"/>
                <a:gd name="adj2" fmla="val 49983"/>
                <a:gd name="adj3" fmla="val 1891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3" name="Google Shape;933;p54"/>
            <p:cNvGrpSpPr/>
            <p:nvPr/>
          </p:nvGrpSpPr>
          <p:grpSpPr>
            <a:xfrm>
              <a:off x="1463530" y="2278745"/>
              <a:ext cx="346783" cy="324415"/>
              <a:chOff x="3752468" y="1814818"/>
              <a:chExt cx="459986" cy="430257"/>
            </a:xfrm>
          </p:grpSpPr>
          <p:sp>
            <p:nvSpPr>
              <p:cNvPr id="934" name="Google Shape;934;p54"/>
              <p:cNvSpPr/>
              <p:nvPr/>
            </p:nvSpPr>
            <p:spPr>
              <a:xfrm flipH="1">
                <a:off x="4054162" y="1893401"/>
                <a:ext cx="57448" cy="345107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10777" extrusionOk="0">
                    <a:moveTo>
                      <a:pt x="1" y="0"/>
                    </a:moveTo>
                    <a:lnTo>
                      <a:pt x="1" y="10777"/>
                    </a:lnTo>
                    <a:lnTo>
                      <a:pt x="1794" y="10777"/>
                    </a:lnTo>
                    <a:lnTo>
                      <a:pt x="17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54"/>
              <p:cNvSpPr/>
              <p:nvPr/>
            </p:nvSpPr>
            <p:spPr>
              <a:xfrm flipH="1">
                <a:off x="3953587" y="1993951"/>
                <a:ext cx="57448" cy="244556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7637" extrusionOk="0">
                    <a:moveTo>
                      <a:pt x="0" y="0"/>
                    </a:moveTo>
                    <a:lnTo>
                      <a:pt x="0" y="7637"/>
                    </a:lnTo>
                    <a:lnTo>
                      <a:pt x="1793" y="7637"/>
                    </a:lnTo>
                    <a:lnTo>
                      <a:pt x="17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54"/>
              <p:cNvSpPr/>
              <p:nvPr/>
            </p:nvSpPr>
            <p:spPr>
              <a:xfrm flipH="1">
                <a:off x="3853034" y="2094504"/>
                <a:ext cx="57448" cy="144004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4497" extrusionOk="0">
                    <a:moveTo>
                      <a:pt x="0" y="0"/>
                    </a:moveTo>
                    <a:lnTo>
                      <a:pt x="0" y="4497"/>
                    </a:lnTo>
                    <a:lnTo>
                      <a:pt x="1793" y="4497"/>
                    </a:lnTo>
                    <a:lnTo>
                      <a:pt x="17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54"/>
              <p:cNvSpPr/>
              <p:nvPr/>
            </p:nvSpPr>
            <p:spPr>
              <a:xfrm flipH="1">
                <a:off x="3877016" y="1814818"/>
                <a:ext cx="212598" cy="212854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47" extrusionOk="0">
                    <a:moveTo>
                      <a:pt x="1" y="1"/>
                    </a:moveTo>
                    <a:lnTo>
                      <a:pt x="1" y="1562"/>
                    </a:lnTo>
                    <a:lnTo>
                      <a:pt x="420" y="1562"/>
                    </a:lnTo>
                    <a:lnTo>
                      <a:pt x="420" y="723"/>
                    </a:lnTo>
                    <a:lnTo>
                      <a:pt x="6344" y="6647"/>
                    </a:lnTo>
                    <a:lnTo>
                      <a:pt x="6638" y="6344"/>
                    </a:lnTo>
                    <a:lnTo>
                      <a:pt x="714" y="420"/>
                    </a:lnTo>
                    <a:lnTo>
                      <a:pt x="1553" y="420"/>
                    </a:lnTo>
                    <a:lnTo>
                      <a:pt x="15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54"/>
              <p:cNvSpPr/>
              <p:nvPr/>
            </p:nvSpPr>
            <p:spPr>
              <a:xfrm flipH="1">
                <a:off x="3752483" y="2231626"/>
                <a:ext cx="459971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14364" h="420" extrusionOk="0">
                    <a:moveTo>
                      <a:pt x="1" y="1"/>
                    </a:moveTo>
                    <a:lnTo>
                      <a:pt x="1" y="420"/>
                    </a:lnTo>
                    <a:lnTo>
                      <a:pt x="14364" y="420"/>
                    </a:lnTo>
                    <a:lnTo>
                      <a:pt x="143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9" name="Google Shape;939;p54"/>
              <p:cNvSpPr/>
              <p:nvPr/>
            </p:nvSpPr>
            <p:spPr>
              <a:xfrm flipH="1">
                <a:off x="3752468" y="1886808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1" y="1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54"/>
              <p:cNvSpPr/>
              <p:nvPr/>
            </p:nvSpPr>
            <p:spPr>
              <a:xfrm flipH="1">
                <a:off x="3752468" y="1944256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54"/>
              <p:cNvSpPr/>
              <p:nvPr/>
            </p:nvSpPr>
            <p:spPr>
              <a:xfrm flipH="1">
                <a:off x="3752468" y="2001672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54"/>
              <p:cNvSpPr/>
              <p:nvPr/>
            </p:nvSpPr>
            <p:spPr>
              <a:xfrm flipH="1">
                <a:off x="3752468" y="2059089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54"/>
              <p:cNvSpPr/>
              <p:nvPr/>
            </p:nvSpPr>
            <p:spPr>
              <a:xfrm flipH="1">
                <a:off x="3752468" y="2116793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54"/>
              <p:cNvSpPr/>
              <p:nvPr/>
            </p:nvSpPr>
            <p:spPr>
              <a:xfrm flipH="1">
                <a:off x="3752468" y="2174210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54"/>
              <p:cNvSpPr/>
              <p:nvPr/>
            </p:nvSpPr>
            <p:spPr>
              <a:xfrm flipH="1">
                <a:off x="4076134" y="1943680"/>
                <a:ext cx="13481" cy="14602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20" y="455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54"/>
              <p:cNvSpPr/>
              <p:nvPr/>
            </p:nvSpPr>
            <p:spPr>
              <a:xfrm flipH="1">
                <a:off x="4076134" y="1915116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0"/>
                    </a:moveTo>
                    <a:lnTo>
                      <a:pt x="1" y="446"/>
                    </a:lnTo>
                    <a:lnTo>
                      <a:pt x="420" y="446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54"/>
              <p:cNvSpPr/>
              <p:nvPr/>
            </p:nvSpPr>
            <p:spPr>
              <a:xfrm flipH="1">
                <a:off x="3975584" y="2173633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1"/>
                    </a:moveTo>
                    <a:lnTo>
                      <a:pt x="1" y="447"/>
                    </a:lnTo>
                    <a:lnTo>
                      <a:pt x="420" y="447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54"/>
              <p:cNvSpPr/>
              <p:nvPr/>
            </p:nvSpPr>
            <p:spPr>
              <a:xfrm flipH="1">
                <a:off x="3975584" y="2202485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1"/>
                    </a:moveTo>
                    <a:lnTo>
                      <a:pt x="1" y="447"/>
                    </a:lnTo>
                    <a:lnTo>
                      <a:pt x="420" y="447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54"/>
              <p:cNvSpPr/>
              <p:nvPr/>
            </p:nvSpPr>
            <p:spPr>
              <a:xfrm flipH="1">
                <a:off x="3875033" y="2116217"/>
                <a:ext cx="13449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0" h="447" extrusionOk="0">
                    <a:moveTo>
                      <a:pt x="0" y="0"/>
                    </a:moveTo>
                    <a:lnTo>
                      <a:pt x="0" y="447"/>
                    </a:lnTo>
                    <a:lnTo>
                      <a:pt x="419" y="447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54"/>
              <p:cNvSpPr/>
              <p:nvPr/>
            </p:nvSpPr>
            <p:spPr>
              <a:xfrm>
                <a:off x="3860174" y="1893403"/>
                <a:ext cx="43166" cy="72018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2249" extrusionOk="0">
                    <a:moveTo>
                      <a:pt x="464" y="0"/>
                    </a:moveTo>
                    <a:lnTo>
                      <a:pt x="464" y="241"/>
                    </a:lnTo>
                    <a:lnTo>
                      <a:pt x="18" y="241"/>
                    </a:lnTo>
                    <a:lnTo>
                      <a:pt x="18" y="1338"/>
                    </a:lnTo>
                    <a:lnTo>
                      <a:pt x="910" y="1338"/>
                    </a:lnTo>
                    <a:lnTo>
                      <a:pt x="910" y="1588"/>
                    </a:lnTo>
                    <a:lnTo>
                      <a:pt x="0" y="1588"/>
                    </a:lnTo>
                    <a:lnTo>
                      <a:pt x="0" y="2007"/>
                    </a:lnTo>
                    <a:lnTo>
                      <a:pt x="464" y="2007"/>
                    </a:lnTo>
                    <a:lnTo>
                      <a:pt x="464" y="2248"/>
                    </a:lnTo>
                    <a:lnTo>
                      <a:pt x="883" y="2248"/>
                    </a:lnTo>
                    <a:lnTo>
                      <a:pt x="883" y="2007"/>
                    </a:lnTo>
                    <a:lnTo>
                      <a:pt x="1330" y="2007"/>
                    </a:lnTo>
                    <a:lnTo>
                      <a:pt x="1330" y="910"/>
                    </a:lnTo>
                    <a:lnTo>
                      <a:pt x="437" y="910"/>
                    </a:lnTo>
                    <a:lnTo>
                      <a:pt x="437" y="660"/>
                    </a:lnTo>
                    <a:lnTo>
                      <a:pt x="1347" y="660"/>
                    </a:lnTo>
                    <a:lnTo>
                      <a:pt x="1347" y="241"/>
                    </a:lnTo>
                    <a:lnTo>
                      <a:pt x="883" y="241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32" name="Google Shape;932;p54"/>
            <p:cNvSpPr/>
            <p:nvPr/>
          </p:nvSpPr>
          <p:spPr>
            <a:xfrm>
              <a:off x="1376379" y="2175380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1513"/>
              </p:ext>
            </p:extLst>
          </p:nvPr>
        </p:nvGraphicFramePr>
        <p:xfrm>
          <a:off x="2813092" y="1273383"/>
          <a:ext cx="4180515" cy="3328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1" name="Google Shape;1820;p67">
            <a:extLst>
              <a:ext uri="{FF2B5EF4-FFF2-40B4-BE49-F238E27FC236}">
                <a16:creationId xmlns:a16="http://schemas.microsoft.com/office/drawing/2014/main" id="{D074B433-11A2-80B3-BFE4-9C72F43B0541}"/>
              </a:ext>
            </a:extLst>
          </p:cNvPr>
          <p:cNvGrpSpPr/>
          <p:nvPr/>
        </p:nvGrpSpPr>
        <p:grpSpPr>
          <a:xfrm>
            <a:off x="516400" y="2631635"/>
            <a:ext cx="340784" cy="263672"/>
            <a:chOff x="4836003" y="2385176"/>
            <a:chExt cx="459971" cy="401690"/>
          </a:xfrm>
        </p:grpSpPr>
        <p:sp>
          <p:nvSpPr>
            <p:cNvPr id="12" name="Google Shape;1821;p67">
              <a:extLst>
                <a:ext uri="{FF2B5EF4-FFF2-40B4-BE49-F238E27FC236}">
                  <a16:creationId xmlns:a16="http://schemas.microsoft.com/office/drawing/2014/main" id="{3105ED9B-CD16-B73B-B364-E173FFE1F8D1}"/>
                </a:ext>
              </a:extLst>
            </p:cNvPr>
            <p:cNvSpPr/>
            <p:nvPr/>
          </p:nvSpPr>
          <p:spPr>
            <a:xfrm>
              <a:off x="5022822" y="2542887"/>
              <a:ext cx="86301" cy="86301"/>
            </a:xfrm>
            <a:custGeom>
              <a:avLst/>
              <a:gdLst/>
              <a:ahLst/>
              <a:cxnLst/>
              <a:rect l="l" t="t" r="r" b="b"/>
              <a:pathLst>
                <a:path w="2695" h="2695" extrusionOk="0">
                  <a:moveTo>
                    <a:pt x="1348" y="0"/>
                  </a:moveTo>
                  <a:cubicBezTo>
                    <a:pt x="607" y="0"/>
                    <a:pt x="1" y="607"/>
                    <a:pt x="1" y="1347"/>
                  </a:cubicBezTo>
                  <a:cubicBezTo>
                    <a:pt x="1" y="2088"/>
                    <a:pt x="607" y="2694"/>
                    <a:pt x="1348" y="2694"/>
                  </a:cubicBezTo>
                  <a:cubicBezTo>
                    <a:pt x="2088" y="2694"/>
                    <a:pt x="2695" y="2088"/>
                    <a:pt x="2695" y="1347"/>
                  </a:cubicBezTo>
                  <a:cubicBezTo>
                    <a:pt x="2695" y="607"/>
                    <a:pt x="2088" y="0"/>
                    <a:pt x="1348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22;p67">
              <a:extLst>
                <a:ext uri="{FF2B5EF4-FFF2-40B4-BE49-F238E27FC236}">
                  <a16:creationId xmlns:a16="http://schemas.microsoft.com/office/drawing/2014/main" id="{77DFE350-12F2-2E83-90C4-A3392294F9F3}"/>
                </a:ext>
              </a:extLst>
            </p:cNvPr>
            <p:cNvSpPr/>
            <p:nvPr/>
          </p:nvSpPr>
          <p:spPr>
            <a:xfrm>
              <a:off x="4871996" y="2442336"/>
              <a:ext cx="387985" cy="294255"/>
            </a:xfrm>
            <a:custGeom>
              <a:avLst/>
              <a:gdLst/>
              <a:ahLst/>
              <a:cxnLst/>
              <a:rect l="l" t="t" r="r" b="b"/>
              <a:pathLst>
                <a:path w="12116" h="9189" extrusionOk="0">
                  <a:moveTo>
                    <a:pt x="6058" y="2453"/>
                  </a:moveTo>
                  <a:cubicBezTo>
                    <a:pt x="7182" y="2453"/>
                    <a:pt x="8092" y="3363"/>
                    <a:pt x="8092" y="4487"/>
                  </a:cubicBezTo>
                  <a:cubicBezTo>
                    <a:pt x="8092" y="5611"/>
                    <a:pt x="7182" y="6521"/>
                    <a:pt x="6058" y="6521"/>
                  </a:cubicBezTo>
                  <a:cubicBezTo>
                    <a:pt x="4934" y="6521"/>
                    <a:pt x="4024" y="5611"/>
                    <a:pt x="4024" y="4487"/>
                  </a:cubicBezTo>
                  <a:cubicBezTo>
                    <a:pt x="4024" y="3363"/>
                    <a:pt x="4934" y="2453"/>
                    <a:pt x="6058" y="2453"/>
                  </a:cubicBezTo>
                  <a:close/>
                  <a:moveTo>
                    <a:pt x="1356" y="0"/>
                  </a:moveTo>
                  <a:lnTo>
                    <a:pt x="1356" y="2453"/>
                  </a:lnTo>
                  <a:lnTo>
                    <a:pt x="4051" y="2453"/>
                  </a:lnTo>
                  <a:lnTo>
                    <a:pt x="4051" y="3078"/>
                  </a:lnTo>
                  <a:cubicBezTo>
                    <a:pt x="3988" y="3167"/>
                    <a:pt x="3926" y="3274"/>
                    <a:pt x="3872" y="3381"/>
                  </a:cubicBezTo>
                  <a:lnTo>
                    <a:pt x="0" y="3381"/>
                  </a:lnTo>
                  <a:lnTo>
                    <a:pt x="0" y="3800"/>
                  </a:lnTo>
                  <a:lnTo>
                    <a:pt x="3703" y="3800"/>
                  </a:lnTo>
                  <a:cubicBezTo>
                    <a:pt x="3640" y="4015"/>
                    <a:pt x="3604" y="4246"/>
                    <a:pt x="3604" y="4487"/>
                  </a:cubicBezTo>
                  <a:cubicBezTo>
                    <a:pt x="3604" y="4808"/>
                    <a:pt x="3667" y="5121"/>
                    <a:pt x="3783" y="5397"/>
                  </a:cubicBezTo>
                  <a:lnTo>
                    <a:pt x="1794" y="5397"/>
                  </a:lnTo>
                  <a:lnTo>
                    <a:pt x="1794" y="5817"/>
                  </a:lnTo>
                  <a:lnTo>
                    <a:pt x="3997" y="5817"/>
                  </a:lnTo>
                  <a:cubicBezTo>
                    <a:pt x="4238" y="6182"/>
                    <a:pt x="4559" y="6477"/>
                    <a:pt x="4952" y="6673"/>
                  </a:cubicBezTo>
                  <a:lnTo>
                    <a:pt x="4952" y="8760"/>
                  </a:lnTo>
                  <a:lnTo>
                    <a:pt x="3364" y="8760"/>
                  </a:lnTo>
                  <a:lnTo>
                    <a:pt x="3364" y="9189"/>
                  </a:lnTo>
                  <a:lnTo>
                    <a:pt x="5371" y="9189"/>
                  </a:lnTo>
                  <a:lnTo>
                    <a:pt x="5371" y="6842"/>
                  </a:lnTo>
                  <a:cubicBezTo>
                    <a:pt x="5585" y="6905"/>
                    <a:pt x="5817" y="6941"/>
                    <a:pt x="6058" y="6941"/>
                  </a:cubicBezTo>
                  <a:cubicBezTo>
                    <a:pt x="6468" y="6941"/>
                    <a:pt x="6852" y="6842"/>
                    <a:pt x="7191" y="6664"/>
                  </a:cubicBezTo>
                  <a:lnTo>
                    <a:pt x="7191" y="8957"/>
                  </a:lnTo>
                  <a:lnTo>
                    <a:pt x="8752" y="8957"/>
                  </a:lnTo>
                  <a:lnTo>
                    <a:pt x="8752" y="8537"/>
                  </a:lnTo>
                  <a:lnTo>
                    <a:pt x="7619" y="8537"/>
                  </a:lnTo>
                  <a:lnTo>
                    <a:pt x="7619" y="6387"/>
                  </a:lnTo>
                  <a:cubicBezTo>
                    <a:pt x="7940" y="6120"/>
                    <a:pt x="8190" y="5772"/>
                    <a:pt x="8350" y="5370"/>
                  </a:cubicBezTo>
                  <a:lnTo>
                    <a:pt x="10081" y="5370"/>
                  </a:lnTo>
                  <a:lnTo>
                    <a:pt x="10081" y="3577"/>
                  </a:lnTo>
                  <a:lnTo>
                    <a:pt x="12115" y="3577"/>
                  </a:lnTo>
                  <a:lnTo>
                    <a:pt x="12115" y="3158"/>
                  </a:lnTo>
                  <a:lnTo>
                    <a:pt x="9662" y="3158"/>
                  </a:lnTo>
                  <a:lnTo>
                    <a:pt x="9662" y="4951"/>
                  </a:lnTo>
                  <a:lnTo>
                    <a:pt x="8466" y="4951"/>
                  </a:lnTo>
                  <a:cubicBezTo>
                    <a:pt x="8493" y="4800"/>
                    <a:pt x="8511" y="4648"/>
                    <a:pt x="8511" y="4487"/>
                  </a:cubicBezTo>
                  <a:cubicBezTo>
                    <a:pt x="8511" y="3203"/>
                    <a:pt x="7521" y="2150"/>
                    <a:pt x="6272" y="2043"/>
                  </a:cubicBezTo>
                  <a:lnTo>
                    <a:pt x="6272" y="437"/>
                  </a:lnTo>
                  <a:lnTo>
                    <a:pt x="9644" y="437"/>
                  </a:lnTo>
                  <a:lnTo>
                    <a:pt x="9644" y="18"/>
                  </a:lnTo>
                  <a:lnTo>
                    <a:pt x="5844" y="18"/>
                  </a:lnTo>
                  <a:lnTo>
                    <a:pt x="5844" y="2043"/>
                  </a:lnTo>
                  <a:cubicBezTo>
                    <a:pt x="5326" y="2088"/>
                    <a:pt x="4853" y="2293"/>
                    <a:pt x="4470" y="2614"/>
                  </a:cubicBezTo>
                  <a:lnTo>
                    <a:pt x="4470" y="2034"/>
                  </a:lnTo>
                  <a:lnTo>
                    <a:pt x="1785" y="20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ysClr val="windowText" lastClr="000000"/>
                </a:solidFill>
                <a:highlight>
                  <a:srgbClr val="0000FF"/>
                </a:highlight>
              </a:endParaRPr>
            </a:p>
          </p:txBody>
        </p:sp>
        <p:sp>
          <p:nvSpPr>
            <p:cNvPr id="14" name="Google Shape;1823;p67">
              <a:extLst>
                <a:ext uri="{FF2B5EF4-FFF2-40B4-BE49-F238E27FC236}">
                  <a16:creationId xmlns:a16="http://schemas.microsoft.com/office/drawing/2014/main" id="{C051FEF2-C020-C3F6-D6A9-590C41E517E8}"/>
                </a:ext>
              </a:extLst>
            </p:cNvPr>
            <p:cNvSpPr/>
            <p:nvPr/>
          </p:nvSpPr>
          <p:spPr>
            <a:xfrm>
              <a:off x="4979688" y="2773417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824;p67">
              <a:extLst>
                <a:ext uri="{FF2B5EF4-FFF2-40B4-BE49-F238E27FC236}">
                  <a16:creationId xmlns:a16="http://schemas.microsoft.com/office/drawing/2014/main" id="{7D220198-BEDA-F83F-247A-9BDF430D036E}"/>
                </a:ext>
              </a:extLst>
            </p:cNvPr>
            <p:cNvSpPr/>
            <p:nvPr/>
          </p:nvSpPr>
          <p:spPr>
            <a:xfrm>
              <a:off x="5008540" y="277341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25;p67">
              <a:extLst>
                <a:ext uri="{FF2B5EF4-FFF2-40B4-BE49-F238E27FC236}">
                  <a16:creationId xmlns:a16="http://schemas.microsoft.com/office/drawing/2014/main" id="{1A12A683-D525-9D54-93F5-2F9A220A6A01}"/>
                </a:ext>
              </a:extLst>
            </p:cNvPr>
            <p:cNvSpPr/>
            <p:nvPr/>
          </p:nvSpPr>
          <p:spPr>
            <a:xfrm>
              <a:off x="5037104" y="2773417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826;p67">
              <a:extLst>
                <a:ext uri="{FF2B5EF4-FFF2-40B4-BE49-F238E27FC236}">
                  <a16:creationId xmlns:a16="http://schemas.microsoft.com/office/drawing/2014/main" id="{6B6E8F53-4098-6255-8195-B06244434982}"/>
                </a:ext>
              </a:extLst>
            </p:cNvPr>
            <p:cNvSpPr/>
            <p:nvPr/>
          </p:nvSpPr>
          <p:spPr>
            <a:xfrm>
              <a:off x="5080238" y="2385176"/>
              <a:ext cx="14602" cy="13770"/>
            </a:xfrm>
            <a:custGeom>
              <a:avLst/>
              <a:gdLst/>
              <a:ahLst/>
              <a:cxnLst/>
              <a:rect l="l" t="t" r="r" b="b"/>
              <a:pathLst>
                <a:path w="456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56" y="429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27;p67">
              <a:extLst>
                <a:ext uri="{FF2B5EF4-FFF2-40B4-BE49-F238E27FC236}">
                  <a16:creationId xmlns:a16="http://schemas.microsoft.com/office/drawing/2014/main" id="{6286700F-5B63-4738-D16C-810C4F90C44F}"/>
                </a:ext>
              </a:extLst>
            </p:cNvPr>
            <p:cNvSpPr/>
            <p:nvPr/>
          </p:nvSpPr>
          <p:spPr>
            <a:xfrm>
              <a:off x="5109091" y="2385176"/>
              <a:ext cx="14314" cy="13770"/>
            </a:xfrm>
            <a:custGeom>
              <a:avLst/>
              <a:gdLst/>
              <a:ahLst/>
              <a:cxnLst/>
              <a:rect l="l" t="t" r="r" b="b"/>
              <a:pathLst>
                <a:path w="447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28;p67">
              <a:extLst>
                <a:ext uri="{FF2B5EF4-FFF2-40B4-BE49-F238E27FC236}">
                  <a16:creationId xmlns:a16="http://schemas.microsoft.com/office/drawing/2014/main" id="{2C7A4499-172D-8B3B-11DC-584BD0437674}"/>
                </a:ext>
              </a:extLst>
            </p:cNvPr>
            <p:cNvSpPr/>
            <p:nvPr/>
          </p:nvSpPr>
          <p:spPr>
            <a:xfrm>
              <a:off x="5137943" y="2385176"/>
              <a:ext cx="14314" cy="13770"/>
            </a:xfrm>
            <a:custGeom>
              <a:avLst/>
              <a:gdLst/>
              <a:ahLst/>
              <a:cxnLst/>
              <a:rect l="l" t="t" r="r" b="b"/>
              <a:pathLst>
                <a:path w="447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829;p67">
              <a:extLst>
                <a:ext uri="{FF2B5EF4-FFF2-40B4-BE49-F238E27FC236}">
                  <a16:creationId xmlns:a16="http://schemas.microsoft.com/office/drawing/2014/main" id="{8A65EE86-E1A6-31C4-3F82-21862B81063B}"/>
                </a:ext>
              </a:extLst>
            </p:cNvPr>
            <p:cNvSpPr/>
            <p:nvPr/>
          </p:nvSpPr>
          <p:spPr>
            <a:xfrm>
              <a:off x="4836003" y="2535746"/>
              <a:ext cx="43166" cy="43166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78" y="0"/>
                  </a:moveTo>
                  <a:cubicBezTo>
                    <a:pt x="304" y="0"/>
                    <a:pt x="0" y="304"/>
                    <a:pt x="0" y="669"/>
                  </a:cubicBezTo>
                  <a:cubicBezTo>
                    <a:pt x="0" y="1044"/>
                    <a:pt x="304" y="1347"/>
                    <a:pt x="678" y="1347"/>
                  </a:cubicBezTo>
                  <a:cubicBezTo>
                    <a:pt x="1044" y="1347"/>
                    <a:pt x="1347" y="1044"/>
                    <a:pt x="1347" y="669"/>
                  </a:cubicBezTo>
                  <a:cubicBezTo>
                    <a:pt x="1347" y="304"/>
                    <a:pt x="1044" y="0"/>
                    <a:pt x="678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30;p67">
              <a:extLst>
                <a:ext uri="{FF2B5EF4-FFF2-40B4-BE49-F238E27FC236}">
                  <a16:creationId xmlns:a16="http://schemas.microsoft.com/office/drawing/2014/main" id="{0DF97161-6CA7-A37F-7B5C-0345D6BC67DE}"/>
                </a:ext>
              </a:extLst>
            </p:cNvPr>
            <p:cNvSpPr/>
            <p:nvPr/>
          </p:nvSpPr>
          <p:spPr>
            <a:xfrm>
              <a:off x="4893419" y="2600303"/>
              <a:ext cx="43166" cy="43166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78" y="0"/>
                  </a:moveTo>
                  <a:cubicBezTo>
                    <a:pt x="304" y="0"/>
                    <a:pt x="0" y="304"/>
                    <a:pt x="0" y="678"/>
                  </a:cubicBezTo>
                  <a:cubicBezTo>
                    <a:pt x="0" y="1044"/>
                    <a:pt x="304" y="1347"/>
                    <a:pt x="678" y="1347"/>
                  </a:cubicBezTo>
                  <a:cubicBezTo>
                    <a:pt x="1053" y="1347"/>
                    <a:pt x="1348" y="1044"/>
                    <a:pt x="1348" y="678"/>
                  </a:cubicBezTo>
                  <a:cubicBezTo>
                    <a:pt x="1348" y="304"/>
                    <a:pt x="1053" y="0"/>
                    <a:pt x="678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31;p67">
              <a:extLst>
                <a:ext uri="{FF2B5EF4-FFF2-40B4-BE49-F238E27FC236}">
                  <a16:creationId xmlns:a16="http://schemas.microsoft.com/office/drawing/2014/main" id="{D4FA3442-BFAD-BC7A-FA1A-716268CD151F}"/>
                </a:ext>
              </a:extLst>
            </p:cNvPr>
            <p:cNvSpPr/>
            <p:nvPr/>
          </p:nvSpPr>
          <p:spPr>
            <a:xfrm>
              <a:off x="4943694" y="2708283"/>
              <a:ext cx="43166" cy="42878"/>
            </a:xfrm>
            <a:custGeom>
              <a:avLst/>
              <a:gdLst/>
              <a:ahLst/>
              <a:cxnLst/>
              <a:rect l="l" t="t" r="r" b="b"/>
              <a:pathLst>
                <a:path w="1348" h="1339" extrusionOk="0">
                  <a:moveTo>
                    <a:pt x="679" y="0"/>
                  </a:moveTo>
                  <a:cubicBezTo>
                    <a:pt x="304" y="0"/>
                    <a:pt x="1" y="295"/>
                    <a:pt x="1" y="670"/>
                  </a:cubicBezTo>
                  <a:cubicBezTo>
                    <a:pt x="1" y="1044"/>
                    <a:pt x="304" y="1339"/>
                    <a:pt x="679" y="1339"/>
                  </a:cubicBezTo>
                  <a:cubicBezTo>
                    <a:pt x="1053" y="1339"/>
                    <a:pt x="1348" y="1044"/>
                    <a:pt x="1348" y="670"/>
                  </a:cubicBezTo>
                  <a:cubicBezTo>
                    <a:pt x="1348" y="295"/>
                    <a:pt x="1053" y="0"/>
                    <a:pt x="679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32;p67">
              <a:extLst>
                <a:ext uri="{FF2B5EF4-FFF2-40B4-BE49-F238E27FC236}">
                  <a16:creationId xmlns:a16="http://schemas.microsoft.com/office/drawing/2014/main" id="{A26D12FC-D32F-6948-5C81-7D77BD7F1E1F}"/>
                </a:ext>
              </a:extLst>
            </p:cNvPr>
            <p:cNvSpPr/>
            <p:nvPr/>
          </p:nvSpPr>
          <p:spPr>
            <a:xfrm>
              <a:off x="5145084" y="2700854"/>
              <a:ext cx="43166" cy="43166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70" y="1"/>
                  </a:moveTo>
                  <a:cubicBezTo>
                    <a:pt x="295" y="1"/>
                    <a:pt x="1" y="304"/>
                    <a:pt x="1" y="679"/>
                  </a:cubicBezTo>
                  <a:cubicBezTo>
                    <a:pt x="1" y="1053"/>
                    <a:pt x="295" y="1348"/>
                    <a:pt x="670" y="1348"/>
                  </a:cubicBezTo>
                  <a:cubicBezTo>
                    <a:pt x="1045" y="1348"/>
                    <a:pt x="1348" y="1053"/>
                    <a:pt x="1348" y="679"/>
                  </a:cubicBezTo>
                  <a:cubicBezTo>
                    <a:pt x="1348" y="304"/>
                    <a:pt x="1045" y="1"/>
                    <a:pt x="670" y="1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33;p67">
              <a:extLst>
                <a:ext uri="{FF2B5EF4-FFF2-40B4-BE49-F238E27FC236}">
                  <a16:creationId xmlns:a16="http://schemas.microsoft.com/office/drawing/2014/main" id="{3A9EB639-28FF-087E-B7B8-FD264A1E51C4}"/>
                </a:ext>
              </a:extLst>
            </p:cNvPr>
            <p:cNvSpPr/>
            <p:nvPr/>
          </p:nvSpPr>
          <p:spPr>
            <a:xfrm>
              <a:off x="5252808" y="2528605"/>
              <a:ext cx="43166" cy="43166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69" y="0"/>
                  </a:moveTo>
                  <a:cubicBezTo>
                    <a:pt x="303" y="0"/>
                    <a:pt x="0" y="304"/>
                    <a:pt x="0" y="669"/>
                  </a:cubicBezTo>
                  <a:cubicBezTo>
                    <a:pt x="0" y="1044"/>
                    <a:pt x="303" y="1347"/>
                    <a:pt x="669" y="1347"/>
                  </a:cubicBezTo>
                  <a:cubicBezTo>
                    <a:pt x="1044" y="1347"/>
                    <a:pt x="1347" y="1044"/>
                    <a:pt x="1347" y="669"/>
                  </a:cubicBezTo>
                  <a:cubicBezTo>
                    <a:pt x="1347" y="304"/>
                    <a:pt x="1044" y="0"/>
                    <a:pt x="669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34;p67">
              <a:extLst>
                <a:ext uri="{FF2B5EF4-FFF2-40B4-BE49-F238E27FC236}">
                  <a16:creationId xmlns:a16="http://schemas.microsoft.com/office/drawing/2014/main" id="{287EAAF7-9C06-8C59-FB32-4037E45A97DF}"/>
                </a:ext>
              </a:extLst>
            </p:cNvPr>
            <p:cNvSpPr/>
            <p:nvPr/>
          </p:nvSpPr>
          <p:spPr>
            <a:xfrm>
              <a:off x="5173680" y="2428054"/>
              <a:ext cx="43166" cy="43166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78" y="0"/>
                  </a:moveTo>
                  <a:cubicBezTo>
                    <a:pt x="303" y="0"/>
                    <a:pt x="0" y="294"/>
                    <a:pt x="0" y="669"/>
                  </a:cubicBezTo>
                  <a:cubicBezTo>
                    <a:pt x="0" y="1044"/>
                    <a:pt x="303" y="1347"/>
                    <a:pt x="678" y="1347"/>
                  </a:cubicBezTo>
                  <a:cubicBezTo>
                    <a:pt x="1044" y="1347"/>
                    <a:pt x="1347" y="1044"/>
                    <a:pt x="1347" y="669"/>
                  </a:cubicBezTo>
                  <a:cubicBezTo>
                    <a:pt x="1347" y="294"/>
                    <a:pt x="1044" y="0"/>
                    <a:pt x="678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35;p67">
              <a:extLst>
                <a:ext uri="{FF2B5EF4-FFF2-40B4-BE49-F238E27FC236}">
                  <a16:creationId xmlns:a16="http://schemas.microsoft.com/office/drawing/2014/main" id="{7593E4C3-3B5A-E0A4-B637-03AF65FC9B9D}"/>
                </a:ext>
              </a:extLst>
            </p:cNvPr>
            <p:cNvSpPr/>
            <p:nvPr/>
          </p:nvSpPr>
          <p:spPr>
            <a:xfrm>
              <a:off x="4900848" y="2406343"/>
              <a:ext cx="42878" cy="43166"/>
            </a:xfrm>
            <a:custGeom>
              <a:avLst/>
              <a:gdLst/>
              <a:ahLst/>
              <a:cxnLst/>
              <a:rect l="l" t="t" r="r" b="b"/>
              <a:pathLst>
                <a:path w="1339" h="1348" extrusionOk="0">
                  <a:moveTo>
                    <a:pt x="669" y="0"/>
                  </a:moveTo>
                  <a:cubicBezTo>
                    <a:pt x="295" y="0"/>
                    <a:pt x="0" y="303"/>
                    <a:pt x="0" y="678"/>
                  </a:cubicBezTo>
                  <a:cubicBezTo>
                    <a:pt x="0" y="1044"/>
                    <a:pt x="295" y="1347"/>
                    <a:pt x="669" y="1347"/>
                  </a:cubicBezTo>
                  <a:cubicBezTo>
                    <a:pt x="1044" y="1347"/>
                    <a:pt x="1339" y="1044"/>
                    <a:pt x="1339" y="678"/>
                  </a:cubicBezTo>
                  <a:cubicBezTo>
                    <a:pt x="1339" y="303"/>
                    <a:pt x="1044" y="0"/>
                    <a:pt x="669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1650;p67">
            <a:extLst>
              <a:ext uri="{FF2B5EF4-FFF2-40B4-BE49-F238E27FC236}">
                <a16:creationId xmlns:a16="http://schemas.microsoft.com/office/drawing/2014/main" id="{D4CE8309-51AE-AF4D-1E4D-8C6C1227EB36}"/>
              </a:ext>
            </a:extLst>
          </p:cNvPr>
          <p:cNvGrpSpPr/>
          <p:nvPr/>
        </p:nvGrpSpPr>
        <p:grpSpPr>
          <a:xfrm>
            <a:off x="445440" y="1657043"/>
            <a:ext cx="248995" cy="344775"/>
            <a:chOff x="4859411" y="3309057"/>
            <a:chExt cx="412258" cy="459683"/>
          </a:xfrm>
        </p:grpSpPr>
        <p:sp>
          <p:nvSpPr>
            <p:cNvPr id="28" name="Google Shape;1651;p67">
              <a:extLst>
                <a:ext uri="{FF2B5EF4-FFF2-40B4-BE49-F238E27FC236}">
                  <a16:creationId xmlns:a16="http://schemas.microsoft.com/office/drawing/2014/main" id="{6D0DCB5A-5F4E-A882-3A92-5B1C75B88598}"/>
                </a:ext>
              </a:extLst>
            </p:cNvPr>
            <p:cNvSpPr/>
            <p:nvPr/>
          </p:nvSpPr>
          <p:spPr>
            <a:xfrm>
              <a:off x="4986541" y="3510447"/>
              <a:ext cx="28596" cy="28596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52;p67">
              <a:extLst>
                <a:ext uri="{FF2B5EF4-FFF2-40B4-BE49-F238E27FC236}">
                  <a16:creationId xmlns:a16="http://schemas.microsoft.com/office/drawing/2014/main" id="{4C52A59F-7E67-83C6-3A4E-72C20A13BD50}"/>
                </a:ext>
              </a:extLst>
            </p:cNvPr>
            <p:cNvSpPr/>
            <p:nvPr/>
          </p:nvSpPr>
          <p:spPr>
            <a:xfrm>
              <a:off x="5115943" y="3510447"/>
              <a:ext cx="28628" cy="28596"/>
            </a:xfrm>
            <a:custGeom>
              <a:avLst/>
              <a:gdLst/>
              <a:ahLst/>
              <a:cxnLst/>
              <a:rect l="l" t="t" r="r" b="b"/>
              <a:pathLst>
                <a:path w="894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53;p67">
              <a:extLst>
                <a:ext uri="{FF2B5EF4-FFF2-40B4-BE49-F238E27FC236}">
                  <a16:creationId xmlns:a16="http://schemas.microsoft.com/office/drawing/2014/main" id="{7C1ABF23-618D-7FDE-E4AB-069B1099AFB0}"/>
                </a:ext>
              </a:extLst>
            </p:cNvPr>
            <p:cNvSpPr/>
            <p:nvPr/>
          </p:nvSpPr>
          <p:spPr>
            <a:xfrm>
              <a:off x="5051098" y="3510447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54;p67">
              <a:extLst>
                <a:ext uri="{FF2B5EF4-FFF2-40B4-BE49-F238E27FC236}">
                  <a16:creationId xmlns:a16="http://schemas.microsoft.com/office/drawing/2014/main" id="{780C3446-C8BA-2DA5-3656-B38C81ED730F}"/>
                </a:ext>
              </a:extLst>
            </p:cNvPr>
            <p:cNvSpPr/>
            <p:nvPr/>
          </p:nvSpPr>
          <p:spPr>
            <a:xfrm>
              <a:off x="5051098" y="3575004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55;p67">
              <a:extLst>
                <a:ext uri="{FF2B5EF4-FFF2-40B4-BE49-F238E27FC236}">
                  <a16:creationId xmlns:a16="http://schemas.microsoft.com/office/drawing/2014/main" id="{3EC2368D-98BF-8B75-E56B-E949165DA242}"/>
                </a:ext>
              </a:extLst>
            </p:cNvPr>
            <p:cNvSpPr/>
            <p:nvPr/>
          </p:nvSpPr>
          <p:spPr>
            <a:xfrm>
              <a:off x="5051098" y="3639850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56;p67">
              <a:extLst>
                <a:ext uri="{FF2B5EF4-FFF2-40B4-BE49-F238E27FC236}">
                  <a16:creationId xmlns:a16="http://schemas.microsoft.com/office/drawing/2014/main" id="{A8D60C83-303C-0C8A-B3F3-39854C3B0C5A}"/>
                </a:ext>
              </a:extLst>
            </p:cNvPr>
            <p:cNvSpPr/>
            <p:nvPr/>
          </p:nvSpPr>
          <p:spPr>
            <a:xfrm>
              <a:off x="4986541" y="3510447"/>
              <a:ext cx="28596" cy="28596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57;p67">
              <a:extLst>
                <a:ext uri="{FF2B5EF4-FFF2-40B4-BE49-F238E27FC236}">
                  <a16:creationId xmlns:a16="http://schemas.microsoft.com/office/drawing/2014/main" id="{0E1A7A8F-9796-51EF-79F7-3C0A0D44AFFB}"/>
                </a:ext>
              </a:extLst>
            </p:cNvPr>
            <p:cNvSpPr/>
            <p:nvPr/>
          </p:nvSpPr>
          <p:spPr>
            <a:xfrm>
              <a:off x="5115943" y="3510447"/>
              <a:ext cx="28628" cy="28596"/>
            </a:xfrm>
            <a:custGeom>
              <a:avLst/>
              <a:gdLst/>
              <a:ahLst/>
              <a:cxnLst/>
              <a:rect l="l" t="t" r="r" b="b"/>
              <a:pathLst>
                <a:path w="894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58;p67">
              <a:extLst>
                <a:ext uri="{FF2B5EF4-FFF2-40B4-BE49-F238E27FC236}">
                  <a16:creationId xmlns:a16="http://schemas.microsoft.com/office/drawing/2014/main" id="{9B4729AC-EB68-DFC6-088D-15DEEF4380B9}"/>
                </a:ext>
              </a:extLst>
            </p:cNvPr>
            <p:cNvSpPr/>
            <p:nvPr/>
          </p:nvSpPr>
          <p:spPr>
            <a:xfrm>
              <a:off x="5051098" y="3510447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59;p67">
              <a:extLst>
                <a:ext uri="{FF2B5EF4-FFF2-40B4-BE49-F238E27FC236}">
                  <a16:creationId xmlns:a16="http://schemas.microsoft.com/office/drawing/2014/main" id="{748CF14C-A839-BBF3-CCE5-D9C5D9612D35}"/>
                </a:ext>
              </a:extLst>
            </p:cNvPr>
            <p:cNvSpPr/>
            <p:nvPr/>
          </p:nvSpPr>
          <p:spPr>
            <a:xfrm>
              <a:off x="5051098" y="3575004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60;p67">
              <a:extLst>
                <a:ext uri="{FF2B5EF4-FFF2-40B4-BE49-F238E27FC236}">
                  <a16:creationId xmlns:a16="http://schemas.microsoft.com/office/drawing/2014/main" id="{67E61498-EC1D-5EA5-AE0A-2A54A2F4E0CC}"/>
                </a:ext>
              </a:extLst>
            </p:cNvPr>
            <p:cNvSpPr/>
            <p:nvPr/>
          </p:nvSpPr>
          <p:spPr>
            <a:xfrm>
              <a:off x="5051098" y="3639850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61;p67">
              <a:extLst>
                <a:ext uri="{FF2B5EF4-FFF2-40B4-BE49-F238E27FC236}">
                  <a16:creationId xmlns:a16="http://schemas.microsoft.com/office/drawing/2014/main" id="{AB2E81EA-A451-1228-1BE0-042A75974693}"/>
                </a:ext>
              </a:extLst>
            </p:cNvPr>
            <p:cNvSpPr/>
            <p:nvPr/>
          </p:nvSpPr>
          <p:spPr>
            <a:xfrm>
              <a:off x="5051098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1" y="1"/>
                  </a:moveTo>
                  <a:lnTo>
                    <a:pt x="1" y="1348"/>
                  </a:lnTo>
                  <a:lnTo>
                    <a:pt x="902" y="1348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62;p67">
              <a:extLst>
                <a:ext uri="{FF2B5EF4-FFF2-40B4-BE49-F238E27FC236}">
                  <a16:creationId xmlns:a16="http://schemas.microsoft.com/office/drawing/2014/main" id="{59DD420A-9AEE-5526-FCCF-B25DB50F1C69}"/>
                </a:ext>
              </a:extLst>
            </p:cNvPr>
            <p:cNvSpPr/>
            <p:nvPr/>
          </p:nvSpPr>
          <p:spPr>
            <a:xfrm>
              <a:off x="5144540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63;p67">
              <a:extLst>
                <a:ext uri="{FF2B5EF4-FFF2-40B4-BE49-F238E27FC236}">
                  <a16:creationId xmlns:a16="http://schemas.microsoft.com/office/drawing/2014/main" id="{748BF032-0399-5E52-913D-8E2B65C703F9}"/>
                </a:ext>
              </a:extLst>
            </p:cNvPr>
            <p:cNvSpPr/>
            <p:nvPr/>
          </p:nvSpPr>
          <p:spPr>
            <a:xfrm>
              <a:off x="5144540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64;p67">
              <a:extLst>
                <a:ext uri="{FF2B5EF4-FFF2-40B4-BE49-F238E27FC236}">
                  <a16:creationId xmlns:a16="http://schemas.microsoft.com/office/drawing/2014/main" id="{38C99C0D-9429-7BAF-997E-DFC636249E16}"/>
                </a:ext>
              </a:extLst>
            </p:cNvPr>
            <p:cNvSpPr/>
            <p:nvPr/>
          </p:nvSpPr>
          <p:spPr>
            <a:xfrm>
              <a:off x="5144540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65;p67">
              <a:extLst>
                <a:ext uri="{FF2B5EF4-FFF2-40B4-BE49-F238E27FC236}">
                  <a16:creationId xmlns:a16="http://schemas.microsoft.com/office/drawing/2014/main" id="{C8081105-6D19-D186-5F41-ED5BB4C127FD}"/>
                </a:ext>
              </a:extLst>
            </p:cNvPr>
            <p:cNvSpPr/>
            <p:nvPr/>
          </p:nvSpPr>
          <p:spPr>
            <a:xfrm>
              <a:off x="5144540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66;p67">
              <a:extLst>
                <a:ext uri="{FF2B5EF4-FFF2-40B4-BE49-F238E27FC236}">
                  <a16:creationId xmlns:a16="http://schemas.microsoft.com/office/drawing/2014/main" id="{517E3AA1-C51D-FE3E-D7D2-D1D0F9B6E81A}"/>
                </a:ext>
              </a:extLst>
            </p:cNvPr>
            <p:cNvSpPr/>
            <p:nvPr/>
          </p:nvSpPr>
          <p:spPr>
            <a:xfrm>
              <a:off x="520224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67;p67">
              <a:extLst>
                <a:ext uri="{FF2B5EF4-FFF2-40B4-BE49-F238E27FC236}">
                  <a16:creationId xmlns:a16="http://schemas.microsoft.com/office/drawing/2014/main" id="{2E46A4C7-708D-1F8F-B95B-EF5A73DB271E}"/>
                </a:ext>
              </a:extLst>
            </p:cNvPr>
            <p:cNvSpPr/>
            <p:nvPr/>
          </p:nvSpPr>
          <p:spPr>
            <a:xfrm>
              <a:off x="520224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68;p67">
              <a:extLst>
                <a:ext uri="{FF2B5EF4-FFF2-40B4-BE49-F238E27FC236}">
                  <a16:creationId xmlns:a16="http://schemas.microsoft.com/office/drawing/2014/main" id="{CB574D50-F4F5-8094-31D0-75659722EC28}"/>
                </a:ext>
              </a:extLst>
            </p:cNvPr>
            <p:cNvSpPr/>
            <p:nvPr/>
          </p:nvSpPr>
          <p:spPr>
            <a:xfrm>
              <a:off x="520224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69;p67">
              <a:extLst>
                <a:ext uri="{FF2B5EF4-FFF2-40B4-BE49-F238E27FC236}">
                  <a16:creationId xmlns:a16="http://schemas.microsoft.com/office/drawing/2014/main" id="{05CEB563-0833-C11C-92AB-46EA7BCC23C9}"/>
                </a:ext>
              </a:extLst>
            </p:cNvPr>
            <p:cNvSpPr/>
            <p:nvPr/>
          </p:nvSpPr>
          <p:spPr>
            <a:xfrm>
              <a:off x="520224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70;p67">
              <a:extLst>
                <a:ext uri="{FF2B5EF4-FFF2-40B4-BE49-F238E27FC236}">
                  <a16:creationId xmlns:a16="http://schemas.microsoft.com/office/drawing/2014/main" id="{47118761-612D-148A-DE74-532D43125F21}"/>
                </a:ext>
              </a:extLst>
            </p:cNvPr>
            <p:cNvSpPr/>
            <p:nvPr/>
          </p:nvSpPr>
          <p:spPr>
            <a:xfrm>
              <a:off x="5173392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0" y="1"/>
                  </a:moveTo>
                  <a:lnTo>
                    <a:pt x="0" y="1348"/>
                  </a:lnTo>
                  <a:lnTo>
                    <a:pt x="901" y="1348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71;p67">
              <a:extLst>
                <a:ext uri="{FF2B5EF4-FFF2-40B4-BE49-F238E27FC236}">
                  <a16:creationId xmlns:a16="http://schemas.microsoft.com/office/drawing/2014/main" id="{B1CE5A93-B339-A693-C6AE-DD06C465ACB6}"/>
                </a:ext>
              </a:extLst>
            </p:cNvPr>
            <p:cNvSpPr/>
            <p:nvPr/>
          </p:nvSpPr>
          <p:spPr>
            <a:xfrm>
              <a:off x="489998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72;p67">
              <a:extLst>
                <a:ext uri="{FF2B5EF4-FFF2-40B4-BE49-F238E27FC236}">
                  <a16:creationId xmlns:a16="http://schemas.microsoft.com/office/drawing/2014/main" id="{CDA00834-D164-367B-6954-DA0A3D29C732}"/>
                </a:ext>
              </a:extLst>
            </p:cNvPr>
            <p:cNvSpPr/>
            <p:nvPr/>
          </p:nvSpPr>
          <p:spPr>
            <a:xfrm>
              <a:off x="489998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73;p67">
              <a:extLst>
                <a:ext uri="{FF2B5EF4-FFF2-40B4-BE49-F238E27FC236}">
                  <a16:creationId xmlns:a16="http://schemas.microsoft.com/office/drawing/2014/main" id="{9608CB70-2D39-CA41-21BB-FF7AADE75249}"/>
                </a:ext>
              </a:extLst>
            </p:cNvPr>
            <p:cNvSpPr/>
            <p:nvPr/>
          </p:nvSpPr>
          <p:spPr>
            <a:xfrm>
              <a:off x="489998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74;p67">
              <a:extLst>
                <a:ext uri="{FF2B5EF4-FFF2-40B4-BE49-F238E27FC236}">
                  <a16:creationId xmlns:a16="http://schemas.microsoft.com/office/drawing/2014/main" id="{3DFB5930-D4E7-5884-464C-EC02D1BB3980}"/>
                </a:ext>
              </a:extLst>
            </p:cNvPr>
            <p:cNvSpPr/>
            <p:nvPr/>
          </p:nvSpPr>
          <p:spPr>
            <a:xfrm>
              <a:off x="489998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75;p67">
              <a:extLst>
                <a:ext uri="{FF2B5EF4-FFF2-40B4-BE49-F238E27FC236}">
                  <a16:creationId xmlns:a16="http://schemas.microsoft.com/office/drawing/2014/main" id="{BC7E6E40-C682-484E-7ACF-539DB21208B6}"/>
                </a:ext>
              </a:extLst>
            </p:cNvPr>
            <p:cNvSpPr/>
            <p:nvPr/>
          </p:nvSpPr>
          <p:spPr>
            <a:xfrm>
              <a:off x="4957688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76;p67">
              <a:extLst>
                <a:ext uri="{FF2B5EF4-FFF2-40B4-BE49-F238E27FC236}">
                  <a16:creationId xmlns:a16="http://schemas.microsoft.com/office/drawing/2014/main" id="{D2556B16-B9FA-3716-9EC2-7FF2A3E12717}"/>
                </a:ext>
              </a:extLst>
            </p:cNvPr>
            <p:cNvSpPr/>
            <p:nvPr/>
          </p:nvSpPr>
          <p:spPr>
            <a:xfrm>
              <a:off x="4957688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77;p67">
              <a:extLst>
                <a:ext uri="{FF2B5EF4-FFF2-40B4-BE49-F238E27FC236}">
                  <a16:creationId xmlns:a16="http://schemas.microsoft.com/office/drawing/2014/main" id="{F82016DE-6133-406D-26C2-9C406C36699D}"/>
                </a:ext>
              </a:extLst>
            </p:cNvPr>
            <p:cNvSpPr/>
            <p:nvPr/>
          </p:nvSpPr>
          <p:spPr>
            <a:xfrm>
              <a:off x="4957688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78;p67">
              <a:extLst>
                <a:ext uri="{FF2B5EF4-FFF2-40B4-BE49-F238E27FC236}">
                  <a16:creationId xmlns:a16="http://schemas.microsoft.com/office/drawing/2014/main" id="{D6BC7C7E-172C-5060-1EC8-16533D63C204}"/>
                </a:ext>
              </a:extLst>
            </p:cNvPr>
            <p:cNvSpPr/>
            <p:nvPr/>
          </p:nvSpPr>
          <p:spPr>
            <a:xfrm>
              <a:off x="4957688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79;p67">
              <a:extLst>
                <a:ext uri="{FF2B5EF4-FFF2-40B4-BE49-F238E27FC236}">
                  <a16:creationId xmlns:a16="http://schemas.microsoft.com/office/drawing/2014/main" id="{A6C26F95-1E51-F883-7774-FAC745AE33BD}"/>
                </a:ext>
              </a:extLst>
            </p:cNvPr>
            <p:cNvSpPr/>
            <p:nvPr/>
          </p:nvSpPr>
          <p:spPr>
            <a:xfrm>
              <a:off x="4928836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1" y="1"/>
                  </a:moveTo>
                  <a:lnTo>
                    <a:pt x="1" y="1348"/>
                  </a:lnTo>
                  <a:lnTo>
                    <a:pt x="902" y="1348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80;p67">
              <a:extLst>
                <a:ext uri="{FF2B5EF4-FFF2-40B4-BE49-F238E27FC236}">
                  <a16:creationId xmlns:a16="http://schemas.microsoft.com/office/drawing/2014/main" id="{BB3A6C43-80BC-C038-246E-89435DE74C70}"/>
                </a:ext>
              </a:extLst>
            </p:cNvPr>
            <p:cNvSpPr/>
            <p:nvPr/>
          </p:nvSpPr>
          <p:spPr>
            <a:xfrm>
              <a:off x="4864567" y="3388473"/>
              <a:ext cx="401978" cy="380267"/>
            </a:xfrm>
            <a:custGeom>
              <a:avLst/>
              <a:gdLst/>
              <a:ahLst/>
              <a:cxnLst/>
              <a:rect l="l" t="t" r="r" b="b"/>
              <a:pathLst>
                <a:path w="12553" h="11875" extrusionOk="0">
                  <a:moveTo>
                    <a:pt x="5603" y="420"/>
                  </a:moveTo>
                  <a:cubicBezTo>
                    <a:pt x="5862" y="420"/>
                    <a:pt x="6067" y="634"/>
                    <a:pt x="6067" y="884"/>
                  </a:cubicBezTo>
                  <a:lnTo>
                    <a:pt x="6067" y="1124"/>
                  </a:lnTo>
                  <a:lnTo>
                    <a:pt x="5157" y="1124"/>
                  </a:lnTo>
                  <a:cubicBezTo>
                    <a:pt x="4898" y="1124"/>
                    <a:pt x="4693" y="919"/>
                    <a:pt x="4693" y="661"/>
                  </a:cubicBezTo>
                  <a:lnTo>
                    <a:pt x="4693" y="420"/>
                  </a:lnTo>
                  <a:close/>
                  <a:moveTo>
                    <a:pt x="7860" y="420"/>
                  </a:moveTo>
                  <a:lnTo>
                    <a:pt x="7860" y="661"/>
                  </a:lnTo>
                  <a:cubicBezTo>
                    <a:pt x="7860" y="919"/>
                    <a:pt x="7655" y="1124"/>
                    <a:pt x="7396" y="1124"/>
                  </a:cubicBezTo>
                  <a:lnTo>
                    <a:pt x="6486" y="1124"/>
                  </a:lnTo>
                  <a:lnTo>
                    <a:pt x="6486" y="884"/>
                  </a:lnTo>
                  <a:cubicBezTo>
                    <a:pt x="6486" y="634"/>
                    <a:pt x="6691" y="420"/>
                    <a:pt x="6950" y="420"/>
                  </a:cubicBezTo>
                  <a:close/>
                  <a:moveTo>
                    <a:pt x="4497" y="6040"/>
                  </a:moveTo>
                  <a:lnTo>
                    <a:pt x="4497" y="11455"/>
                  </a:lnTo>
                  <a:lnTo>
                    <a:pt x="420" y="11455"/>
                  </a:lnTo>
                  <a:lnTo>
                    <a:pt x="420" y="6040"/>
                  </a:lnTo>
                  <a:close/>
                  <a:moveTo>
                    <a:pt x="9662" y="2891"/>
                  </a:moveTo>
                  <a:lnTo>
                    <a:pt x="9662" y="5621"/>
                  </a:lnTo>
                  <a:lnTo>
                    <a:pt x="7637" y="5621"/>
                  </a:lnTo>
                  <a:lnTo>
                    <a:pt x="7637" y="11455"/>
                  </a:lnTo>
                  <a:lnTo>
                    <a:pt x="4916" y="11455"/>
                  </a:lnTo>
                  <a:lnTo>
                    <a:pt x="4916" y="5621"/>
                  </a:lnTo>
                  <a:lnTo>
                    <a:pt x="2891" y="5621"/>
                  </a:lnTo>
                  <a:lnTo>
                    <a:pt x="2891" y="2891"/>
                  </a:lnTo>
                  <a:close/>
                  <a:moveTo>
                    <a:pt x="12133" y="6040"/>
                  </a:moveTo>
                  <a:lnTo>
                    <a:pt x="12133" y="11455"/>
                  </a:lnTo>
                  <a:lnTo>
                    <a:pt x="8056" y="11455"/>
                  </a:lnTo>
                  <a:lnTo>
                    <a:pt x="8056" y="6040"/>
                  </a:lnTo>
                  <a:close/>
                  <a:moveTo>
                    <a:pt x="4274" y="0"/>
                  </a:moveTo>
                  <a:lnTo>
                    <a:pt x="4274" y="661"/>
                  </a:lnTo>
                  <a:cubicBezTo>
                    <a:pt x="4274" y="1151"/>
                    <a:pt x="4666" y="1544"/>
                    <a:pt x="5157" y="1544"/>
                  </a:cubicBezTo>
                  <a:lnTo>
                    <a:pt x="6067" y="1544"/>
                  </a:lnTo>
                  <a:lnTo>
                    <a:pt x="6067" y="2472"/>
                  </a:lnTo>
                  <a:lnTo>
                    <a:pt x="2472" y="2472"/>
                  </a:lnTo>
                  <a:lnTo>
                    <a:pt x="2472" y="5621"/>
                  </a:lnTo>
                  <a:lnTo>
                    <a:pt x="0" y="5621"/>
                  </a:lnTo>
                  <a:lnTo>
                    <a:pt x="0" y="11874"/>
                  </a:lnTo>
                  <a:lnTo>
                    <a:pt x="12552" y="11874"/>
                  </a:lnTo>
                  <a:lnTo>
                    <a:pt x="12552" y="5621"/>
                  </a:lnTo>
                  <a:lnTo>
                    <a:pt x="10081" y="5621"/>
                  </a:lnTo>
                  <a:lnTo>
                    <a:pt x="10081" y="2472"/>
                  </a:lnTo>
                  <a:lnTo>
                    <a:pt x="6486" y="2472"/>
                  </a:lnTo>
                  <a:lnTo>
                    <a:pt x="6486" y="1544"/>
                  </a:lnTo>
                  <a:lnTo>
                    <a:pt x="7396" y="1544"/>
                  </a:lnTo>
                  <a:cubicBezTo>
                    <a:pt x="7887" y="1544"/>
                    <a:pt x="8288" y="1151"/>
                    <a:pt x="8288" y="661"/>
                  </a:cubicBezTo>
                  <a:lnTo>
                    <a:pt x="8288" y="0"/>
                  </a:lnTo>
                  <a:lnTo>
                    <a:pt x="6950" y="0"/>
                  </a:lnTo>
                  <a:cubicBezTo>
                    <a:pt x="6682" y="0"/>
                    <a:pt x="6441" y="125"/>
                    <a:pt x="6281" y="313"/>
                  </a:cubicBezTo>
                  <a:cubicBezTo>
                    <a:pt x="6111" y="125"/>
                    <a:pt x="5870" y="0"/>
                    <a:pt x="560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81;p67">
              <a:extLst>
                <a:ext uri="{FF2B5EF4-FFF2-40B4-BE49-F238E27FC236}">
                  <a16:creationId xmlns:a16="http://schemas.microsoft.com/office/drawing/2014/main" id="{6D9C8D97-EFD6-561A-E45F-C2638675511C}"/>
                </a:ext>
              </a:extLst>
            </p:cNvPr>
            <p:cNvSpPr/>
            <p:nvPr/>
          </p:nvSpPr>
          <p:spPr>
            <a:xfrm>
              <a:off x="4892843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82;p67">
              <a:extLst>
                <a:ext uri="{FF2B5EF4-FFF2-40B4-BE49-F238E27FC236}">
                  <a16:creationId xmlns:a16="http://schemas.microsoft.com/office/drawing/2014/main" id="{59773D3C-D766-E02A-CA4C-F35F793F1745}"/>
                </a:ext>
              </a:extLst>
            </p:cNvPr>
            <p:cNvSpPr/>
            <p:nvPr/>
          </p:nvSpPr>
          <p:spPr>
            <a:xfrm>
              <a:off x="4979111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83;p67">
              <a:extLst>
                <a:ext uri="{FF2B5EF4-FFF2-40B4-BE49-F238E27FC236}">
                  <a16:creationId xmlns:a16="http://schemas.microsoft.com/office/drawing/2014/main" id="{CA06817A-AE1E-9E2C-9FA4-BE4496CFCBE5}"/>
                </a:ext>
              </a:extLst>
            </p:cNvPr>
            <p:cNvSpPr/>
            <p:nvPr/>
          </p:nvSpPr>
          <p:spPr>
            <a:xfrm>
              <a:off x="5137399" y="3712124"/>
              <a:ext cx="14570" cy="13481"/>
            </a:xfrm>
            <a:custGeom>
              <a:avLst/>
              <a:gdLst/>
              <a:ahLst/>
              <a:cxnLst/>
              <a:rect l="l" t="t" r="r" b="b"/>
              <a:pathLst>
                <a:path w="455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684;p67">
              <a:extLst>
                <a:ext uri="{FF2B5EF4-FFF2-40B4-BE49-F238E27FC236}">
                  <a16:creationId xmlns:a16="http://schemas.microsoft.com/office/drawing/2014/main" id="{FE469C59-9A44-E6FD-DD9D-1397FE42FB7A}"/>
                </a:ext>
              </a:extLst>
            </p:cNvPr>
            <p:cNvSpPr/>
            <p:nvPr/>
          </p:nvSpPr>
          <p:spPr>
            <a:xfrm>
              <a:off x="5223667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85;p67">
              <a:extLst>
                <a:ext uri="{FF2B5EF4-FFF2-40B4-BE49-F238E27FC236}">
                  <a16:creationId xmlns:a16="http://schemas.microsoft.com/office/drawing/2014/main" id="{273028D4-89F7-098B-81D9-53848CF8437E}"/>
                </a:ext>
              </a:extLst>
            </p:cNvPr>
            <p:cNvSpPr/>
            <p:nvPr/>
          </p:nvSpPr>
          <p:spPr>
            <a:xfrm>
              <a:off x="4886278" y="353901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1"/>
                  </a:moveTo>
                  <a:lnTo>
                    <a:pt x="0" y="456"/>
                  </a:lnTo>
                  <a:lnTo>
                    <a:pt x="420" y="456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86;p67">
              <a:extLst>
                <a:ext uri="{FF2B5EF4-FFF2-40B4-BE49-F238E27FC236}">
                  <a16:creationId xmlns:a16="http://schemas.microsoft.com/office/drawing/2014/main" id="{C193DA45-5EE8-2F74-5C5C-7CDC28A5BABD}"/>
                </a:ext>
              </a:extLst>
            </p:cNvPr>
            <p:cNvSpPr/>
            <p:nvPr/>
          </p:nvSpPr>
          <p:spPr>
            <a:xfrm>
              <a:off x="4886278" y="351044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20" y="447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687;p67">
              <a:extLst>
                <a:ext uri="{FF2B5EF4-FFF2-40B4-BE49-F238E27FC236}">
                  <a16:creationId xmlns:a16="http://schemas.microsoft.com/office/drawing/2014/main" id="{6C5B223A-4A38-85A2-3C5F-674A686F3F25}"/>
                </a:ext>
              </a:extLst>
            </p:cNvPr>
            <p:cNvSpPr/>
            <p:nvPr/>
          </p:nvSpPr>
          <p:spPr>
            <a:xfrm>
              <a:off x="5043957" y="3309057"/>
              <a:ext cx="43166" cy="71730"/>
            </a:xfrm>
            <a:custGeom>
              <a:avLst/>
              <a:gdLst/>
              <a:ahLst/>
              <a:cxnLst/>
              <a:rect l="l" t="t" r="r" b="b"/>
              <a:pathLst>
                <a:path w="1348" h="2240" extrusionOk="0">
                  <a:moveTo>
                    <a:pt x="465" y="0"/>
                  </a:moveTo>
                  <a:lnTo>
                    <a:pt x="465" y="232"/>
                  </a:lnTo>
                  <a:lnTo>
                    <a:pt x="19" y="232"/>
                  </a:lnTo>
                  <a:lnTo>
                    <a:pt x="19" y="1330"/>
                  </a:lnTo>
                  <a:lnTo>
                    <a:pt x="911" y="1330"/>
                  </a:lnTo>
                  <a:lnTo>
                    <a:pt x="911" y="1579"/>
                  </a:lnTo>
                  <a:lnTo>
                    <a:pt x="1" y="1579"/>
                  </a:lnTo>
                  <a:lnTo>
                    <a:pt x="1" y="2008"/>
                  </a:lnTo>
                  <a:lnTo>
                    <a:pt x="465" y="2008"/>
                  </a:lnTo>
                  <a:lnTo>
                    <a:pt x="465" y="2240"/>
                  </a:lnTo>
                  <a:lnTo>
                    <a:pt x="884" y="2240"/>
                  </a:lnTo>
                  <a:lnTo>
                    <a:pt x="884" y="2008"/>
                  </a:lnTo>
                  <a:lnTo>
                    <a:pt x="1339" y="2008"/>
                  </a:lnTo>
                  <a:lnTo>
                    <a:pt x="1339" y="910"/>
                  </a:lnTo>
                  <a:lnTo>
                    <a:pt x="438" y="910"/>
                  </a:lnTo>
                  <a:lnTo>
                    <a:pt x="438" y="661"/>
                  </a:lnTo>
                  <a:lnTo>
                    <a:pt x="1348" y="661"/>
                  </a:lnTo>
                  <a:lnTo>
                    <a:pt x="1348" y="232"/>
                  </a:lnTo>
                  <a:lnTo>
                    <a:pt x="884" y="232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688;p67">
              <a:extLst>
                <a:ext uri="{FF2B5EF4-FFF2-40B4-BE49-F238E27FC236}">
                  <a16:creationId xmlns:a16="http://schemas.microsoft.com/office/drawing/2014/main" id="{1E196B53-C31C-C399-2BF3-B63E5D033EF3}"/>
                </a:ext>
              </a:extLst>
            </p:cNvPr>
            <p:cNvSpPr/>
            <p:nvPr/>
          </p:nvSpPr>
          <p:spPr>
            <a:xfrm>
              <a:off x="4859411" y="3407334"/>
              <a:ext cx="67183" cy="88574"/>
            </a:xfrm>
            <a:custGeom>
              <a:avLst/>
              <a:gdLst/>
              <a:ahLst/>
              <a:cxnLst/>
              <a:rect l="l" t="t" r="r" b="b"/>
              <a:pathLst>
                <a:path w="2098" h="2766" extrusionOk="0">
                  <a:moveTo>
                    <a:pt x="1045" y="0"/>
                  </a:moveTo>
                  <a:lnTo>
                    <a:pt x="1" y="1044"/>
                  </a:lnTo>
                  <a:lnTo>
                    <a:pt x="295" y="1347"/>
                  </a:lnTo>
                  <a:lnTo>
                    <a:pt x="839" y="803"/>
                  </a:lnTo>
                  <a:lnTo>
                    <a:pt x="839" y="2766"/>
                  </a:lnTo>
                  <a:lnTo>
                    <a:pt x="1259" y="2766"/>
                  </a:lnTo>
                  <a:lnTo>
                    <a:pt x="1259" y="803"/>
                  </a:lnTo>
                  <a:lnTo>
                    <a:pt x="1794" y="1347"/>
                  </a:lnTo>
                  <a:lnTo>
                    <a:pt x="2097" y="1044"/>
                  </a:lnTo>
                  <a:lnTo>
                    <a:pt x="10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689;p67">
              <a:extLst>
                <a:ext uri="{FF2B5EF4-FFF2-40B4-BE49-F238E27FC236}">
                  <a16:creationId xmlns:a16="http://schemas.microsoft.com/office/drawing/2014/main" id="{4BEAEF49-44B8-9A98-2C45-2012466F460F}"/>
                </a:ext>
              </a:extLst>
            </p:cNvPr>
            <p:cNvSpPr/>
            <p:nvPr/>
          </p:nvSpPr>
          <p:spPr>
            <a:xfrm>
              <a:off x="5204518" y="3400193"/>
              <a:ext cx="67151" cy="88574"/>
            </a:xfrm>
            <a:custGeom>
              <a:avLst/>
              <a:gdLst/>
              <a:ahLst/>
              <a:cxnLst/>
              <a:rect l="l" t="t" r="r" b="b"/>
              <a:pathLst>
                <a:path w="2097" h="2766" extrusionOk="0">
                  <a:moveTo>
                    <a:pt x="1053" y="0"/>
                  </a:moveTo>
                  <a:lnTo>
                    <a:pt x="0" y="1044"/>
                  </a:lnTo>
                  <a:lnTo>
                    <a:pt x="304" y="1338"/>
                  </a:lnTo>
                  <a:lnTo>
                    <a:pt x="839" y="803"/>
                  </a:lnTo>
                  <a:lnTo>
                    <a:pt x="839" y="2766"/>
                  </a:lnTo>
                  <a:lnTo>
                    <a:pt x="1258" y="2766"/>
                  </a:lnTo>
                  <a:lnTo>
                    <a:pt x="1258" y="803"/>
                  </a:lnTo>
                  <a:lnTo>
                    <a:pt x="1803" y="1338"/>
                  </a:lnTo>
                  <a:lnTo>
                    <a:pt x="2097" y="1044"/>
                  </a:lnTo>
                  <a:lnTo>
                    <a:pt x="10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690;p67">
              <a:extLst>
                <a:ext uri="{FF2B5EF4-FFF2-40B4-BE49-F238E27FC236}">
                  <a16:creationId xmlns:a16="http://schemas.microsoft.com/office/drawing/2014/main" id="{7F9DF950-D8BD-4A29-73A4-945EE6458F3D}"/>
                </a:ext>
              </a:extLst>
            </p:cNvPr>
            <p:cNvSpPr/>
            <p:nvPr/>
          </p:nvSpPr>
          <p:spPr>
            <a:xfrm>
              <a:off x="5231385" y="353901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1"/>
                  </a:moveTo>
                  <a:lnTo>
                    <a:pt x="0" y="456"/>
                  </a:lnTo>
                  <a:lnTo>
                    <a:pt x="419" y="456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691;p67">
              <a:extLst>
                <a:ext uri="{FF2B5EF4-FFF2-40B4-BE49-F238E27FC236}">
                  <a16:creationId xmlns:a16="http://schemas.microsoft.com/office/drawing/2014/main" id="{24935091-4BE3-A051-07AA-CDD346936C49}"/>
                </a:ext>
              </a:extLst>
            </p:cNvPr>
            <p:cNvSpPr/>
            <p:nvPr/>
          </p:nvSpPr>
          <p:spPr>
            <a:xfrm>
              <a:off x="5231385" y="351044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19" y="447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8" name="Google Shape;1808;p67">
            <a:extLst>
              <a:ext uri="{FF2B5EF4-FFF2-40B4-BE49-F238E27FC236}">
                <a16:creationId xmlns:a16="http://schemas.microsoft.com/office/drawing/2014/main" id="{13D35B4C-FAF2-63B2-CDFD-2BD624FF38E7}"/>
              </a:ext>
            </a:extLst>
          </p:cNvPr>
          <p:cNvGrpSpPr/>
          <p:nvPr/>
        </p:nvGrpSpPr>
        <p:grpSpPr>
          <a:xfrm>
            <a:off x="804173" y="3480900"/>
            <a:ext cx="324553" cy="320606"/>
            <a:chOff x="5619305" y="2372335"/>
            <a:chExt cx="459971" cy="427116"/>
          </a:xfrm>
        </p:grpSpPr>
        <p:sp>
          <p:nvSpPr>
            <p:cNvPr id="989" name="Google Shape;1809;p67">
              <a:extLst>
                <a:ext uri="{FF2B5EF4-FFF2-40B4-BE49-F238E27FC236}">
                  <a16:creationId xmlns:a16="http://schemas.microsoft.com/office/drawing/2014/main" id="{6EC5C800-ACE5-2A9C-BCD9-67056F834AF1}"/>
                </a:ext>
              </a:extLst>
            </p:cNvPr>
            <p:cNvSpPr/>
            <p:nvPr/>
          </p:nvSpPr>
          <p:spPr>
            <a:xfrm>
              <a:off x="5691868" y="2459757"/>
              <a:ext cx="300275" cy="149993"/>
            </a:xfrm>
            <a:custGeom>
              <a:avLst/>
              <a:gdLst/>
              <a:ahLst/>
              <a:cxnLst/>
              <a:rect l="l" t="t" r="r" b="b"/>
              <a:pathLst>
                <a:path w="9377" h="4684" extrusionOk="0">
                  <a:moveTo>
                    <a:pt x="4693" y="0"/>
                  </a:moveTo>
                  <a:cubicBezTo>
                    <a:pt x="2097" y="0"/>
                    <a:pt x="1" y="2097"/>
                    <a:pt x="1" y="4684"/>
                  </a:cubicBezTo>
                  <a:lnTo>
                    <a:pt x="9377" y="4684"/>
                  </a:lnTo>
                  <a:cubicBezTo>
                    <a:pt x="9377" y="2097"/>
                    <a:pt x="7280" y="0"/>
                    <a:pt x="4693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810;p67">
              <a:extLst>
                <a:ext uri="{FF2B5EF4-FFF2-40B4-BE49-F238E27FC236}">
                  <a16:creationId xmlns:a16="http://schemas.microsoft.com/office/drawing/2014/main" id="{CF1D4279-AA47-62D0-E62E-6D2FAC9773AF}"/>
                </a:ext>
              </a:extLst>
            </p:cNvPr>
            <p:cNvSpPr/>
            <p:nvPr/>
          </p:nvSpPr>
          <p:spPr>
            <a:xfrm>
              <a:off x="5647613" y="2667999"/>
              <a:ext cx="14570" cy="13449"/>
            </a:xfrm>
            <a:custGeom>
              <a:avLst/>
              <a:gdLst/>
              <a:ahLst/>
              <a:cxnLst/>
              <a:rect l="l" t="t" r="r" b="b"/>
              <a:pathLst>
                <a:path w="455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811;p67">
              <a:extLst>
                <a:ext uri="{FF2B5EF4-FFF2-40B4-BE49-F238E27FC236}">
                  <a16:creationId xmlns:a16="http://schemas.microsoft.com/office/drawing/2014/main" id="{CAAB51E7-9830-C0DE-9CFC-9EC6A2C08379}"/>
                </a:ext>
              </a:extLst>
            </p:cNvPr>
            <p:cNvSpPr/>
            <p:nvPr/>
          </p:nvSpPr>
          <p:spPr>
            <a:xfrm>
              <a:off x="5676465" y="266799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812;p67">
              <a:extLst>
                <a:ext uri="{FF2B5EF4-FFF2-40B4-BE49-F238E27FC236}">
                  <a16:creationId xmlns:a16="http://schemas.microsoft.com/office/drawing/2014/main" id="{F91E41B0-67B7-A4C2-D834-5F5186566503}"/>
                </a:ext>
              </a:extLst>
            </p:cNvPr>
            <p:cNvSpPr/>
            <p:nvPr/>
          </p:nvSpPr>
          <p:spPr>
            <a:xfrm>
              <a:off x="6036398" y="266799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813;p67">
              <a:extLst>
                <a:ext uri="{FF2B5EF4-FFF2-40B4-BE49-F238E27FC236}">
                  <a16:creationId xmlns:a16="http://schemas.microsoft.com/office/drawing/2014/main" id="{8682C8AE-17FD-7CBF-048A-F86E81AD1136}"/>
                </a:ext>
              </a:extLst>
            </p:cNvPr>
            <p:cNvSpPr/>
            <p:nvPr/>
          </p:nvSpPr>
          <p:spPr>
            <a:xfrm>
              <a:off x="5669324" y="2459180"/>
              <a:ext cx="345395" cy="157423"/>
            </a:xfrm>
            <a:custGeom>
              <a:avLst/>
              <a:gdLst/>
              <a:ahLst/>
              <a:cxnLst/>
              <a:rect l="l" t="t" r="r" b="b"/>
              <a:pathLst>
                <a:path w="10786" h="4916" extrusionOk="0">
                  <a:moveTo>
                    <a:pt x="5183" y="438"/>
                  </a:moveTo>
                  <a:lnTo>
                    <a:pt x="5183" y="2472"/>
                  </a:lnTo>
                  <a:lnTo>
                    <a:pt x="3488" y="2472"/>
                  </a:lnTo>
                  <a:cubicBezTo>
                    <a:pt x="3586" y="2168"/>
                    <a:pt x="3702" y="1883"/>
                    <a:pt x="3845" y="1624"/>
                  </a:cubicBezTo>
                  <a:cubicBezTo>
                    <a:pt x="4220" y="946"/>
                    <a:pt x="4684" y="527"/>
                    <a:pt x="5183" y="438"/>
                  </a:cubicBezTo>
                  <a:close/>
                  <a:moveTo>
                    <a:pt x="5602" y="438"/>
                  </a:moveTo>
                  <a:cubicBezTo>
                    <a:pt x="6102" y="527"/>
                    <a:pt x="6566" y="946"/>
                    <a:pt x="6941" y="1624"/>
                  </a:cubicBezTo>
                  <a:cubicBezTo>
                    <a:pt x="7083" y="1883"/>
                    <a:pt x="7199" y="2168"/>
                    <a:pt x="7306" y="2472"/>
                  </a:cubicBezTo>
                  <a:lnTo>
                    <a:pt x="5602" y="2472"/>
                  </a:lnTo>
                  <a:lnTo>
                    <a:pt x="5602" y="438"/>
                  </a:lnTo>
                  <a:close/>
                  <a:moveTo>
                    <a:pt x="5183" y="2891"/>
                  </a:moveTo>
                  <a:lnTo>
                    <a:pt x="5183" y="4497"/>
                  </a:lnTo>
                  <a:lnTo>
                    <a:pt x="3158" y="4497"/>
                  </a:lnTo>
                  <a:cubicBezTo>
                    <a:pt x="3167" y="3935"/>
                    <a:pt x="3238" y="3390"/>
                    <a:pt x="3363" y="2891"/>
                  </a:cubicBezTo>
                  <a:close/>
                  <a:moveTo>
                    <a:pt x="7422" y="2891"/>
                  </a:moveTo>
                  <a:cubicBezTo>
                    <a:pt x="7547" y="3390"/>
                    <a:pt x="7619" y="3935"/>
                    <a:pt x="7636" y="4497"/>
                  </a:cubicBezTo>
                  <a:lnTo>
                    <a:pt x="5602" y="4497"/>
                  </a:lnTo>
                  <a:lnTo>
                    <a:pt x="5602" y="2891"/>
                  </a:lnTo>
                  <a:close/>
                  <a:moveTo>
                    <a:pt x="5397" y="0"/>
                  </a:moveTo>
                  <a:cubicBezTo>
                    <a:pt x="4657" y="0"/>
                    <a:pt x="3979" y="509"/>
                    <a:pt x="3470" y="1428"/>
                  </a:cubicBezTo>
                  <a:cubicBezTo>
                    <a:pt x="3301" y="1740"/>
                    <a:pt x="3158" y="2088"/>
                    <a:pt x="3042" y="2472"/>
                  </a:cubicBezTo>
                  <a:lnTo>
                    <a:pt x="1347" y="2472"/>
                  </a:lnTo>
                  <a:lnTo>
                    <a:pt x="1347" y="2891"/>
                  </a:lnTo>
                  <a:lnTo>
                    <a:pt x="2935" y="2891"/>
                  </a:lnTo>
                  <a:cubicBezTo>
                    <a:pt x="2810" y="3399"/>
                    <a:pt x="2748" y="3935"/>
                    <a:pt x="2730" y="4497"/>
                  </a:cubicBezTo>
                  <a:lnTo>
                    <a:pt x="0" y="4497"/>
                  </a:lnTo>
                  <a:lnTo>
                    <a:pt x="0" y="4916"/>
                  </a:lnTo>
                  <a:lnTo>
                    <a:pt x="10786" y="4916"/>
                  </a:lnTo>
                  <a:lnTo>
                    <a:pt x="10786" y="4497"/>
                  </a:lnTo>
                  <a:lnTo>
                    <a:pt x="8056" y="4497"/>
                  </a:lnTo>
                  <a:cubicBezTo>
                    <a:pt x="8038" y="3935"/>
                    <a:pt x="7975" y="3399"/>
                    <a:pt x="7859" y="2891"/>
                  </a:cubicBezTo>
                  <a:lnTo>
                    <a:pt x="9438" y="2891"/>
                  </a:lnTo>
                  <a:lnTo>
                    <a:pt x="9438" y="2472"/>
                  </a:lnTo>
                  <a:lnTo>
                    <a:pt x="7743" y="2472"/>
                  </a:lnTo>
                  <a:cubicBezTo>
                    <a:pt x="7628" y="2088"/>
                    <a:pt x="7485" y="1740"/>
                    <a:pt x="7315" y="1428"/>
                  </a:cubicBezTo>
                  <a:cubicBezTo>
                    <a:pt x="6807" y="509"/>
                    <a:pt x="6129" y="0"/>
                    <a:pt x="5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814;p67">
              <a:extLst>
                <a:ext uri="{FF2B5EF4-FFF2-40B4-BE49-F238E27FC236}">
                  <a16:creationId xmlns:a16="http://schemas.microsoft.com/office/drawing/2014/main" id="{BC9E6B81-9A8F-8740-D87F-BB25D33F69E7}"/>
                </a:ext>
              </a:extLst>
            </p:cNvPr>
            <p:cNvSpPr/>
            <p:nvPr/>
          </p:nvSpPr>
          <p:spPr>
            <a:xfrm>
              <a:off x="5791586" y="2574301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815;p67">
              <a:extLst>
                <a:ext uri="{FF2B5EF4-FFF2-40B4-BE49-F238E27FC236}">
                  <a16:creationId xmlns:a16="http://schemas.microsoft.com/office/drawing/2014/main" id="{9169E11B-3DC3-834B-0524-557D7BE5FBE8}"/>
                </a:ext>
              </a:extLst>
            </p:cNvPr>
            <p:cNvSpPr/>
            <p:nvPr/>
          </p:nvSpPr>
          <p:spPr>
            <a:xfrm>
              <a:off x="5863573" y="2516596"/>
              <a:ext cx="14602" cy="13738"/>
            </a:xfrm>
            <a:custGeom>
              <a:avLst/>
              <a:gdLst/>
              <a:ahLst/>
              <a:cxnLst/>
              <a:rect l="l" t="t" r="r" b="b"/>
              <a:pathLst>
                <a:path w="456" h="429" extrusionOk="0">
                  <a:moveTo>
                    <a:pt x="0" y="1"/>
                  </a:moveTo>
                  <a:lnTo>
                    <a:pt x="0" y="429"/>
                  </a:lnTo>
                  <a:lnTo>
                    <a:pt x="455" y="429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816;p67">
              <a:extLst>
                <a:ext uri="{FF2B5EF4-FFF2-40B4-BE49-F238E27FC236}">
                  <a16:creationId xmlns:a16="http://schemas.microsoft.com/office/drawing/2014/main" id="{771266EF-5FEA-CF02-68CF-2F340F8430FF}"/>
                </a:ext>
              </a:extLst>
            </p:cNvPr>
            <p:cNvSpPr/>
            <p:nvPr/>
          </p:nvSpPr>
          <p:spPr>
            <a:xfrm>
              <a:off x="5726741" y="2574301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817;p67">
              <a:extLst>
                <a:ext uri="{FF2B5EF4-FFF2-40B4-BE49-F238E27FC236}">
                  <a16:creationId xmlns:a16="http://schemas.microsoft.com/office/drawing/2014/main" id="{BE9D1D3B-1B15-369B-B6BA-F7B7AD3664BD}"/>
                </a:ext>
              </a:extLst>
            </p:cNvPr>
            <p:cNvSpPr/>
            <p:nvPr/>
          </p:nvSpPr>
          <p:spPr>
            <a:xfrm>
              <a:off x="5619305" y="2632006"/>
              <a:ext cx="459971" cy="167446"/>
            </a:xfrm>
            <a:custGeom>
              <a:avLst/>
              <a:gdLst/>
              <a:ahLst/>
              <a:cxnLst/>
              <a:rect l="l" t="t" r="r" b="b"/>
              <a:pathLst>
                <a:path w="14364" h="5229" extrusionOk="0">
                  <a:moveTo>
                    <a:pt x="13936" y="420"/>
                  </a:moveTo>
                  <a:lnTo>
                    <a:pt x="13936" y="2249"/>
                  </a:lnTo>
                  <a:lnTo>
                    <a:pt x="10688" y="2249"/>
                  </a:lnTo>
                  <a:lnTo>
                    <a:pt x="10099" y="2829"/>
                  </a:lnTo>
                  <a:lnTo>
                    <a:pt x="8164" y="893"/>
                  </a:lnTo>
                  <a:lnTo>
                    <a:pt x="6647" y="893"/>
                  </a:lnTo>
                  <a:lnTo>
                    <a:pt x="5835" y="1705"/>
                  </a:lnTo>
                  <a:lnTo>
                    <a:pt x="5452" y="1330"/>
                  </a:lnTo>
                  <a:lnTo>
                    <a:pt x="6370" y="420"/>
                  </a:lnTo>
                  <a:close/>
                  <a:moveTo>
                    <a:pt x="5773" y="420"/>
                  </a:moveTo>
                  <a:lnTo>
                    <a:pt x="4863" y="1330"/>
                  </a:lnTo>
                  <a:lnTo>
                    <a:pt x="5835" y="2302"/>
                  </a:lnTo>
                  <a:lnTo>
                    <a:pt x="6817" y="1321"/>
                  </a:lnTo>
                  <a:lnTo>
                    <a:pt x="7994" y="1321"/>
                  </a:lnTo>
                  <a:lnTo>
                    <a:pt x="10251" y="3578"/>
                  </a:lnTo>
                  <a:lnTo>
                    <a:pt x="9876" y="3953"/>
                  </a:lnTo>
                  <a:lnTo>
                    <a:pt x="7557" y="1633"/>
                  </a:lnTo>
                  <a:lnTo>
                    <a:pt x="7254" y="1928"/>
                  </a:lnTo>
                  <a:lnTo>
                    <a:pt x="9127" y="3801"/>
                  </a:lnTo>
                  <a:lnTo>
                    <a:pt x="8752" y="4185"/>
                  </a:lnTo>
                  <a:lnTo>
                    <a:pt x="7102" y="2534"/>
                  </a:lnTo>
                  <a:lnTo>
                    <a:pt x="6808" y="2829"/>
                  </a:lnTo>
                  <a:lnTo>
                    <a:pt x="8003" y="4033"/>
                  </a:lnTo>
                  <a:lnTo>
                    <a:pt x="7628" y="4408"/>
                  </a:lnTo>
                  <a:lnTo>
                    <a:pt x="6656" y="3426"/>
                  </a:lnTo>
                  <a:lnTo>
                    <a:pt x="6353" y="3730"/>
                  </a:lnTo>
                  <a:lnTo>
                    <a:pt x="6879" y="4256"/>
                  </a:lnTo>
                  <a:lnTo>
                    <a:pt x="6504" y="4631"/>
                  </a:lnTo>
                  <a:lnTo>
                    <a:pt x="4122" y="2249"/>
                  </a:lnTo>
                  <a:lnTo>
                    <a:pt x="420" y="2249"/>
                  </a:lnTo>
                  <a:lnTo>
                    <a:pt x="420" y="420"/>
                  </a:lnTo>
                  <a:close/>
                  <a:moveTo>
                    <a:pt x="1" y="1"/>
                  </a:moveTo>
                  <a:lnTo>
                    <a:pt x="1" y="2668"/>
                  </a:lnTo>
                  <a:lnTo>
                    <a:pt x="3944" y="2668"/>
                  </a:lnTo>
                  <a:lnTo>
                    <a:pt x="6504" y="5228"/>
                  </a:lnTo>
                  <a:lnTo>
                    <a:pt x="7182" y="4550"/>
                  </a:lnTo>
                  <a:lnTo>
                    <a:pt x="7628" y="5005"/>
                  </a:lnTo>
                  <a:lnTo>
                    <a:pt x="8306" y="4327"/>
                  </a:lnTo>
                  <a:lnTo>
                    <a:pt x="8752" y="4773"/>
                  </a:lnTo>
                  <a:lnTo>
                    <a:pt x="9430" y="4104"/>
                  </a:lnTo>
                  <a:lnTo>
                    <a:pt x="9876" y="4550"/>
                  </a:lnTo>
                  <a:lnTo>
                    <a:pt x="10849" y="3578"/>
                  </a:lnTo>
                  <a:lnTo>
                    <a:pt x="10403" y="3132"/>
                  </a:lnTo>
                  <a:lnTo>
                    <a:pt x="10867" y="2668"/>
                  </a:lnTo>
                  <a:lnTo>
                    <a:pt x="14364" y="2668"/>
                  </a:lnTo>
                  <a:lnTo>
                    <a:pt x="1436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818;p67">
              <a:extLst>
                <a:ext uri="{FF2B5EF4-FFF2-40B4-BE49-F238E27FC236}">
                  <a16:creationId xmlns:a16="http://schemas.microsoft.com/office/drawing/2014/main" id="{9C8D94F2-790C-CD0D-E877-153E648F6196}"/>
                </a:ext>
              </a:extLst>
            </p:cNvPr>
            <p:cNvSpPr/>
            <p:nvPr/>
          </p:nvSpPr>
          <p:spPr>
            <a:xfrm>
              <a:off x="6007546" y="2667999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819;p67">
              <a:extLst>
                <a:ext uri="{FF2B5EF4-FFF2-40B4-BE49-F238E27FC236}">
                  <a16:creationId xmlns:a16="http://schemas.microsoft.com/office/drawing/2014/main" id="{482B0BF4-DCCB-864D-7B52-6F64E2241572}"/>
                </a:ext>
              </a:extLst>
            </p:cNvPr>
            <p:cNvSpPr/>
            <p:nvPr/>
          </p:nvSpPr>
          <p:spPr>
            <a:xfrm>
              <a:off x="5820438" y="2372335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4" y="0"/>
                  </a:moveTo>
                  <a:lnTo>
                    <a:pt x="464" y="241"/>
                  </a:lnTo>
                  <a:lnTo>
                    <a:pt x="18" y="241"/>
                  </a:lnTo>
                  <a:lnTo>
                    <a:pt x="18" y="1330"/>
                  </a:lnTo>
                  <a:lnTo>
                    <a:pt x="910" y="1330"/>
                  </a:lnTo>
                  <a:lnTo>
                    <a:pt x="910" y="1588"/>
                  </a:lnTo>
                  <a:lnTo>
                    <a:pt x="0" y="1588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8"/>
                  </a:lnTo>
                  <a:lnTo>
                    <a:pt x="883" y="2248"/>
                  </a:lnTo>
                  <a:lnTo>
                    <a:pt x="883" y="2008"/>
                  </a:lnTo>
                  <a:lnTo>
                    <a:pt x="1338" y="2008"/>
                  </a:lnTo>
                  <a:lnTo>
                    <a:pt x="1338" y="910"/>
                  </a:lnTo>
                  <a:lnTo>
                    <a:pt x="437" y="910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41"/>
                  </a:lnTo>
                  <a:lnTo>
                    <a:pt x="883" y="241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546;p47">
            <a:extLst>
              <a:ext uri="{FF2B5EF4-FFF2-40B4-BE49-F238E27FC236}">
                <a16:creationId xmlns:a16="http://schemas.microsoft.com/office/drawing/2014/main" id="{7F7D0692-891D-6AFC-8C12-D643159B8B92}"/>
              </a:ext>
            </a:extLst>
          </p:cNvPr>
          <p:cNvGrpSpPr/>
          <p:nvPr/>
        </p:nvGrpSpPr>
        <p:grpSpPr>
          <a:xfrm flipH="1">
            <a:off x="7855027" y="3904454"/>
            <a:ext cx="1796079" cy="572700"/>
            <a:chOff x="7461743" y="660738"/>
            <a:chExt cx="1348800" cy="706200"/>
          </a:xfrm>
        </p:grpSpPr>
        <p:sp>
          <p:nvSpPr>
            <p:cNvPr id="7" name="Google Shape;547;p47">
              <a:extLst>
                <a:ext uri="{FF2B5EF4-FFF2-40B4-BE49-F238E27FC236}">
                  <a16:creationId xmlns:a16="http://schemas.microsoft.com/office/drawing/2014/main" id="{B4D4B65A-1618-C271-B0E8-070CA9B3F04A}"/>
                </a:ext>
              </a:extLst>
            </p:cNvPr>
            <p:cNvSpPr/>
            <p:nvPr/>
          </p:nvSpPr>
          <p:spPr>
            <a:xfrm>
              <a:off x="7461743" y="660738"/>
              <a:ext cx="1348800" cy="7062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48;p47">
              <a:extLst>
                <a:ext uri="{FF2B5EF4-FFF2-40B4-BE49-F238E27FC236}">
                  <a16:creationId xmlns:a16="http://schemas.microsoft.com/office/drawing/2014/main" id="{0C171B50-5D7F-87B8-1D72-1E176BC3F320}"/>
                </a:ext>
              </a:extLst>
            </p:cNvPr>
            <p:cNvSpPr/>
            <p:nvPr/>
          </p:nvSpPr>
          <p:spPr>
            <a:xfrm>
              <a:off x="8460457" y="731759"/>
              <a:ext cx="301573" cy="564186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8" name="Google Shape;1880;p67">
            <a:extLst>
              <a:ext uri="{FF2B5EF4-FFF2-40B4-BE49-F238E27FC236}">
                <a16:creationId xmlns:a16="http://schemas.microsoft.com/office/drawing/2014/main" id="{784A89DD-52DD-FDBA-6359-BC707C4E99A9}"/>
              </a:ext>
            </a:extLst>
          </p:cNvPr>
          <p:cNvGrpSpPr/>
          <p:nvPr/>
        </p:nvGrpSpPr>
        <p:grpSpPr>
          <a:xfrm>
            <a:off x="6479883" y="416917"/>
            <a:ext cx="643931" cy="584282"/>
            <a:chOff x="1724729" y="2356036"/>
            <a:chExt cx="416260" cy="459971"/>
          </a:xfrm>
        </p:grpSpPr>
        <p:sp>
          <p:nvSpPr>
            <p:cNvPr id="951" name="Google Shape;1881;p67">
              <a:extLst>
                <a:ext uri="{FF2B5EF4-FFF2-40B4-BE49-F238E27FC236}">
                  <a16:creationId xmlns:a16="http://schemas.microsoft.com/office/drawing/2014/main" id="{38A7F6AE-5761-5B03-4E30-3AB8CA18EF4B}"/>
                </a:ext>
              </a:extLst>
            </p:cNvPr>
            <p:cNvSpPr/>
            <p:nvPr/>
          </p:nvSpPr>
          <p:spPr>
            <a:xfrm>
              <a:off x="1851858" y="2435740"/>
              <a:ext cx="161714" cy="131741"/>
            </a:xfrm>
            <a:custGeom>
              <a:avLst/>
              <a:gdLst/>
              <a:ahLst/>
              <a:cxnLst/>
              <a:rect l="l" t="t" r="r" b="b"/>
              <a:pathLst>
                <a:path w="5050" h="4114" extrusionOk="0">
                  <a:moveTo>
                    <a:pt x="1080" y="1"/>
                  </a:moveTo>
                  <a:lnTo>
                    <a:pt x="0" y="1339"/>
                  </a:lnTo>
                  <a:lnTo>
                    <a:pt x="2525" y="4113"/>
                  </a:lnTo>
                  <a:lnTo>
                    <a:pt x="5049" y="1339"/>
                  </a:lnTo>
                  <a:lnTo>
                    <a:pt x="3979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882;p67">
              <a:extLst>
                <a:ext uri="{FF2B5EF4-FFF2-40B4-BE49-F238E27FC236}">
                  <a16:creationId xmlns:a16="http://schemas.microsoft.com/office/drawing/2014/main" id="{6363E615-A380-A8F9-B000-6BF6298D1350}"/>
                </a:ext>
              </a:extLst>
            </p:cNvPr>
            <p:cNvSpPr/>
            <p:nvPr/>
          </p:nvSpPr>
          <p:spPr>
            <a:xfrm>
              <a:off x="1860696" y="2431481"/>
              <a:ext cx="144005" cy="145702"/>
            </a:xfrm>
            <a:custGeom>
              <a:avLst/>
              <a:gdLst/>
              <a:ahLst/>
              <a:cxnLst/>
              <a:rect l="l" t="t" r="r" b="b"/>
              <a:pathLst>
                <a:path w="4497" h="4550" extrusionOk="0">
                  <a:moveTo>
                    <a:pt x="2249" y="678"/>
                  </a:moveTo>
                  <a:lnTo>
                    <a:pt x="2713" y="1258"/>
                  </a:lnTo>
                  <a:lnTo>
                    <a:pt x="1794" y="1258"/>
                  </a:lnTo>
                  <a:lnTo>
                    <a:pt x="2249" y="678"/>
                  </a:lnTo>
                  <a:close/>
                  <a:moveTo>
                    <a:pt x="2846" y="1677"/>
                  </a:moveTo>
                  <a:lnTo>
                    <a:pt x="2249" y="3319"/>
                  </a:lnTo>
                  <a:lnTo>
                    <a:pt x="1651" y="1677"/>
                  </a:lnTo>
                  <a:close/>
                  <a:moveTo>
                    <a:pt x="2249" y="0"/>
                  </a:moveTo>
                  <a:lnTo>
                    <a:pt x="1250" y="1258"/>
                  </a:lnTo>
                  <a:lnTo>
                    <a:pt x="1" y="1258"/>
                  </a:lnTo>
                  <a:lnTo>
                    <a:pt x="1" y="1677"/>
                  </a:lnTo>
                  <a:lnTo>
                    <a:pt x="1205" y="1677"/>
                  </a:lnTo>
                  <a:lnTo>
                    <a:pt x="2249" y="4550"/>
                  </a:lnTo>
                  <a:lnTo>
                    <a:pt x="3293" y="1677"/>
                  </a:lnTo>
                  <a:lnTo>
                    <a:pt x="4497" y="1677"/>
                  </a:lnTo>
                  <a:lnTo>
                    <a:pt x="4497" y="1258"/>
                  </a:lnTo>
                  <a:lnTo>
                    <a:pt x="3248" y="1258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883;p67">
              <a:extLst>
                <a:ext uri="{FF2B5EF4-FFF2-40B4-BE49-F238E27FC236}">
                  <a16:creationId xmlns:a16="http://schemas.microsoft.com/office/drawing/2014/main" id="{1A47DE09-F6BA-7964-A3BC-99DD3200225E}"/>
                </a:ext>
              </a:extLst>
            </p:cNvPr>
            <p:cNvSpPr/>
            <p:nvPr/>
          </p:nvSpPr>
          <p:spPr>
            <a:xfrm>
              <a:off x="1724729" y="2586598"/>
              <a:ext cx="416260" cy="229409"/>
            </a:xfrm>
            <a:custGeom>
              <a:avLst/>
              <a:gdLst/>
              <a:ahLst/>
              <a:cxnLst/>
              <a:rect l="l" t="t" r="r" b="b"/>
              <a:pathLst>
                <a:path w="12999" h="7164" extrusionOk="0">
                  <a:moveTo>
                    <a:pt x="5460" y="428"/>
                  </a:moveTo>
                  <a:lnTo>
                    <a:pt x="6272" y="2248"/>
                  </a:lnTo>
                  <a:lnTo>
                    <a:pt x="3578" y="2248"/>
                  </a:lnTo>
                  <a:lnTo>
                    <a:pt x="4389" y="428"/>
                  </a:lnTo>
                  <a:close/>
                  <a:moveTo>
                    <a:pt x="8609" y="428"/>
                  </a:moveTo>
                  <a:lnTo>
                    <a:pt x="9421" y="2248"/>
                  </a:lnTo>
                  <a:lnTo>
                    <a:pt x="6718" y="2248"/>
                  </a:lnTo>
                  <a:lnTo>
                    <a:pt x="7530" y="428"/>
                  </a:lnTo>
                  <a:close/>
                  <a:moveTo>
                    <a:pt x="5496" y="2668"/>
                  </a:moveTo>
                  <a:lnTo>
                    <a:pt x="4925" y="3961"/>
                  </a:lnTo>
                  <a:lnTo>
                    <a:pt x="4354" y="2668"/>
                  </a:lnTo>
                  <a:close/>
                  <a:moveTo>
                    <a:pt x="8645" y="2668"/>
                  </a:moveTo>
                  <a:lnTo>
                    <a:pt x="8065" y="3961"/>
                  </a:lnTo>
                  <a:lnTo>
                    <a:pt x="7494" y="2668"/>
                  </a:lnTo>
                  <a:close/>
                  <a:moveTo>
                    <a:pt x="3890" y="2668"/>
                  </a:moveTo>
                  <a:lnTo>
                    <a:pt x="4702" y="4496"/>
                  </a:lnTo>
                  <a:lnTo>
                    <a:pt x="2007" y="4496"/>
                  </a:lnTo>
                  <a:lnTo>
                    <a:pt x="2819" y="2668"/>
                  </a:lnTo>
                  <a:close/>
                  <a:moveTo>
                    <a:pt x="7030" y="2668"/>
                  </a:moveTo>
                  <a:lnTo>
                    <a:pt x="7842" y="4496"/>
                  </a:lnTo>
                  <a:lnTo>
                    <a:pt x="5148" y="4496"/>
                  </a:lnTo>
                  <a:lnTo>
                    <a:pt x="5959" y="2668"/>
                  </a:lnTo>
                  <a:close/>
                  <a:moveTo>
                    <a:pt x="10179" y="2668"/>
                  </a:moveTo>
                  <a:lnTo>
                    <a:pt x="10991" y="4496"/>
                  </a:lnTo>
                  <a:lnTo>
                    <a:pt x="8297" y="4496"/>
                  </a:lnTo>
                  <a:lnTo>
                    <a:pt x="9100" y="2668"/>
                  </a:lnTo>
                  <a:close/>
                  <a:moveTo>
                    <a:pt x="3925" y="4916"/>
                  </a:moveTo>
                  <a:lnTo>
                    <a:pt x="3355" y="6209"/>
                  </a:lnTo>
                  <a:lnTo>
                    <a:pt x="2775" y="4916"/>
                  </a:lnTo>
                  <a:close/>
                  <a:moveTo>
                    <a:pt x="7075" y="4916"/>
                  </a:moveTo>
                  <a:lnTo>
                    <a:pt x="6495" y="6209"/>
                  </a:lnTo>
                  <a:lnTo>
                    <a:pt x="5924" y="4916"/>
                  </a:lnTo>
                  <a:close/>
                  <a:moveTo>
                    <a:pt x="10215" y="4916"/>
                  </a:moveTo>
                  <a:lnTo>
                    <a:pt x="9644" y="6209"/>
                  </a:lnTo>
                  <a:lnTo>
                    <a:pt x="9064" y="4916"/>
                  </a:lnTo>
                  <a:close/>
                  <a:moveTo>
                    <a:pt x="2320" y="4916"/>
                  </a:moveTo>
                  <a:lnTo>
                    <a:pt x="3132" y="6744"/>
                  </a:lnTo>
                  <a:lnTo>
                    <a:pt x="428" y="6744"/>
                  </a:lnTo>
                  <a:lnTo>
                    <a:pt x="1240" y="4916"/>
                  </a:lnTo>
                  <a:close/>
                  <a:moveTo>
                    <a:pt x="5460" y="4916"/>
                  </a:moveTo>
                  <a:lnTo>
                    <a:pt x="6272" y="6744"/>
                  </a:lnTo>
                  <a:lnTo>
                    <a:pt x="3578" y="6744"/>
                  </a:lnTo>
                  <a:lnTo>
                    <a:pt x="4389" y="4916"/>
                  </a:lnTo>
                  <a:close/>
                  <a:moveTo>
                    <a:pt x="8609" y="4916"/>
                  </a:moveTo>
                  <a:lnTo>
                    <a:pt x="9421" y="6744"/>
                  </a:lnTo>
                  <a:lnTo>
                    <a:pt x="6718" y="6744"/>
                  </a:lnTo>
                  <a:lnTo>
                    <a:pt x="7530" y="4916"/>
                  </a:lnTo>
                  <a:close/>
                  <a:moveTo>
                    <a:pt x="11749" y="4916"/>
                  </a:moveTo>
                  <a:lnTo>
                    <a:pt x="12561" y="6744"/>
                  </a:lnTo>
                  <a:lnTo>
                    <a:pt x="9867" y="6744"/>
                  </a:lnTo>
                  <a:lnTo>
                    <a:pt x="10679" y="4916"/>
                  </a:lnTo>
                  <a:close/>
                  <a:moveTo>
                    <a:pt x="4113" y="0"/>
                  </a:moveTo>
                  <a:lnTo>
                    <a:pt x="3140" y="2195"/>
                  </a:lnTo>
                  <a:lnTo>
                    <a:pt x="3140" y="2248"/>
                  </a:lnTo>
                  <a:lnTo>
                    <a:pt x="2543" y="2248"/>
                  </a:lnTo>
                  <a:lnTo>
                    <a:pt x="1570" y="4434"/>
                  </a:lnTo>
                  <a:lnTo>
                    <a:pt x="1570" y="4496"/>
                  </a:lnTo>
                  <a:lnTo>
                    <a:pt x="973" y="4496"/>
                  </a:lnTo>
                  <a:lnTo>
                    <a:pt x="0" y="6682"/>
                  </a:lnTo>
                  <a:lnTo>
                    <a:pt x="0" y="7164"/>
                  </a:lnTo>
                  <a:lnTo>
                    <a:pt x="12998" y="7164"/>
                  </a:lnTo>
                  <a:lnTo>
                    <a:pt x="12998" y="6682"/>
                  </a:lnTo>
                  <a:lnTo>
                    <a:pt x="12026" y="4496"/>
                  </a:lnTo>
                  <a:lnTo>
                    <a:pt x="11419" y="4496"/>
                  </a:lnTo>
                  <a:lnTo>
                    <a:pt x="11419" y="4434"/>
                  </a:lnTo>
                  <a:lnTo>
                    <a:pt x="10447" y="2248"/>
                  </a:lnTo>
                  <a:lnTo>
                    <a:pt x="9849" y="2248"/>
                  </a:lnTo>
                  <a:lnTo>
                    <a:pt x="9849" y="2195"/>
                  </a:lnTo>
                  <a:lnTo>
                    <a:pt x="8877" y="0"/>
                  </a:lnTo>
                  <a:lnTo>
                    <a:pt x="7262" y="0"/>
                  </a:lnTo>
                  <a:lnTo>
                    <a:pt x="6495" y="1713"/>
                  </a:lnTo>
                  <a:lnTo>
                    <a:pt x="5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884;p67">
              <a:extLst>
                <a:ext uri="{FF2B5EF4-FFF2-40B4-BE49-F238E27FC236}">
                  <a16:creationId xmlns:a16="http://schemas.microsoft.com/office/drawing/2014/main" id="{B480FFB5-1534-09FD-E940-D50DCC3E8C90}"/>
                </a:ext>
              </a:extLst>
            </p:cNvPr>
            <p:cNvSpPr/>
            <p:nvPr/>
          </p:nvSpPr>
          <p:spPr>
            <a:xfrm>
              <a:off x="1860696" y="2629732"/>
              <a:ext cx="14602" cy="13738"/>
            </a:xfrm>
            <a:custGeom>
              <a:avLst/>
              <a:gdLst/>
              <a:ahLst/>
              <a:cxnLst/>
              <a:rect l="l" t="t" r="r" b="b"/>
              <a:pathLst>
                <a:path w="456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56" y="428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885;p67">
              <a:extLst>
                <a:ext uri="{FF2B5EF4-FFF2-40B4-BE49-F238E27FC236}">
                  <a16:creationId xmlns:a16="http://schemas.microsoft.com/office/drawing/2014/main" id="{2E933FEB-B1EA-7269-F698-49104C405DC1}"/>
                </a:ext>
              </a:extLst>
            </p:cNvPr>
            <p:cNvSpPr/>
            <p:nvPr/>
          </p:nvSpPr>
          <p:spPr>
            <a:xfrm>
              <a:off x="1810421" y="2701719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886;p67">
              <a:extLst>
                <a:ext uri="{FF2B5EF4-FFF2-40B4-BE49-F238E27FC236}">
                  <a16:creationId xmlns:a16="http://schemas.microsoft.com/office/drawing/2014/main" id="{4B9B408D-85E6-AA75-DDF2-F5B3F0DFAE8F}"/>
                </a:ext>
              </a:extLst>
            </p:cNvPr>
            <p:cNvSpPr/>
            <p:nvPr/>
          </p:nvSpPr>
          <p:spPr>
            <a:xfrm>
              <a:off x="2090970" y="2773705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1887;p67">
              <a:extLst>
                <a:ext uri="{FF2B5EF4-FFF2-40B4-BE49-F238E27FC236}">
                  <a16:creationId xmlns:a16="http://schemas.microsoft.com/office/drawing/2014/main" id="{7A66772A-2301-7B22-CEAE-2A59E9E7228B}"/>
                </a:ext>
              </a:extLst>
            </p:cNvPr>
            <p:cNvSpPr/>
            <p:nvPr/>
          </p:nvSpPr>
          <p:spPr>
            <a:xfrm>
              <a:off x="1990387" y="2773705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888;p67">
              <a:extLst>
                <a:ext uri="{FF2B5EF4-FFF2-40B4-BE49-F238E27FC236}">
                  <a16:creationId xmlns:a16="http://schemas.microsoft.com/office/drawing/2014/main" id="{DE7D0CB4-2C3F-37B8-6E0E-4AE7269CD514}"/>
                </a:ext>
              </a:extLst>
            </p:cNvPr>
            <p:cNvSpPr/>
            <p:nvPr/>
          </p:nvSpPr>
          <p:spPr>
            <a:xfrm>
              <a:off x="1926118" y="2356036"/>
              <a:ext cx="13449" cy="43166"/>
            </a:xfrm>
            <a:custGeom>
              <a:avLst/>
              <a:gdLst/>
              <a:ahLst/>
              <a:cxnLst/>
              <a:rect l="l" t="t" r="r" b="b"/>
              <a:pathLst>
                <a:path w="420" h="1348" extrusionOk="0">
                  <a:moveTo>
                    <a:pt x="1" y="1"/>
                  </a:moveTo>
                  <a:lnTo>
                    <a:pt x="1" y="1348"/>
                  </a:lnTo>
                  <a:lnTo>
                    <a:pt x="420" y="1348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889;p67">
              <a:extLst>
                <a:ext uri="{FF2B5EF4-FFF2-40B4-BE49-F238E27FC236}">
                  <a16:creationId xmlns:a16="http://schemas.microsoft.com/office/drawing/2014/main" id="{5C0C077D-6BF4-4A4C-A7B4-E4B61857E236}"/>
                </a:ext>
              </a:extLst>
            </p:cNvPr>
            <p:cNvSpPr/>
            <p:nvPr/>
          </p:nvSpPr>
          <p:spPr>
            <a:xfrm>
              <a:off x="1856117" y="2372912"/>
              <a:ext cx="38331" cy="38299"/>
            </a:xfrm>
            <a:custGeom>
              <a:avLst/>
              <a:gdLst/>
              <a:ahLst/>
              <a:cxnLst/>
              <a:rect l="l" t="t" r="r" b="b"/>
              <a:pathLst>
                <a:path w="1197" h="1196" extrusionOk="0">
                  <a:moveTo>
                    <a:pt x="295" y="0"/>
                  </a:moveTo>
                  <a:lnTo>
                    <a:pt x="1" y="295"/>
                  </a:lnTo>
                  <a:lnTo>
                    <a:pt x="893" y="1196"/>
                  </a:lnTo>
                  <a:lnTo>
                    <a:pt x="1196" y="901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890;p67">
              <a:extLst>
                <a:ext uri="{FF2B5EF4-FFF2-40B4-BE49-F238E27FC236}">
                  <a16:creationId xmlns:a16="http://schemas.microsoft.com/office/drawing/2014/main" id="{B1A931E3-A337-3182-64BC-FC7D62C820E3}"/>
                </a:ext>
              </a:extLst>
            </p:cNvPr>
            <p:cNvSpPr/>
            <p:nvPr/>
          </p:nvSpPr>
          <p:spPr>
            <a:xfrm>
              <a:off x="1970982" y="2372912"/>
              <a:ext cx="38587" cy="38299"/>
            </a:xfrm>
            <a:custGeom>
              <a:avLst/>
              <a:gdLst/>
              <a:ahLst/>
              <a:cxnLst/>
              <a:rect l="l" t="t" r="r" b="b"/>
              <a:pathLst>
                <a:path w="1205" h="1196" extrusionOk="0">
                  <a:moveTo>
                    <a:pt x="901" y="0"/>
                  </a:moveTo>
                  <a:lnTo>
                    <a:pt x="0" y="901"/>
                  </a:lnTo>
                  <a:lnTo>
                    <a:pt x="303" y="1196"/>
                  </a:lnTo>
                  <a:lnTo>
                    <a:pt x="1205" y="295"/>
                  </a:lnTo>
                  <a:lnTo>
                    <a:pt x="9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0" name="TextBox 979">
            <a:extLst>
              <a:ext uri="{FF2B5EF4-FFF2-40B4-BE49-F238E27FC236}">
                <a16:creationId xmlns:a16="http://schemas.microsoft.com/office/drawing/2014/main" id="{01A789FF-5ED0-FC43-15D6-F5279BB2EFA4}"/>
              </a:ext>
            </a:extLst>
          </p:cNvPr>
          <p:cNvSpPr txBox="1"/>
          <p:nvPr/>
        </p:nvSpPr>
        <p:spPr>
          <a:xfrm>
            <a:off x="8272016" y="4602086"/>
            <a:ext cx="79701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Own analysis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82" name="TextBox 981">
            <a:extLst>
              <a:ext uri="{FF2B5EF4-FFF2-40B4-BE49-F238E27FC236}">
                <a16:creationId xmlns:a16="http://schemas.microsoft.com/office/drawing/2014/main" id="{A9ABDA5C-B0DC-1A7F-8B3E-B2EE67CA4938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4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4"/>
          <p:cNvSpPr txBox="1">
            <a:spLocks noGrp="1"/>
          </p:cNvSpPr>
          <p:nvPr>
            <p:ph type="title"/>
          </p:nvPr>
        </p:nvSpPr>
        <p:spPr>
          <a:xfrm>
            <a:off x="388802" y="4275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Funding </a:t>
            </a:r>
            <a:r>
              <a:rPr lang="en-US" sz="3200">
                <a:highlight>
                  <a:schemeClr val="dk2"/>
                </a:highlight>
              </a:rPr>
              <a:t>by Outcome</a:t>
            </a:r>
            <a:endParaRPr sz="3200" dirty="0">
              <a:highlight>
                <a:schemeClr val="dk2"/>
              </a:highlight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6438280"/>
              </p:ext>
            </p:extLst>
          </p:nvPr>
        </p:nvGraphicFramePr>
        <p:xfrm>
          <a:off x="2981170" y="1261513"/>
          <a:ext cx="5534840" cy="3296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951" name="Google Shape;1357;p64">
            <a:extLst>
              <a:ext uri="{FF2B5EF4-FFF2-40B4-BE49-F238E27FC236}">
                <a16:creationId xmlns:a16="http://schemas.microsoft.com/office/drawing/2014/main" id="{F2B7A949-F21A-2B8A-6836-61915E81285F}"/>
              </a:ext>
            </a:extLst>
          </p:cNvPr>
          <p:cNvGrpSpPr/>
          <p:nvPr/>
        </p:nvGrpSpPr>
        <p:grpSpPr>
          <a:xfrm rot="5400000">
            <a:off x="-54624" y="759990"/>
            <a:ext cx="805506" cy="1536960"/>
            <a:chOff x="8632600" y="4089800"/>
            <a:chExt cx="271800" cy="518700"/>
          </a:xfrm>
        </p:grpSpPr>
        <p:sp>
          <p:nvSpPr>
            <p:cNvPr id="952" name="Google Shape;1358;p64">
              <a:extLst>
                <a:ext uri="{FF2B5EF4-FFF2-40B4-BE49-F238E27FC236}">
                  <a16:creationId xmlns:a16="http://schemas.microsoft.com/office/drawing/2014/main" id="{295776F0-2EEE-72DC-C266-D0339ED72391}"/>
                </a:ext>
              </a:extLst>
            </p:cNvPr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359;p64">
              <a:extLst>
                <a:ext uri="{FF2B5EF4-FFF2-40B4-BE49-F238E27FC236}">
                  <a16:creationId xmlns:a16="http://schemas.microsoft.com/office/drawing/2014/main" id="{9C2474F6-DADF-0D57-2DC1-AA7B7922ECEA}"/>
                </a:ext>
              </a:extLst>
            </p:cNvPr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4" name="Google Shape;909;p54">
            <a:extLst>
              <a:ext uri="{FF2B5EF4-FFF2-40B4-BE49-F238E27FC236}">
                <a16:creationId xmlns:a16="http://schemas.microsoft.com/office/drawing/2014/main" id="{754C723F-5196-2EA0-FB0B-F9B29EFF4B8F}"/>
              </a:ext>
            </a:extLst>
          </p:cNvPr>
          <p:cNvSpPr txBox="1">
            <a:spLocks/>
          </p:cNvSpPr>
          <p:nvPr/>
        </p:nvSpPr>
        <p:spPr>
          <a:xfrm>
            <a:off x="356773" y="2192523"/>
            <a:ext cx="2663046" cy="110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 algn="just">
              <a:buFont typeface="Sora"/>
              <a:buNone/>
            </a:pPr>
            <a:r>
              <a:rPr lang="en-US" sz="1200" b="1">
                <a:solidFill>
                  <a:schemeClr val="tx1"/>
                </a:solidFill>
              </a:rPr>
              <a:t>Successful start-ups raised about twice as much: </a:t>
            </a:r>
            <a:r>
              <a:rPr lang="en-US" sz="1200" b="1">
                <a:solidFill>
                  <a:schemeClr val="tx1"/>
                </a:solidFill>
                <a:highlight>
                  <a:srgbClr val="0000FF"/>
                </a:highlight>
              </a:rPr>
              <a:t>average funding</a:t>
            </a:r>
            <a:r>
              <a:rPr lang="en-US" sz="1200" b="1">
                <a:solidFill>
                  <a:schemeClr val="tx1"/>
                </a:solidFill>
              </a:rPr>
              <a:t> is $31.0M vs $15.1M for closed ones, and they completed more rounds (2.5 vs 1.9)</a:t>
            </a:r>
            <a:endParaRPr lang="en" sz="1200" b="1" dirty="0">
              <a:solidFill>
                <a:schemeClr val="tx1"/>
              </a:solidFill>
            </a:endParaRPr>
          </a:p>
        </p:txBody>
      </p:sp>
      <p:sp>
        <p:nvSpPr>
          <p:cNvPr id="957" name="Google Shape;909;p54">
            <a:extLst>
              <a:ext uri="{FF2B5EF4-FFF2-40B4-BE49-F238E27FC236}">
                <a16:creationId xmlns:a16="http://schemas.microsoft.com/office/drawing/2014/main" id="{A50F6A30-5925-5853-BB86-623AABF02B02}"/>
              </a:ext>
            </a:extLst>
          </p:cNvPr>
          <p:cNvSpPr txBox="1">
            <a:spLocks/>
          </p:cNvSpPr>
          <p:nvPr/>
        </p:nvSpPr>
        <p:spPr>
          <a:xfrm>
            <a:off x="348129" y="3615606"/>
            <a:ext cx="2793622" cy="59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 algn="just">
              <a:buFont typeface="Sora"/>
              <a:buNone/>
            </a:pPr>
            <a:r>
              <a:rPr lang="en-US" sz="1200" b="1">
                <a:solidFill>
                  <a:schemeClr val="tx1"/>
                </a:solidFill>
                <a:highlight>
                  <a:srgbClr val="0000FF"/>
                </a:highlight>
              </a:rPr>
              <a:t>Total funding is highly skewed by a few very large raises, so the models use log funding to reduce the effect of outliers</a:t>
            </a:r>
            <a:endParaRPr lang="en" sz="1200" b="1" dirty="0">
              <a:solidFill>
                <a:schemeClr val="tx1"/>
              </a:solidFill>
              <a:highlight>
                <a:srgbClr val="0000FF"/>
              </a:highlight>
            </a:endParaRPr>
          </a:p>
        </p:txBody>
      </p:sp>
      <p:grpSp>
        <p:nvGrpSpPr>
          <p:cNvPr id="1006" name="Google Shape;546;p47">
            <a:extLst>
              <a:ext uri="{FF2B5EF4-FFF2-40B4-BE49-F238E27FC236}">
                <a16:creationId xmlns:a16="http://schemas.microsoft.com/office/drawing/2014/main" id="{E388A567-CEDD-7CDC-67B7-90537112F8E8}"/>
              </a:ext>
            </a:extLst>
          </p:cNvPr>
          <p:cNvGrpSpPr/>
          <p:nvPr/>
        </p:nvGrpSpPr>
        <p:grpSpPr>
          <a:xfrm flipH="1">
            <a:off x="8184397" y="558163"/>
            <a:ext cx="1390222" cy="572700"/>
            <a:chOff x="7461743" y="660738"/>
            <a:chExt cx="1348800" cy="706200"/>
          </a:xfrm>
        </p:grpSpPr>
        <p:sp>
          <p:nvSpPr>
            <p:cNvPr id="1007" name="Google Shape;547;p47">
              <a:extLst>
                <a:ext uri="{FF2B5EF4-FFF2-40B4-BE49-F238E27FC236}">
                  <a16:creationId xmlns:a16="http://schemas.microsoft.com/office/drawing/2014/main" id="{96B07E58-0BE8-C244-7AFD-9412F3C5DFAF}"/>
                </a:ext>
              </a:extLst>
            </p:cNvPr>
            <p:cNvSpPr/>
            <p:nvPr/>
          </p:nvSpPr>
          <p:spPr>
            <a:xfrm>
              <a:off x="7461743" y="660738"/>
              <a:ext cx="1348800" cy="7062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548;p47">
              <a:extLst>
                <a:ext uri="{FF2B5EF4-FFF2-40B4-BE49-F238E27FC236}">
                  <a16:creationId xmlns:a16="http://schemas.microsoft.com/office/drawing/2014/main" id="{6E84FC76-4A74-540B-EE7F-9FF432DBA4F9}"/>
                </a:ext>
              </a:extLst>
            </p:cNvPr>
            <p:cNvSpPr/>
            <p:nvPr/>
          </p:nvSpPr>
          <p:spPr>
            <a:xfrm>
              <a:off x="8390161" y="731759"/>
              <a:ext cx="371868" cy="564186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9" name="TextBox 1008">
            <a:extLst>
              <a:ext uri="{FF2B5EF4-FFF2-40B4-BE49-F238E27FC236}">
                <a16:creationId xmlns:a16="http://schemas.microsoft.com/office/drawing/2014/main" id="{3A243377-CE7B-28C6-42A0-F11986E42749}"/>
              </a:ext>
            </a:extLst>
          </p:cNvPr>
          <p:cNvSpPr txBox="1"/>
          <p:nvPr/>
        </p:nvSpPr>
        <p:spPr>
          <a:xfrm>
            <a:off x="8192579" y="4483009"/>
            <a:ext cx="9285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Own analysis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10" name="TextBox 1009">
            <a:extLst>
              <a:ext uri="{FF2B5EF4-FFF2-40B4-BE49-F238E27FC236}">
                <a16:creationId xmlns:a16="http://schemas.microsoft.com/office/drawing/2014/main" id="{10814949-57EA-DCC1-C36E-EC6A8198C364}"/>
              </a:ext>
            </a:extLst>
          </p:cNvPr>
          <p:cNvSpPr txBox="1"/>
          <p:nvPr/>
        </p:nvSpPr>
        <p:spPr>
          <a:xfrm>
            <a:off x="7730934" y="4623743"/>
            <a:ext cx="13902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12" name="TextBox 1011">
            <a:extLst>
              <a:ext uri="{FF2B5EF4-FFF2-40B4-BE49-F238E27FC236}">
                <a16:creationId xmlns:a16="http://schemas.microsoft.com/office/drawing/2014/main" id="{2FEAA461-F94E-03C2-C201-08255C79AD45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737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9"/>
          <p:cNvSpPr/>
          <p:nvPr/>
        </p:nvSpPr>
        <p:spPr>
          <a:xfrm rot="10800000">
            <a:off x="5455819" y="-2221680"/>
            <a:ext cx="2904000" cy="304595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99" name="Google Shape;699;p49"/>
          <p:cNvGraphicFramePr/>
          <p:nvPr>
            <p:extLst>
              <p:ext uri="{D42A27DB-BD31-4B8C-83A1-F6EECF244321}">
                <p14:modId xmlns:p14="http://schemas.microsoft.com/office/powerpoint/2010/main" val="3820866610"/>
              </p:ext>
            </p:extLst>
          </p:nvPr>
        </p:nvGraphicFramePr>
        <p:xfrm>
          <a:off x="1468221" y="1069896"/>
          <a:ext cx="7044914" cy="3413520"/>
        </p:xfrm>
        <a:graphic>
          <a:graphicData uri="http://schemas.openxmlformats.org/drawingml/2006/table">
            <a:tbl>
              <a:tblPr>
                <a:noFill/>
                <a:tableStyleId>{43164FAF-DC50-404C-A608-E806313AFF97}</a:tableStyleId>
              </a:tblPr>
              <a:tblGrid>
                <a:gridCol w="1006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38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141">
                  <a:extLst>
                    <a:ext uri="{9D8B030D-6E8A-4147-A177-3AD203B41FA5}">
                      <a16:colId xmlns:a16="http://schemas.microsoft.com/office/drawing/2014/main" val="622448524"/>
                    </a:ext>
                  </a:extLst>
                </a:gridCol>
                <a:gridCol w="857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Model</a:t>
                      </a:r>
                      <a:endParaRPr sz="800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Accuracy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Precision (Closed)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Recall (Closed)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F1 (Closed)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Precision (Success)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Recall (Success)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F1 (Success)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highlight>
                            <a:srgbClr val="0000FF"/>
                          </a:highlight>
                          <a:latin typeface="Sora"/>
                          <a:ea typeface="Sora"/>
                          <a:cs typeface="Sora"/>
                          <a:sym typeface="Sora"/>
                        </a:rPr>
                        <a:t>Logistic Regression</a:t>
                      </a:r>
                      <a:endParaRPr sz="800" b="1" dirty="0">
                        <a:solidFill>
                          <a:schemeClr val="dk1"/>
                        </a:solidFill>
                        <a:highlight>
                          <a:srgbClr val="0000FF"/>
                        </a:highlight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0.71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0.62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0.50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0.83</a:t>
                      </a: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0.79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Random Forest</a:t>
                      </a:r>
                      <a:endParaRPr lang="en-GB"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0.70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9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0.60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9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0.50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0.54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0.82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0" name="Google Shape;700;p49"/>
          <p:cNvSpPr txBox="1">
            <a:spLocks noGrp="1"/>
          </p:cNvSpPr>
          <p:nvPr>
            <p:ph type="title"/>
          </p:nvPr>
        </p:nvSpPr>
        <p:spPr>
          <a:xfrm>
            <a:off x="318767" y="3060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Model</a:t>
            </a:r>
            <a:r>
              <a:rPr lang="en" sz="3200"/>
              <a:t> </a:t>
            </a:r>
            <a:r>
              <a:rPr lang="en-US" sz="3200">
                <a:highlight>
                  <a:schemeClr val="dk2"/>
                </a:highlight>
              </a:rPr>
              <a:t>Performance</a:t>
            </a:r>
            <a:endParaRPr sz="3200" dirty="0"/>
          </a:p>
        </p:txBody>
      </p:sp>
      <p:sp>
        <p:nvSpPr>
          <p:cNvPr id="701" name="Google Shape;701;p49"/>
          <p:cNvSpPr/>
          <p:nvPr/>
        </p:nvSpPr>
        <p:spPr>
          <a:xfrm>
            <a:off x="7889890" y="535000"/>
            <a:ext cx="538706" cy="534896"/>
          </a:xfrm>
          <a:custGeom>
            <a:avLst/>
            <a:gdLst/>
            <a:ahLst/>
            <a:cxnLst/>
            <a:rect l="l" t="t" r="r" b="b"/>
            <a:pathLst>
              <a:path w="25027" h="24850" extrusionOk="0">
                <a:moveTo>
                  <a:pt x="5221" y="0"/>
                </a:moveTo>
                <a:lnTo>
                  <a:pt x="5221" y="3759"/>
                </a:lnTo>
                <a:lnTo>
                  <a:pt x="18432" y="3759"/>
                </a:lnTo>
                <a:lnTo>
                  <a:pt x="1" y="22191"/>
                </a:lnTo>
                <a:lnTo>
                  <a:pt x="2660" y="24850"/>
                </a:lnTo>
                <a:lnTo>
                  <a:pt x="21268" y="6242"/>
                </a:lnTo>
                <a:lnTo>
                  <a:pt x="21268" y="19806"/>
                </a:lnTo>
                <a:lnTo>
                  <a:pt x="25027" y="19806"/>
                </a:lnTo>
                <a:lnTo>
                  <a:pt x="2502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2" name="Google Shape;702;p49"/>
          <p:cNvGrpSpPr/>
          <p:nvPr/>
        </p:nvGrpSpPr>
        <p:grpSpPr>
          <a:xfrm>
            <a:off x="7426846" y="360481"/>
            <a:ext cx="833652" cy="572715"/>
            <a:chOff x="4052668" y="1475033"/>
            <a:chExt cx="459971" cy="315998"/>
          </a:xfrm>
        </p:grpSpPr>
        <p:sp>
          <p:nvSpPr>
            <p:cNvPr id="703" name="Google Shape;703;p49"/>
            <p:cNvSpPr/>
            <p:nvPr/>
          </p:nvSpPr>
          <p:spPr>
            <a:xfrm>
              <a:off x="4202085" y="1511026"/>
              <a:ext cx="157711" cy="157711"/>
            </a:xfrm>
            <a:custGeom>
              <a:avLst/>
              <a:gdLst/>
              <a:ahLst/>
              <a:cxnLst/>
              <a:rect l="l" t="t" r="r" b="b"/>
              <a:pathLst>
                <a:path w="4925" h="4925" extrusionOk="0">
                  <a:moveTo>
                    <a:pt x="2463" y="1"/>
                  </a:moveTo>
                  <a:cubicBezTo>
                    <a:pt x="1098" y="1"/>
                    <a:pt x="1" y="1098"/>
                    <a:pt x="1" y="2463"/>
                  </a:cubicBezTo>
                  <a:cubicBezTo>
                    <a:pt x="1" y="3819"/>
                    <a:pt x="1098" y="4925"/>
                    <a:pt x="2463" y="4925"/>
                  </a:cubicBezTo>
                  <a:cubicBezTo>
                    <a:pt x="3828" y="4925"/>
                    <a:pt x="4925" y="3819"/>
                    <a:pt x="4925" y="2463"/>
                  </a:cubicBezTo>
                  <a:cubicBezTo>
                    <a:pt x="4925" y="1098"/>
                    <a:pt x="3828" y="1"/>
                    <a:pt x="2463" y="1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9"/>
            <p:cNvSpPr/>
            <p:nvPr/>
          </p:nvSpPr>
          <p:spPr>
            <a:xfrm>
              <a:off x="4095514" y="1662140"/>
              <a:ext cx="122326" cy="13770"/>
            </a:xfrm>
            <a:custGeom>
              <a:avLst/>
              <a:gdLst/>
              <a:ahLst/>
              <a:cxnLst/>
              <a:rect l="l" t="t" r="r" b="b"/>
              <a:pathLst>
                <a:path w="3820" h="430" extrusionOk="0">
                  <a:moveTo>
                    <a:pt x="1" y="1"/>
                  </a:moveTo>
                  <a:lnTo>
                    <a:pt x="1" y="429"/>
                  </a:lnTo>
                  <a:lnTo>
                    <a:pt x="3819" y="429"/>
                  </a:lnTo>
                  <a:lnTo>
                    <a:pt x="38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9"/>
            <p:cNvSpPr/>
            <p:nvPr/>
          </p:nvSpPr>
          <p:spPr>
            <a:xfrm>
              <a:off x="4354641" y="1503885"/>
              <a:ext cx="122582" cy="13449"/>
            </a:xfrm>
            <a:custGeom>
              <a:avLst/>
              <a:gdLst/>
              <a:ahLst/>
              <a:cxnLst/>
              <a:rect l="l" t="t" r="r" b="b"/>
              <a:pathLst>
                <a:path w="3828" h="420" extrusionOk="0">
                  <a:moveTo>
                    <a:pt x="0" y="1"/>
                  </a:moveTo>
                  <a:lnTo>
                    <a:pt x="0" y="420"/>
                  </a:lnTo>
                  <a:lnTo>
                    <a:pt x="3827" y="420"/>
                  </a:lnTo>
                  <a:lnTo>
                    <a:pt x="38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9"/>
            <p:cNvSpPr/>
            <p:nvPr/>
          </p:nvSpPr>
          <p:spPr>
            <a:xfrm>
              <a:off x="4124399" y="1503885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9"/>
            <p:cNvSpPr/>
            <p:nvPr/>
          </p:nvSpPr>
          <p:spPr>
            <a:xfrm>
              <a:off x="4153251" y="1503885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9"/>
            <p:cNvSpPr/>
            <p:nvPr/>
          </p:nvSpPr>
          <p:spPr>
            <a:xfrm>
              <a:off x="4095514" y="1503885"/>
              <a:ext cx="14346" cy="13449"/>
            </a:xfrm>
            <a:custGeom>
              <a:avLst/>
              <a:gdLst/>
              <a:ahLst/>
              <a:cxnLst/>
              <a:rect l="l" t="t" r="r" b="b"/>
              <a:pathLst>
                <a:path w="448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9"/>
            <p:cNvSpPr/>
            <p:nvPr/>
          </p:nvSpPr>
          <p:spPr>
            <a:xfrm>
              <a:off x="4397775" y="1662140"/>
              <a:ext cx="14602" cy="13770"/>
            </a:xfrm>
            <a:custGeom>
              <a:avLst/>
              <a:gdLst/>
              <a:ahLst/>
              <a:cxnLst/>
              <a:rect l="l" t="t" r="r" b="b"/>
              <a:pathLst>
                <a:path w="456" h="430" extrusionOk="0">
                  <a:moveTo>
                    <a:pt x="0" y="1"/>
                  </a:moveTo>
                  <a:lnTo>
                    <a:pt x="0" y="429"/>
                  </a:lnTo>
                  <a:lnTo>
                    <a:pt x="455" y="429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9"/>
            <p:cNvSpPr/>
            <p:nvPr/>
          </p:nvSpPr>
          <p:spPr>
            <a:xfrm>
              <a:off x="4426627" y="1662140"/>
              <a:ext cx="14602" cy="13770"/>
            </a:xfrm>
            <a:custGeom>
              <a:avLst/>
              <a:gdLst/>
              <a:ahLst/>
              <a:cxnLst/>
              <a:rect l="l" t="t" r="r" b="b"/>
              <a:pathLst>
                <a:path w="456" h="430" extrusionOk="0">
                  <a:moveTo>
                    <a:pt x="0" y="1"/>
                  </a:moveTo>
                  <a:lnTo>
                    <a:pt x="0" y="429"/>
                  </a:lnTo>
                  <a:lnTo>
                    <a:pt x="455" y="429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9"/>
            <p:cNvSpPr/>
            <p:nvPr/>
          </p:nvSpPr>
          <p:spPr>
            <a:xfrm>
              <a:off x="4455479" y="1662140"/>
              <a:ext cx="14314" cy="13770"/>
            </a:xfrm>
            <a:custGeom>
              <a:avLst/>
              <a:gdLst/>
              <a:ahLst/>
              <a:cxnLst/>
              <a:rect l="l" t="t" r="r" b="b"/>
              <a:pathLst>
                <a:path w="447" h="430" extrusionOk="0">
                  <a:moveTo>
                    <a:pt x="0" y="1"/>
                  </a:moveTo>
                  <a:lnTo>
                    <a:pt x="0" y="429"/>
                  </a:lnTo>
                  <a:lnTo>
                    <a:pt x="447" y="429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9"/>
            <p:cNvSpPr/>
            <p:nvPr/>
          </p:nvSpPr>
          <p:spPr>
            <a:xfrm>
              <a:off x="4153251" y="1575295"/>
              <a:ext cx="28596" cy="28884"/>
            </a:xfrm>
            <a:custGeom>
              <a:avLst/>
              <a:gdLst/>
              <a:ahLst/>
              <a:cxnLst/>
              <a:rect l="l" t="t" r="r" b="b"/>
              <a:pathLst>
                <a:path w="893" h="902" extrusionOk="0">
                  <a:moveTo>
                    <a:pt x="446" y="1"/>
                  </a:moveTo>
                  <a:cubicBezTo>
                    <a:pt x="196" y="1"/>
                    <a:pt x="0" y="206"/>
                    <a:pt x="0" y="456"/>
                  </a:cubicBezTo>
                  <a:cubicBezTo>
                    <a:pt x="0" y="706"/>
                    <a:pt x="196" y="902"/>
                    <a:pt x="446" y="902"/>
                  </a:cubicBezTo>
                  <a:cubicBezTo>
                    <a:pt x="696" y="902"/>
                    <a:pt x="892" y="706"/>
                    <a:pt x="892" y="456"/>
                  </a:cubicBezTo>
                  <a:cubicBezTo>
                    <a:pt x="892" y="206"/>
                    <a:pt x="696" y="1"/>
                    <a:pt x="446" y="1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9"/>
            <p:cNvSpPr/>
            <p:nvPr/>
          </p:nvSpPr>
          <p:spPr>
            <a:xfrm>
              <a:off x="4383493" y="1575295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446" y="1"/>
                  </a:moveTo>
                  <a:cubicBezTo>
                    <a:pt x="206" y="1"/>
                    <a:pt x="0" y="206"/>
                    <a:pt x="0" y="456"/>
                  </a:cubicBezTo>
                  <a:cubicBezTo>
                    <a:pt x="0" y="706"/>
                    <a:pt x="206" y="902"/>
                    <a:pt x="446" y="902"/>
                  </a:cubicBezTo>
                  <a:cubicBezTo>
                    <a:pt x="696" y="902"/>
                    <a:pt x="901" y="706"/>
                    <a:pt x="901" y="456"/>
                  </a:cubicBezTo>
                  <a:cubicBezTo>
                    <a:pt x="901" y="206"/>
                    <a:pt x="696" y="1"/>
                    <a:pt x="446" y="1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9"/>
            <p:cNvSpPr/>
            <p:nvPr/>
          </p:nvSpPr>
          <p:spPr>
            <a:xfrm>
              <a:off x="4052668" y="1475033"/>
              <a:ext cx="459971" cy="315998"/>
            </a:xfrm>
            <a:custGeom>
              <a:avLst/>
              <a:gdLst/>
              <a:ahLst/>
              <a:cxnLst/>
              <a:rect l="l" t="t" r="r" b="b"/>
              <a:pathLst>
                <a:path w="14364" h="9868" extrusionOk="0">
                  <a:moveTo>
                    <a:pt x="6076" y="429"/>
                  </a:moveTo>
                  <a:lnTo>
                    <a:pt x="6076" y="6745"/>
                  </a:lnTo>
                  <a:lnTo>
                    <a:pt x="429" y="6745"/>
                  </a:lnTo>
                  <a:lnTo>
                    <a:pt x="429" y="429"/>
                  </a:lnTo>
                  <a:close/>
                  <a:moveTo>
                    <a:pt x="7869" y="429"/>
                  </a:moveTo>
                  <a:lnTo>
                    <a:pt x="7869" y="6745"/>
                  </a:lnTo>
                  <a:lnTo>
                    <a:pt x="6495" y="6745"/>
                  </a:lnTo>
                  <a:lnTo>
                    <a:pt x="6495" y="429"/>
                  </a:lnTo>
                  <a:close/>
                  <a:moveTo>
                    <a:pt x="13944" y="429"/>
                  </a:moveTo>
                  <a:lnTo>
                    <a:pt x="13944" y="6745"/>
                  </a:lnTo>
                  <a:lnTo>
                    <a:pt x="8297" y="6745"/>
                  </a:lnTo>
                  <a:lnTo>
                    <a:pt x="8297" y="429"/>
                  </a:lnTo>
                  <a:close/>
                  <a:moveTo>
                    <a:pt x="6076" y="7173"/>
                  </a:moveTo>
                  <a:lnTo>
                    <a:pt x="6076" y="7646"/>
                  </a:lnTo>
                  <a:lnTo>
                    <a:pt x="429" y="7646"/>
                  </a:lnTo>
                  <a:lnTo>
                    <a:pt x="429" y="7173"/>
                  </a:lnTo>
                  <a:close/>
                  <a:moveTo>
                    <a:pt x="13944" y="7173"/>
                  </a:moveTo>
                  <a:lnTo>
                    <a:pt x="13944" y="7646"/>
                  </a:lnTo>
                  <a:lnTo>
                    <a:pt x="8297" y="7646"/>
                  </a:lnTo>
                  <a:lnTo>
                    <a:pt x="8297" y="7173"/>
                  </a:lnTo>
                  <a:close/>
                  <a:moveTo>
                    <a:pt x="6076" y="8065"/>
                  </a:moveTo>
                  <a:lnTo>
                    <a:pt x="6076" y="8547"/>
                  </a:lnTo>
                  <a:lnTo>
                    <a:pt x="429" y="8547"/>
                  </a:lnTo>
                  <a:lnTo>
                    <a:pt x="429" y="8065"/>
                  </a:lnTo>
                  <a:close/>
                  <a:moveTo>
                    <a:pt x="13944" y="8065"/>
                  </a:moveTo>
                  <a:lnTo>
                    <a:pt x="13944" y="8547"/>
                  </a:lnTo>
                  <a:lnTo>
                    <a:pt x="8297" y="8547"/>
                  </a:lnTo>
                  <a:lnTo>
                    <a:pt x="8297" y="8065"/>
                  </a:lnTo>
                  <a:close/>
                  <a:moveTo>
                    <a:pt x="6076" y="8966"/>
                  </a:moveTo>
                  <a:lnTo>
                    <a:pt x="6076" y="9448"/>
                  </a:lnTo>
                  <a:lnTo>
                    <a:pt x="429" y="9448"/>
                  </a:lnTo>
                  <a:lnTo>
                    <a:pt x="429" y="8966"/>
                  </a:lnTo>
                  <a:close/>
                  <a:moveTo>
                    <a:pt x="7869" y="7173"/>
                  </a:moveTo>
                  <a:lnTo>
                    <a:pt x="7869" y="9448"/>
                  </a:lnTo>
                  <a:lnTo>
                    <a:pt x="6495" y="9448"/>
                  </a:lnTo>
                  <a:lnTo>
                    <a:pt x="6495" y="7173"/>
                  </a:lnTo>
                  <a:close/>
                  <a:moveTo>
                    <a:pt x="13944" y="8966"/>
                  </a:moveTo>
                  <a:lnTo>
                    <a:pt x="13944" y="9448"/>
                  </a:lnTo>
                  <a:lnTo>
                    <a:pt x="8297" y="9448"/>
                  </a:lnTo>
                  <a:lnTo>
                    <a:pt x="8297" y="8966"/>
                  </a:lnTo>
                  <a:close/>
                  <a:moveTo>
                    <a:pt x="1" y="1"/>
                  </a:moveTo>
                  <a:lnTo>
                    <a:pt x="1" y="9867"/>
                  </a:lnTo>
                  <a:lnTo>
                    <a:pt x="14364" y="9867"/>
                  </a:lnTo>
                  <a:lnTo>
                    <a:pt x="143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9DDA36-03DD-B12C-953F-63270EBBE8AB}"/>
              </a:ext>
            </a:extLst>
          </p:cNvPr>
          <p:cNvSpPr txBox="1"/>
          <p:nvPr/>
        </p:nvSpPr>
        <p:spPr>
          <a:xfrm>
            <a:off x="7425714" y="4649094"/>
            <a:ext cx="20990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C59FC3-3614-5DF3-AD3B-4B8FF7C6008E}"/>
              </a:ext>
            </a:extLst>
          </p:cNvPr>
          <p:cNvSpPr txBox="1"/>
          <p:nvPr/>
        </p:nvSpPr>
        <p:spPr>
          <a:xfrm>
            <a:off x="8030987" y="4500778"/>
            <a:ext cx="1113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Own analysis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B45E2-3730-9FA6-DC1B-79B813917FCF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264;p63">
            <a:extLst>
              <a:ext uri="{FF2B5EF4-FFF2-40B4-BE49-F238E27FC236}">
                <a16:creationId xmlns:a16="http://schemas.microsoft.com/office/drawing/2014/main" id="{CB979E3A-F2FC-BA45-D43A-171C332F083A}"/>
              </a:ext>
            </a:extLst>
          </p:cNvPr>
          <p:cNvSpPr/>
          <p:nvPr/>
        </p:nvSpPr>
        <p:spPr>
          <a:xfrm>
            <a:off x="3693042" y="751368"/>
            <a:ext cx="5181734" cy="2607263"/>
          </a:xfrm>
          <a:prstGeom prst="round2SameRect">
            <a:avLst>
              <a:gd name="adj1" fmla="val 8057"/>
              <a:gd name="adj2" fmla="val 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265;p63">
            <a:extLst>
              <a:ext uri="{FF2B5EF4-FFF2-40B4-BE49-F238E27FC236}">
                <a16:creationId xmlns:a16="http://schemas.microsoft.com/office/drawing/2014/main" id="{56E1D187-3684-5703-8FD6-B168141BCDF0}"/>
              </a:ext>
            </a:extLst>
          </p:cNvPr>
          <p:cNvSpPr/>
          <p:nvPr/>
        </p:nvSpPr>
        <p:spPr>
          <a:xfrm rot="10800000">
            <a:off x="3693031" y="3498233"/>
            <a:ext cx="5181609" cy="364929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266;p63">
            <a:extLst>
              <a:ext uri="{FF2B5EF4-FFF2-40B4-BE49-F238E27FC236}">
                <a16:creationId xmlns:a16="http://schemas.microsoft.com/office/drawing/2014/main" id="{EE6AA5D2-C45C-6D2E-022E-2856B536A309}"/>
              </a:ext>
            </a:extLst>
          </p:cNvPr>
          <p:cNvSpPr/>
          <p:nvPr/>
        </p:nvSpPr>
        <p:spPr>
          <a:xfrm>
            <a:off x="6033013" y="3588304"/>
            <a:ext cx="497954" cy="92393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67;p63">
            <a:extLst>
              <a:ext uri="{FF2B5EF4-FFF2-40B4-BE49-F238E27FC236}">
                <a16:creationId xmlns:a16="http://schemas.microsoft.com/office/drawing/2014/main" id="{1DDAE136-47B8-14E8-61CA-1895E2A5FD90}"/>
              </a:ext>
            </a:extLst>
          </p:cNvPr>
          <p:cNvSpPr/>
          <p:nvPr/>
        </p:nvSpPr>
        <p:spPr>
          <a:xfrm>
            <a:off x="6391685" y="899399"/>
            <a:ext cx="139282" cy="11467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211003F1-14C5-04F1-4AD7-7BABA6BECD0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07102" y="867200"/>
            <a:ext cx="4943677" cy="2339203"/>
          </a:xfrm>
          <a:prstGeom prst="rect">
            <a:avLst/>
          </a:prstGeom>
        </p:spPr>
      </p:pic>
      <p:sp>
        <p:nvSpPr>
          <p:cNvPr id="16" name="Google Shape;1263;p63">
            <a:extLst>
              <a:ext uri="{FF2B5EF4-FFF2-40B4-BE49-F238E27FC236}">
                <a16:creationId xmlns:a16="http://schemas.microsoft.com/office/drawing/2014/main" id="{616F260B-A031-78D4-2B2E-B3B3D1B035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033" y="595216"/>
            <a:ext cx="3700130" cy="11634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Startup Success </a:t>
            </a:r>
            <a:r>
              <a:rPr lang="en" sz="4000" dirty="0">
                <a:highlight>
                  <a:srgbClr val="0000FF"/>
                </a:highlight>
              </a:rPr>
              <a:t>(Binary)</a:t>
            </a:r>
            <a:endParaRPr sz="2800" dirty="0">
              <a:highlight>
                <a:srgbClr val="0000FF"/>
              </a:highlight>
            </a:endParaRPr>
          </a:p>
        </p:txBody>
      </p:sp>
      <p:sp>
        <p:nvSpPr>
          <p:cNvPr id="17" name="Google Shape;1262;p63">
            <a:extLst>
              <a:ext uri="{FF2B5EF4-FFF2-40B4-BE49-F238E27FC236}">
                <a16:creationId xmlns:a16="http://schemas.microsoft.com/office/drawing/2014/main" id="{8451DCF9-AF5E-F5DF-8B14-9BE51D50D38E}"/>
              </a:ext>
            </a:extLst>
          </p:cNvPr>
          <p:cNvSpPr txBox="1">
            <a:spLocks/>
          </p:cNvSpPr>
          <p:nvPr/>
        </p:nvSpPr>
        <p:spPr>
          <a:xfrm>
            <a:off x="269224" y="1911813"/>
            <a:ext cx="3091356" cy="1586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>
              <a:buFont typeface="Sora"/>
              <a:buNone/>
            </a:pPr>
            <a:r>
              <a:rPr lang="en-GB" b="1" i="0" dirty="0">
                <a:effectLst/>
                <a:latin typeface="+mn-lt"/>
              </a:rPr>
              <a:t>Classifies each start-up as :</a:t>
            </a:r>
          </a:p>
          <a:p>
            <a:pPr marL="0" indent="0">
              <a:buFont typeface="Sora"/>
              <a:buNone/>
            </a:pPr>
            <a:r>
              <a:rPr lang="en-US" b="1" i="0">
                <a:effectLst/>
                <a:highlight>
                  <a:srgbClr val="0000FF"/>
                </a:highlight>
                <a:latin typeface="+mn-lt"/>
              </a:rPr>
              <a:t>1 = success (acquired / operating / IPO) </a:t>
            </a:r>
            <a:endParaRPr lang="en-GB" b="1" i="0" dirty="0">
              <a:effectLst/>
              <a:highlight>
                <a:srgbClr val="0000FF"/>
              </a:highlight>
              <a:latin typeface="+mn-lt"/>
            </a:endParaRPr>
          </a:p>
          <a:p>
            <a:pPr marL="0" indent="0">
              <a:buFont typeface="Sora"/>
              <a:buNone/>
            </a:pPr>
            <a:r>
              <a:rPr lang="en-GB" b="1" i="0" dirty="0">
                <a:effectLst/>
                <a:latin typeface="+mn-lt"/>
              </a:rPr>
              <a:t>or </a:t>
            </a:r>
          </a:p>
          <a:p>
            <a:pPr marL="0" indent="0">
              <a:buFont typeface="Sora"/>
              <a:buNone/>
            </a:pPr>
            <a:r>
              <a:rPr lang="en-US" b="1" i="0">
                <a:effectLst/>
                <a:highlight>
                  <a:srgbClr val="0000FF"/>
                </a:highlight>
                <a:latin typeface="+mn-lt"/>
              </a:rPr>
              <a:t>0 = closed, using funding, age, sector, state and VC/angel features</a:t>
            </a:r>
            <a:endParaRPr lang="en-GB" b="1" dirty="0">
              <a:highlight>
                <a:srgbClr val="0000FF"/>
              </a:highlight>
              <a:latin typeface="+mn-lt"/>
            </a:endParaRPr>
          </a:p>
          <a:p>
            <a:pPr marL="0" indent="0">
              <a:buFont typeface="Sora"/>
              <a:buNone/>
            </a:pPr>
            <a:endParaRPr lang="en-GB" b="1" dirty="0">
              <a:highlight>
                <a:srgbClr val="0000FF"/>
              </a:highlight>
              <a:latin typeface="+mn-lt"/>
            </a:endParaRPr>
          </a:p>
          <a:p>
            <a:pPr marL="0" indent="0">
              <a:buFont typeface="Sora"/>
              <a:buNone/>
            </a:pPr>
            <a:r>
              <a:rPr lang="en-GB" b="1" i="0" dirty="0">
                <a:effectLst/>
                <a:latin typeface="+mn-lt"/>
              </a:rPr>
              <a:t>This model should be used for decision support, </a:t>
            </a:r>
            <a:r>
              <a:rPr lang="en-GB" b="1" i="0" dirty="0">
                <a:solidFill>
                  <a:schemeClr val="tx1"/>
                </a:solidFill>
                <a:effectLst/>
                <a:highlight>
                  <a:srgbClr val="0000FF"/>
                </a:highlight>
                <a:latin typeface="+mn-lt"/>
              </a:rPr>
              <a:t>not certainty</a:t>
            </a:r>
            <a:r>
              <a:rPr lang="en-GB" b="1" i="0" dirty="0">
                <a:effectLst/>
                <a:latin typeface="+mn-lt"/>
              </a:rPr>
              <a:t>.</a:t>
            </a:r>
            <a:endParaRPr lang="en-GB" b="1" dirty="0">
              <a:latin typeface="+mn-lt"/>
            </a:endParaRPr>
          </a:p>
        </p:txBody>
      </p:sp>
      <p:sp>
        <p:nvSpPr>
          <p:cNvPr id="18" name="Google Shape;515;p46">
            <a:extLst>
              <a:ext uri="{FF2B5EF4-FFF2-40B4-BE49-F238E27FC236}">
                <a16:creationId xmlns:a16="http://schemas.microsoft.com/office/drawing/2014/main" id="{085488A6-D36D-F795-324A-88662DF3D136}"/>
              </a:ext>
            </a:extLst>
          </p:cNvPr>
          <p:cNvSpPr/>
          <p:nvPr/>
        </p:nvSpPr>
        <p:spPr>
          <a:xfrm>
            <a:off x="4386867" y="3958174"/>
            <a:ext cx="2703781" cy="24405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Oval 47">
            <a:hlinkClick r:id="rId4"/>
            <a:extLst>
              <a:ext uri="{FF2B5EF4-FFF2-40B4-BE49-F238E27FC236}">
                <a16:creationId xmlns:a16="http://schemas.microsoft.com/office/drawing/2014/main" id="{14DEBB8D-C5A2-D9D1-AA92-7E4BF198BD9F}"/>
              </a:ext>
            </a:extLst>
          </p:cNvPr>
          <p:cNvSpPr/>
          <p:nvPr/>
        </p:nvSpPr>
        <p:spPr>
          <a:xfrm>
            <a:off x="4906089" y="4002763"/>
            <a:ext cx="1689059" cy="702452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i="1">
                <a:solidFill>
                  <a:srgbClr val="0000FF"/>
                </a:solidFill>
                <a:cs typeface="Gill Sans" panose="020B0502020104020203" pitchFamily="34" charset="-79"/>
              </a:rPr>
              <a:t>Logistic Regression + Random Forest</a:t>
            </a:r>
            <a:endParaRPr lang="en-GR" sz="1000" b="1" i="1" dirty="0">
              <a:solidFill>
                <a:srgbClr val="0000FF"/>
              </a:solidFill>
              <a:cs typeface="Gill Sans" panose="020B0502020104020203" pitchFamily="34" charset="-79"/>
            </a:endParaRPr>
          </a:p>
        </p:txBody>
      </p:sp>
      <p:grpSp>
        <p:nvGrpSpPr>
          <p:cNvPr id="51" name="Google Shape;495;p45">
            <a:extLst>
              <a:ext uri="{FF2B5EF4-FFF2-40B4-BE49-F238E27FC236}">
                <a16:creationId xmlns:a16="http://schemas.microsoft.com/office/drawing/2014/main" id="{CF438C3E-5FBC-1658-03B3-D0DE40F352D3}"/>
              </a:ext>
            </a:extLst>
          </p:cNvPr>
          <p:cNvGrpSpPr/>
          <p:nvPr/>
        </p:nvGrpSpPr>
        <p:grpSpPr>
          <a:xfrm>
            <a:off x="3052253" y="4097078"/>
            <a:ext cx="640778" cy="709873"/>
            <a:chOff x="5669580" y="3309057"/>
            <a:chExt cx="358844" cy="459683"/>
          </a:xfrm>
        </p:grpSpPr>
        <p:sp>
          <p:nvSpPr>
            <p:cNvPr id="52" name="Google Shape;496;p45">
              <a:extLst>
                <a:ext uri="{FF2B5EF4-FFF2-40B4-BE49-F238E27FC236}">
                  <a16:creationId xmlns:a16="http://schemas.microsoft.com/office/drawing/2014/main" id="{E361342A-D6B1-8DE7-2763-D3C314F7D0F7}"/>
                </a:ext>
              </a:extLst>
            </p:cNvPr>
            <p:cNvSpPr/>
            <p:nvPr/>
          </p:nvSpPr>
          <p:spPr>
            <a:xfrm>
              <a:off x="5935848" y="3575004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20" y="447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97;p45">
              <a:extLst>
                <a:ext uri="{FF2B5EF4-FFF2-40B4-BE49-F238E27FC236}">
                  <a16:creationId xmlns:a16="http://schemas.microsoft.com/office/drawing/2014/main" id="{0B209410-02EA-23E7-AFDF-5CC67B181B6E}"/>
                </a:ext>
              </a:extLst>
            </p:cNvPr>
            <p:cNvSpPr/>
            <p:nvPr/>
          </p:nvSpPr>
          <p:spPr>
            <a:xfrm>
              <a:off x="5841862" y="3679013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6" y="41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98;p45">
              <a:extLst>
                <a:ext uri="{FF2B5EF4-FFF2-40B4-BE49-F238E27FC236}">
                  <a16:creationId xmlns:a16="http://schemas.microsoft.com/office/drawing/2014/main" id="{8A86B042-4147-EA73-6BE9-E9AA207EF577}"/>
                </a:ext>
              </a:extLst>
            </p:cNvPr>
            <p:cNvSpPr/>
            <p:nvPr/>
          </p:nvSpPr>
          <p:spPr>
            <a:xfrm>
              <a:off x="5870426" y="3679013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55" y="419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99;p45">
              <a:extLst>
                <a:ext uri="{FF2B5EF4-FFF2-40B4-BE49-F238E27FC236}">
                  <a16:creationId xmlns:a16="http://schemas.microsoft.com/office/drawing/2014/main" id="{FA5FAD66-931C-689B-A86F-E80FCF4919C9}"/>
                </a:ext>
              </a:extLst>
            </p:cNvPr>
            <p:cNvSpPr/>
            <p:nvPr/>
          </p:nvSpPr>
          <p:spPr>
            <a:xfrm>
              <a:off x="5813009" y="3679013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6" y="41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00;p45">
              <a:extLst>
                <a:ext uri="{FF2B5EF4-FFF2-40B4-BE49-F238E27FC236}">
                  <a16:creationId xmlns:a16="http://schemas.microsoft.com/office/drawing/2014/main" id="{A186BEC9-F741-6FF6-7572-BEF1007CBC3B}"/>
                </a:ext>
              </a:extLst>
            </p:cNvPr>
            <p:cNvSpPr/>
            <p:nvPr/>
          </p:nvSpPr>
          <p:spPr>
            <a:xfrm>
              <a:off x="5978982" y="330905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0"/>
                  </a:moveTo>
                  <a:lnTo>
                    <a:pt x="0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01;p45">
              <a:extLst>
                <a:ext uri="{FF2B5EF4-FFF2-40B4-BE49-F238E27FC236}">
                  <a16:creationId xmlns:a16="http://schemas.microsoft.com/office/drawing/2014/main" id="{63DABAA1-488F-968C-4B2B-E544A6DD2D72}"/>
                </a:ext>
              </a:extLst>
            </p:cNvPr>
            <p:cNvSpPr/>
            <p:nvPr/>
          </p:nvSpPr>
          <p:spPr>
            <a:xfrm>
              <a:off x="5978982" y="333762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0"/>
                  </a:moveTo>
                  <a:lnTo>
                    <a:pt x="0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02;p45">
              <a:extLst>
                <a:ext uri="{FF2B5EF4-FFF2-40B4-BE49-F238E27FC236}">
                  <a16:creationId xmlns:a16="http://schemas.microsoft.com/office/drawing/2014/main" id="{E394AFD5-526B-7202-A53C-AF158C78DC0E}"/>
                </a:ext>
              </a:extLst>
            </p:cNvPr>
            <p:cNvSpPr/>
            <p:nvPr/>
          </p:nvSpPr>
          <p:spPr>
            <a:xfrm>
              <a:off x="5952115" y="3373615"/>
              <a:ext cx="67183" cy="88574"/>
            </a:xfrm>
            <a:custGeom>
              <a:avLst/>
              <a:gdLst/>
              <a:ahLst/>
              <a:cxnLst/>
              <a:rect l="l" t="t" r="r" b="b"/>
              <a:pathLst>
                <a:path w="2098" h="2766" extrusionOk="0">
                  <a:moveTo>
                    <a:pt x="839" y="1"/>
                  </a:moveTo>
                  <a:lnTo>
                    <a:pt x="839" y="1963"/>
                  </a:lnTo>
                  <a:lnTo>
                    <a:pt x="295" y="1428"/>
                  </a:lnTo>
                  <a:lnTo>
                    <a:pt x="1" y="1722"/>
                  </a:lnTo>
                  <a:lnTo>
                    <a:pt x="1045" y="2766"/>
                  </a:lnTo>
                  <a:lnTo>
                    <a:pt x="2097" y="1722"/>
                  </a:lnTo>
                  <a:lnTo>
                    <a:pt x="1794" y="1428"/>
                  </a:lnTo>
                  <a:lnTo>
                    <a:pt x="1259" y="1963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03;p45">
              <a:extLst>
                <a:ext uri="{FF2B5EF4-FFF2-40B4-BE49-F238E27FC236}">
                  <a16:creationId xmlns:a16="http://schemas.microsoft.com/office/drawing/2014/main" id="{729CA01F-1CD4-C1B9-7D33-9422F7B05A78}"/>
                </a:ext>
              </a:extLst>
            </p:cNvPr>
            <p:cNvSpPr/>
            <p:nvPr/>
          </p:nvSpPr>
          <p:spPr>
            <a:xfrm>
              <a:off x="5678739" y="3373615"/>
              <a:ext cx="67151" cy="88862"/>
            </a:xfrm>
            <a:custGeom>
              <a:avLst/>
              <a:gdLst/>
              <a:ahLst/>
              <a:cxnLst/>
              <a:rect l="l" t="t" r="r" b="b"/>
              <a:pathLst>
                <a:path w="2097" h="2775" extrusionOk="0">
                  <a:moveTo>
                    <a:pt x="839" y="1"/>
                  </a:moveTo>
                  <a:lnTo>
                    <a:pt x="839" y="1963"/>
                  </a:lnTo>
                  <a:lnTo>
                    <a:pt x="295" y="1428"/>
                  </a:lnTo>
                  <a:lnTo>
                    <a:pt x="0" y="1722"/>
                  </a:lnTo>
                  <a:lnTo>
                    <a:pt x="1044" y="2775"/>
                  </a:lnTo>
                  <a:lnTo>
                    <a:pt x="2097" y="1722"/>
                  </a:lnTo>
                  <a:lnTo>
                    <a:pt x="1802" y="1428"/>
                  </a:lnTo>
                  <a:lnTo>
                    <a:pt x="1258" y="1963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04;p45">
              <a:extLst>
                <a:ext uri="{FF2B5EF4-FFF2-40B4-BE49-F238E27FC236}">
                  <a16:creationId xmlns:a16="http://schemas.microsoft.com/office/drawing/2014/main" id="{C14AB998-BEE6-8E93-5EF7-36A9EBBF33D8}"/>
                </a:ext>
              </a:extLst>
            </p:cNvPr>
            <p:cNvSpPr/>
            <p:nvPr/>
          </p:nvSpPr>
          <p:spPr>
            <a:xfrm>
              <a:off x="5705574" y="3309057"/>
              <a:ext cx="13481" cy="14314"/>
            </a:xfrm>
            <a:custGeom>
              <a:avLst/>
              <a:gdLst/>
              <a:ahLst/>
              <a:cxnLst/>
              <a:rect l="l" t="t" r="r" b="b"/>
              <a:pathLst>
                <a:path w="421" h="447" extrusionOk="0">
                  <a:moveTo>
                    <a:pt x="1" y="0"/>
                  </a:moveTo>
                  <a:lnTo>
                    <a:pt x="1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05;p45">
              <a:extLst>
                <a:ext uri="{FF2B5EF4-FFF2-40B4-BE49-F238E27FC236}">
                  <a16:creationId xmlns:a16="http://schemas.microsoft.com/office/drawing/2014/main" id="{07EF4AAA-EB8E-98D9-C77B-6C4ECDBA5B39}"/>
                </a:ext>
              </a:extLst>
            </p:cNvPr>
            <p:cNvSpPr/>
            <p:nvPr/>
          </p:nvSpPr>
          <p:spPr>
            <a:xfrm>
              <a:off x="5705574" y="3337621"/>
              <a:ext cx="13481" cy="14602"/>
            </a:xfrm>
            <a:custGeom>
              <a:avLst/>
              <a:gdLst/>
              <a:ahLst/>
              <a:cxnLst/>
              <a:rect l="l" t="t" r="r" b="b"/>
              <a:pathLst>
                <a:path w="421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06;p45">
              <a:extLst>
                <a:ext uri="{FF2B5EF4-FFF2-40B4-BE49-F238E27FC236}">
                  <a16:creationId xmlns:a16="http://schemas.microsoft.com/office/drawing/2014/main" id="{F090C135-A705-A5DF-1421-21258738F89B}"/>
                </a:ext>
              </a:extLst>
            </p:cNvPr>
            <p:cNvSpPr/>
            <p:nvPr/>
          </p:nvSpPr>
          <p:spPr>
            <a:xfrm>
              <a:off x="5669580" y="3474870"/>
              <a:ext cx="358844" cy="293870"/>
            </a:xfrm>
            <a:custGeom>
              <a:avLst/>
              <a:gdLst/>
              <a:ahLst/>
              <a:cxnLst/>
              <a:rect l="l" t="t" r="r" b="b"/>
              <a:pathLst>
                <a:path w="11206" h="9177" extrusionOk="0">
                  <a:moveTo>
                    <a:pt x="8940" y="416"/>
                  </a:moveTo>
                  <a:cubicBezTo>
                    <a:pt x="9154" y="416"/>
                    <a:pt x="9368" y="487"/>
                    <a:pt x="9555" y="612"/>
                  </a:cubicBezTo>
                  <a:lnTo>
                    <a:pt x="8021" y="2146"/>
                  </a:lnTo>
                  <a:cubicBezTo>
                    <a:pt x="7735" y="1709"/>
                    <a:pt x="7780" y="1121"/>
                    <a:pt x="8155" y="746"/>
                  </a:cubicBezTo>
                  <a:cubicBezTo>
                    <a:pt x="8369" y="532"/>
                    <a:pt x="8654" y="416"/>
                    <a:pt x="8940" y="416"/>
                  </a:cubicBezTo>
                  <a:close/>
                  <a:moveTo>
                    <a:pt x="661" y="4011"/>
                  </a:moveTo>
                  <a:cubicBezTo>
                    <a:pt x="795" y="4011"/>
                    <a:pt x="902" y="4118"/>
                    <a:pt x="902" y="4252"/>
                  </a:cubicBezTo>
                  <a:cubicBezTo>
                    <a:pt x="902" y="4386"/>
                    <a:pt x="795" y="4493"/>
                    <a:pt x="661" y="4493"/>
                  </a:cubicBezTo>
                  <a:cubicBezTo>
                    <a:pt x="527" y="4493"/>
                    <a:pt x="420" y="4386"/>
                    <a:pt x="420" y="4252"/>
                  </a:cubicBezTo>
                  <a:cubicBezTo>
                    <a:pt x="420" y="4118"/>
                    <a:pt x="527" y="4011"/>
                    <a:pt x="661" y="4011"/>
                  </a:cubicBezTo>
                  <a:close/>
                  <a:moveTo>
                    <a:pt x="8940" y="1"/>
                  </a:moveTo>
                  <a:cubicBezTo>
                    <a:pt x="8550" y="1"/>
                    <a:pt x="8159" y="148"/>
                    <a:pt x="7860" y="443"/>
                  </a:cubicBezTo>
                  <a:cubicBezTo>
                    <a:pt x="7843" y="460"/>
                    <a:pt x="7825" y="478"/>
                    <a:pt x="7816" y="496"/>
                  </a:cubicBezTo>
                  <a:cubicBezTo>
                    <a:pt x="7593" y="389"/>
                    <a:pt x="7370" y="309"/>
                    <a:pt x="7147" y="228"/>
                  </a:cubicBezTo>
                  <a:lnTo>
                    <a:pt x="7022" y="639"/>
                  </a:lnTo>
                  <a:cubicBezTo>
                    <a:pt x="7209" y="692"/>
                    <a:pt x="7396" y="764"/>
                    <a:pt x="7575" y="844"/>
                  </a:cubicBezTo>
                  <a:cubicBezTo>
                    <a:pt x="7289" y="1415"/>
                    <a:pt x="7388" y="2129"/>
                    <a:pt x="7860" y="2601"/>
                  </a:cubicBezTo>
                  <a:lnTo>
                    <a:pt x="8012" y="2753"/>
                  </a:lnTo>
                  <a:lnTo>
                    <a:pt x="8922" y="1834"/>
                  </a:lnTo>
                  <a:cubicBezTo>
                    <a:pt x="9288" y="2236"/>
                    <a:pt x="9564" y="2700"/>
                    <a:pt x="9716" y="3190"/>
                  </a:cubicBezTo>
                  <a:lnTo>
                    <a:pt x="9761" y="3342"/>
                  </a:lnTo>
                  <a:lnTo>
                    <a:pt x="10778" y="3342"/>
                  </a:lnTo>
                  <a:lnTo>
                    <a:pt x="10778" y="4716"/>
                  </a:lnTo>
                  <a:lnTo>
                    <a:pt x="9859" y="4716"/>
                  </a:lnTo>
                  <a:lnTo>
                    <a:pt x="9823" y="4885"/>
                  </a:lnTo>
                  <a:cubicBezTo>
                    <a:pt x="9680" y="5688"/>
                    <a:pt x="9252" y="6411"/>
                    <a:pt x="8610" y="6982"/>
                  </a:cubicBezTo>
                  <a:lnTo>
                    <a:pt x="8538" y="7044"/>
                  </a:lnTo>
                  <a:lnTo>
                    <a:pt x="8538" y="8757"/>
                  </a:lnTo>
                  <a:lnTo>
                    <a:pt x="7156" y="8757"/>
                  </a:lnTo>
                  <a:lnTo>
                    <a:pt x="7156" y="7829"/>
                  </a:lnTo>
                  <a:lnTo>
                    <a:pt x="6888" y="7909"/>
                  </a:lnTo>
                  <a:cubicBezTo>
                    <a:pt x="6478" y="8025"/>
                    <a:pt x="6040" y="8088"/>
                    <a:pt x="5603" y="8088"/>
                  </a:cubicBezTo>
                  <a:cubicBezTo>
                    <a:pt x="5157" y="8088"/>
                    <a:pt x="4729" y="8025"/>
                    <a:pt x="4310" y="7909"/>
                  </a:cubicBezTo>
                  <a:lnTo>
                    <a:pt x="4042" y="7829"/>
                  </a:lnTo>
                  <a:lnTo>
                    <a:pt x="4042" y="8757"/>
                  </a:lnTo>
                  <a:lnTo>
                    <a:pt x="2668" y="8757"/>
                  </a:lnTo>
                  <a:lnTo>
                    <a:pt x="2668" y="7044"/>
                  </a:lnTo>
                  <a:lnTo>
                    <a:pt x="2597" y="6982"/>
                  </a:lnTo>
                  <a:cubicBezTo>
                    <a:pt x="1776" y="6259"/>
                    <a:pt x="1321" y="5287"/>
                    <a:pt x="1321" y="4252"/>
                  </a:cubicBezTo>
                  <a:cubicBezTo>
                    <a:pt x="1321" y="2628"/>
                    <a:pt x="2472" y="1174"/>
                    <a:pt x="4185" y="639"/>
                  </a:cubicBezTo>
                  <a:lnTo>
                    <a:pt x="4060" y="228"/>
                  </a:lnTo>
                  <a:cubicBezTo>
                    <a:pt x="2383" y="764"/>
                    <a:pt x="1187" y="2093"/>
                    <a:pt x="947" y="3654"/>
                  </a:cubicBezTo>
                  <a:cubicBezTo>
                    <a:pt x="857" y="3618"/>
                    <a:pt x="759" y="3592"/>
                    <a:pt x="661" y="3592"/>
                  </a:cubicBezTo>
                  <a:cubicBezTo>
                    <a:pt x="295" y="3592"/>
                    <a:pt x="1" y="3886"/>
                    <a:pt x="1" y="4252"/>
                  </a:cubicBezTo>
                  <a:cubicBezTo>
                    <a:pt x="1" y="4618"/>
                    <a:pt x="295" y="4912"/>
                    <a:pt x="661" y="4912"/>
                  </a:cubicBezTo>
                  <a:cubicBezTo>
                    <a:pt x="759" y="4912"/>
                    <a:pt x="857" y="4885"/>
                    <a:pt x="947" y="4850"/>
                  </a:cubicBezTo>
                  <a:cubicBezTo>
                    <a:pt x="1080" y="5751"/>
                    <a:pt x="1535" y="6571"/>
                    <a:pt x="2249" y="7231"/>
                  </a:cubicBezTo>
                  <a:lnTo>
                    <a:pt x="2249" y="9176"/>
                  </a:lnTo>
                  <a:lnTo>
                    <a:pt x="4461" y="9176"/>
                  </a:lnTo>
                  <a:lnTo>
                    <a:pt x="4461" y="8382"/>
                  </a:lnTo>
                  <a:cubicBezTo>
                    <a:pt x="4836" y="8463"/>
                    <a:pt x="5220" y="8507"/>
                    <a:pt x="5603" y="8507"/>
                  </a:cubicBezTo>
                  <a:cubicBezTo>
                    <a:pt x="5987" y="8507"/>
                    <a:pt x="6371" y="8463"/>
                    <a:pt x="6736" y="8382"/>
                  </a:cubicBezTo>
                  <a:lnTo>
                    <a:pt x="6736" y="9176"/>
                  </a:lnTo>
                  <a:lnTo>
                    <a:pt x="8958" y="9176"/>
                  </a:lnTo>
                  <a:lnTo>
                    <a:pt x="8958" y="7231"/>
                  </a:lnTo>
                  <a:cubicBezTo>
                    <a:pt x="9591" y="6652"/>
                    <a:pt x="10019" y="5929"/>
                    <a:pt x="10207" y="5135"/>
                  </a:cubicBezTo>
                  <a:lnTo>
                    <a:pt x="11206" y="5135"/>
                  </a:lnTo>
                  <a:lnTo>
                    <a:pt x="11206" y="2923"/>
                  </a:lnTo>
                  <a:lnTo>
                    <a:pt x="10073" y="2923"/>
                  </a:lnTo>
                  <a:cubicBezTo>
                    <a:pt x="9885" y="2414"/>
                    <a:pt x="9600" y="1950"/>
                    <a:pt x="9225" y="1540"/>
                  </a:cubicBezTo>
                  <a:lnTo>
                    <a:pt x="10171" y="594"/>
                  </a:lnTo>
                  <a:lnTo>
                    <a:pt x="10019" y="443"/>
                  </a:lnTo>
                  <a:cubicBezTo>
                    <a:pt x="9720" y="148"/>
                    <a:pt x="9330" y="1"/>
                    <a:pt x="89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07;p45">
              <a:extLst>
                <a:ext uri="{FF2B5EF4-FFF2-40B4-BE49-F238E27FC236}">
                  <a16:creationId xmlns:a16="http://schemas.microsoft.com/office/drawing/2014/main" id="{5AE3E47B-131C-AAE2-6222-AAA18FC00A10}"/>
                </a:ext>
              </a:extLst>
            </p:cNvPr>
            <p:cNvSpPr/>
            <p:nvPr/>
          </p:nvSpPr>
          <p:spPr>
            <a:xfrm>
              <a:off x="5770708" y="3352768"/>
              <a:ext cx="156590" cy="156846"/>
            </a:xfrm>
            <a:custGeom>
              <a:avLst/>
              <a:gdLst/>
              <a:ahLst/>
              <a:cxnLst/>
              <a:rect l="l" t="t" r="r" b="b"/>
              <a:pathLst>
                <a:path w="4890" h="4898" extrusionOk="0">
                  <a:moveTo>
                    <a:pt x="2445" y="0"/>
                  </a:moveTo>
                  <a:cubicBezTo>
                    <a:pt x="1089" y="0"/>
                    <a:pt x="1" y="1098"/>
                    <a:pt x="1" y="2454"/>
                  </a:cubicBezTo>
                  <a:cubicBezTo>
                    <a:pt x="1" y="3801"/>
                    <a:pt x="1089" y="4898"/>
                    <a:pt x="2445" y="4898"/>
                  </a:cubicBezTo>
                  <a:cubicBezTo>
                    <a:pt x="3792" y="4898"/>
                    <a:pt x="4890" y="3801"/>
                    <a:pt x="4890" y="2454"/>
                  </a:cubicBezTo>
                  <a:cubicBezTo>
                    <a:pt x="4890" y="1098"/>
                    <a:pt x="3792" y="0"/>
                    <a:pt x="2445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508;p45">
              <a:extLst>
                <a:ext uri="{FF2B5EF4-FFF2-40B4-BE49-F238E27FC236}">
                  <a16:creationId xmlns:a16="http://schemas.microsoft.com/office/drawing/2014/main" id="{765CC8CE-33CF-BCBD-C4BC-C170C937CAE7}"/>
                </a:ext>
              </a:extLst>
            </p:cNvPr>
            <p:cNvSpPr/>
            <p:nvPr/>
          </p:nvSpPr>
          <p:spPr>
            <a:xfrm>
              <a:off x="5884996" y="3424466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509;p45">
              <a:extLst>
                <a:ext uri="{FF2B5EF4-FFF2-40B4-BE49-F238E27FC236}">
                  <a16:creationId xmlns:a16="http://schemas.microsoft.com/office/drawing/2014/main" id="{1475B5B7-EE62-3B33-5C65-8D6E2134E7F1}"/>
                </a:ext>
              </a:extLst>
            </p:cNvPr>
            <p:cNvSpPr/>
            <p:nvPr/>
          </p:nvSpPr>
          <p:spPr>
            <a:xfrm>
              <a:off x="5798727" y="3424466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510;p45">
              <a:extLst>
                <a:ext uri="{FF2B5EF4-FFF2-40B4-BE49-F238E27FC236}">
                  <a16:creationId xmlns:a16="http://schemas.microsoft.com/office/drawing/2014/main" id="{B17E31C9-504C-04A9-E61D-3BD0F997DD01}"/>
                </a:ext>
              </a:extLst>
            </p:cNvPr>
            <p:cNvSpPr/>
            <p:nvPr/>
          </p:nvSpPr>
          <p:spPr>
            <a:xfrm>
              <a:off x="5827291" y="3395326"/>
              <a:ext cx="43166" cy="71730"/>
            </a:xfrm>
            <a:custGeom>
              <a:avLst/>
              <a:gdLst/>
              <a:ahLst/>
              <a:cxnLst/>
              <a:rect l="l" t="t" r="r" b="b"/>
              <a:pathLst>
                <a:path w="1348" h="2240" extrusionOk="0">
                  <a:moveTo>
                    <a:pt x="464" y="0"/>
                  </a:moveTo>
                  <a:lnTo>
                    <a:pt x="464" y="232"/>
                  </a:lnTo>
                  <a:lnTo>
                    <a:pt x="18" y="232"/>
                  </a:lnTo>
                  <a:lnTo>
                    <a:pt x="18" y="1330"/>
                  </a:lnTo>
                  <a:lnTo>
                    <a:pt x="919" y="1330"/>
                  </a:lnTo>
                  <a:lnTo>
                    <a:pt x="919" y="1588"/>
                  </a:lnTo>
                  <a:lnTo>
                    <a:pt x="0" y="1588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0"/>
                  </a:lnTo>
                  <a:lnTo>
                    <a:pt x="884" y="2240"/>
                  </a:lnTo>
                  <a:lnTo>
                    <a:pt x="884" y="2008"/>
                  </a:lnTo>
                  <a:lnTo>
                    <a:pt x="1339" y="2008"/>
                  </a:lnTo>
                  <a:lnTo>
                    <a:pt x="1339" y="910"/>
                  </a:lnTo>
                  <a:lnTo>
                    <a:pt x="437" y="910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32"/>
                  </a:lnTo>
                  <a:lnTo>
                    <a:pt x="884" y="232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5" name="TextBox 2184">
            <a:extLst>
              <a:ext uri="{FF2B5EF4-FFF2-40B4-BE49-F238E27FC236}">
                <a16:creationId xmlns:a16="http://schemas.microsoft.com/office/drawing/2014/main" id="{B2672FB8-FE1C-79BF-1522-B47C15C50088}"/>
              </a:ext>
            </a:extLst>
          </p:cNvPr>
          <p:cNvSpPr txBox="1"/>
          <p:nvPr/>
        </p:nvSpPr>
        <p:spPr>
          <a:xfrm>
            <a:off x="7908283" y="4497266"/>
            <a:ext cx="12357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Own analysis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86" name="TextBox 2185">
            <a:extLst>
              <a:ext uri="{FF2B5EF4-FFF2-40B4-BE49-F238E27FC236}">
                <a16:creationId xmlns:a16="http://schemas.microsoft.com/office/drawing/2014/main" id="{822887D0-AE87-FC38-F56D-65A4E4529351}"/>
              </a:ext>
            </a:extLst>
          </p:cNvPr>
          <p:cNvSpPr txBox="1"/>
          <p:nvPr/>
        </p:nvSpPr>
        <p:spPr>
          <a:xfrm>
            <a:off x="7393436" y="4630493"/>
            <a:ext cx="1750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87" name="TextBox 2186">
            <a:extLst>
              <a:ext uri="{FF2B5EF4-FFF2-40B4-BE49-F238E27FC236}">
                <a16:creationId xmlns:a16="http://schemas.microsoft.com/office/drawing/2014/main" id="{138F9B2C-69BB-9FB0-7DF5-AE7D2405BD10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493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3"/>
          <p:cNvSpPr/>
          <p:nvPr/>
        </p:nvSpPr>
        <p:spPr>
          <a:xfrm rot="10800000" flipH="1">
            <a:off x="6127975" y="-800450"/>
            <a:ext cx="2156400" cy="2153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2" name="Google Shape;822;p53"/>
          <p:cNvSpPr txBox="1">
            <a:spLocks noGrp="1"/>
          </p:cNvSpPr>
          <p:nvPr>
            <p:ph type="title"/>
          </p:nvPr>
        </p:nvSpPr>
        <p:spPr>
          <a:xfrm>
            <a:off x="746300" y="204152"/>
            <a:ext cx="51902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dirty="0"/>
              <a:t>Feature Importance &amp;</a:t>
            </a:r>
            <a:r>
              <a:rPr lang="en" sz="2900" dirty="0"/>
              <a:t> </a:t>
            </a:r>
            <a:r>
              <a:rPr lang="en-GB" sz="2900" dirty="0">
                <a:highlight>
                  <a:srgbClr val="0000FF"/>
                </a:highlight>
              </a:rPr>
              <a:t>Key Insights for VCs</a:t>
            </a:r>
            <a:endParaRPr sz="2900" dirty="0">
              <a:highlight>
                <a:srgbClr val="0000FF"/>
              </a:highlight>
            </a:endParaRPr>
          </a:p>
        </p:txBody>
      </p:sp>
      <p:sp>
        <p:nvSpPr>
          <p:cNvPr id="823" name="Google Shape;823;p53"/>
          <p:cNvSpPr/>
          <p:nvPr/>
        </p:nvSpPr>
        <p:spPr>
          <a:xfrm rot="5400000">
            <a:off x="2373608" y="2682558"/>
            <a:ext cx="2482852" cy="673694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53"/>
          <p:cNvSpPr/>
          <p:nvPr/>
        </p:nvSpPr>
        <p:spPr>
          <a:xfrm rot="10800000">
            <a:off x="3286492" y="1759437"/>
            <a:ext cx="2482852" cy="673694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3"/>
          <p:cNvSpPr/>
          <p:nvPr/>
        </p:nvSpPr>
        <p:spPr>
          <a:xfrm rot="-5400000">
            <a:off x="4191078" y="2664023"/>
            <a:ext cx="2482852" cy="673694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53"/>
          <p:cNvSpPr/>
          <p:nvPr/>
        </p:nvSpPr>
        <p:spPr>
          <a:xfrm>
            <a:off x="3286492" y="3568609"/>
            <a:ext cx="2482852" cy="673694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53"/>
          <p:cNvSpPr/>
          <p:nvPr/>
        </p:nvSpPr>
        <p:spPr>
          <a:xfrm rot="10800000" flipH="1">
            <a:off x="3275550" y="2615366"/>
            <a:ext cx="675067" cy="166399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53"/>
          <p:cNvSpPr/>
          <p:nvPr/>
        </p:nvSpPr>
        <p:spPr>
          <a:xfrm>
            <a:off x="4643957" y="3113386"/>
            <a:ext cx="177591" cy="133315"/>
          </a:xfrm>
          <a:custGeom>
            <a:avLst/>
            <a:gdLst/>
            <a:ahLst/>
            <a:cxnLst/>
            <a:rect l="l" t="t" r="r" b="b"/>
            <a:pathLst>
              <a:path w="3650" h="2740" extrusionOk="0">
                <a:moveTo>
                  <a:pt x="1" y="1"/>
                </a:moveTo>
                <a:lnTo>
                  <a:pt x="1" y="2739"/>
                </a:lnTo>
                <a:lnTo>
                  <a:pt x="3649" y="2739"/>
                </a:lnTo>
                <a:lnTo>
                  <a:pt x="3649" y="1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53"/>
          <p:cNvSpPr/>
          <p:nvPr/>
        </p:nvSpPr>
        <p:spPr>
          <a:xfrm>
            <a:off x="4677821" y="3147249"/>
            <a:ext cx="65149" cy="65149"/>
          </a:xfrm>
          <a:custGeom>
            <a:avLst/>
            <a:gdLst/>
            <a:ahLst/>
            <a:cxnLst/>
            <a:rect l="l" t="t" r="r" b="b"/>
            <a:pathLst>
              <a:path w="1339" h="1339" extrusionOk="0">
                <a:moveTo>
                  <a:pt x="670" y="429"/>
                </a:moveTo>
                <a:cubicBezTo>
                  <a:pt x="803" y="429"/>
                  <a:pt x="910" y="536"/>
                  <a:pt x="910" y="669"/>
                </a:cubicBezTo>
                <a:cubicBezTo>
                  <a:pt x="910" y="803"/>
                  <a:pt x="803" y="910"/>
                  <a:pt x="670" y="910"/>
                </a:cubicBezTo>
                <a:cubicBezTo>
                  <a:pt x="536" y="910"/>
                  <a:pt x="429" y="803"/>
                  <a:pt x="429" y="669"/>
                </a:cubicBezTo>
                <a:cubicBezTo>
                  <a:pt x="429" y="536"/>
                  <a:pt x="536" y="429"/>
                  <a:pt x="670" y="429"/>
                </a:cubicBezTo>
                <a:close/>
                <a:moveTo>
                  <a:pt x="670" y="0"/>
                </a:moveTo>
                <a:cubicBezTo>
                  <a:pt x="304" y="0"/>
                  <a:pt x="1" y="304"/>
                  <a:pt x="1" y="669"/>
                </a:cubicBezTo>
                <a:cubicBezTo>
                  <a:pt x="1" y="1044"/>
                  <a:pt x="304" y="1339"/>
                  <a:pt x="670" y="1339"/>
                </a:cubicBezTo>
                <a:cubicBezTo>
                  <a:pt x="1044" y="1339"/>
                  <a:pt x="1339" y="1044"/>
                  <a:pt x="1339" y="669"/>
                </a:cubicBezTo>
                <a:cubicBezTo>
                  <a:pt x="1339" y="304"/>
                  <a:pt x="1044" y="0"/>
                  <a:pt x="6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53"/>
          <p:cNvSpPr/>
          <p:nvPr/>
        </p:nvSpPr>
        <p:spPr>
          <a:xfrm>
            <a:off x="4632669" y="2892005"/>
            <a:ext cx="110301" cy="99013"/>
          </a:xfrm>
          <a:custGeom>
            <a:avLst/>
            <a:gdLst/>
            <a:ahLst/>
            <a:cxnLst/>
            <a:rect l="l" t="t" r="r" b="b"/>
            <a:pathLst>
              <a:path w="2267" h="2035" extrusionOk="0">
                <a:moveTo>
                  <a:pt x="1" y="1"/>
                </a:moveTo>
                <a:lnTo>
                  <a:pt x="1" y="429"/>
                </a:lnTo>
                <a:lnTo>
                  <a:pt x="1838" y="429"/>
                </a:lnTo>
                <a:lnTo>
                  <a:pt x="1838" y="2035"/>
                </a:lnTo>
                <a:lnTo>
                  <a:pt x="2267" y="2035"/>
                </a:lnTo>
                <a:lnTo>
                  <a:pt x="22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53"/>
          <p:cNvSpPr/>
          <p:nvPr/>
        </p:nvSpPr>
        <p:spPr>
          <a:xfrm>
            <a:off x="4344048" y="2669360"/>
            <a:ext cx="288670" cy="277382"/>
          </a:xfrm>
          <a:custGeom>
            <a:avLst/>
            <a:gdLst/>
            <a:ahLst/>
            <a:cxnLst/>
            <a:rect l="l" t="t" r="r" b="b"/>
            <a:pathLst>
              <a:path w="5933" h="5701" extrusionOk="0">
                <a:moveTo>
                  <a:pt x="0" y="0"/>
                </a:moveTo>
                <a:lnTo>
                  <a:pt x="0" y="5701"/>
                </a:lnTo>
                <a:lnTo>
                  <a:pt x="5933" y="5701"/>
                </a:lnTo>
                <a:lnTo>
                  <a:pt x="5933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53"/>
          <p:cNvSpPr/>
          <p:nvPr/>
        </p:nvSpPr>
        <p:spPr>
          <a:xfrm>
            <a:off x="4344048" y="2703224"/>
            <a:ext cx="288670" cy="20873"/>
          </a:xfrm>
          <a:custGeom>
            <a:avLst/>
            <a:gdLst/>
            <a:ahLst/>
            <a:cxnLst/>
            <a:rect l="l" t="t" r="r" b="b"/>
            <a:pathLst>
              <a:path w="5933" h="429" extrusionOk="0">
                <a:moveTo>
                  <a:pt x="0" y="0"/>
                </a:moveTo>
                <a:lnTo>
                  <a:pt x="0" y="428"/>
                </a:lnTo>
                <a:lnTo>
                  <a:pt x="5933" y="428"/>
                </a:lnTo>
                <a:lnTo>
                  <a:pt x="593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3"/>
          <p:cNvSpPr/>
          <p:nvPr/>
        </p:nvSpPr>
        <p:spPr>
          <a:xfrm>
            <a:off x="4344048" y="2747500"/>
            <a:ext cx="288670" cy="20873"/>
          </a:xfrm>
          <a:custGeom>
            <a:avLst/>
            <a:gdLst/>
            <a:ahLst/>
            <a:cxnLst/>
            <a:rect l="l" t="t" r="r" b="b"/>
            <a:pathLst>
              <a:path w="5933" h="429" extrusionOk="0">
                <a:moveTo>
                  <a:pt x="0" y="0"/>
                </a:moveTo>
                <a:lnTo>
                  <a:pt x="0" y="428"/>
                </a:lnTo>
                <a:lnTo>
                  <a:pt x="5933" y="428"/>
                </a:lnTo>
                <a:lnTo>
                  <a:pt x="593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3"/>
          <p:cNvSpPr/>
          <p:nvPr/>
        </p:nvSpPr>
        <p:spPr>
          <a:xfrm>
            <a:off x="4577981" y="2791338"/>
            <a:ext cx="20873" cy="22187"/>
          </a:xfrm>
          <a:custGeom>
            <a:avLst/>
            <a:gdLst/>
            <a:ahLst/>
            <a:cxnLst/>
            <a:rect l="l" t="t" r="r" b="b"/>
            <a:pathLst>
              <a:path w="429" h="456" extrusionOk="0">
                <a:moveTo>
                  <a:pt x="1" y="0"/>
                </a:moveTo>
                <a:lnTo>
                  <a:pt x="1" y="455"/>
                </a:lnTo>
                <a:lnTo>
                  <a:pt x="429" y="455"/>
                </a:lnTo>
                <a:lnTo>
                  <a:pt x="42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53"/>
          <p:cNvSpPr/>
          <p:nvPr/>
        </p:nvSpPr>
        <p:spPr>
          <a:xfrm>
            <a:off x="4577981" y="2835614"/>
            <a:ext cx="20873" cy="22625"/>
          </a:xfrm>
          <a:custGeom>
            <a:avLst/>
            <a:gdLst/>
            <a:ahLst/>
            <a:cxnLst/>
            <a:rect l="l" t="t" r="r" b="b"/>
            <a:pathLst>
              <a:path w="429" h="465" extrusionOk="0">
                <a:moveTo>
                  <a:pt x="1" y="0"/>
                </a:moveTo>
                <a:lnTo>
                  <a:pt x="1" y="464"/>
                </a:lnTo>
                <a:lnTo>
                  <a:pt x="429" y="464"/>
                </a:lnTo>
                <a:lnTo>
                  <a:pt x="42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53"/>
          <p:cNvSpPr/>
          <p:nvPr/>
        </p:nvSpPr>
        <p:spPr>
          <a:xfrm>
            <a:off x="4366186" y="3302653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0" y="0"/>
                </a:moveTo>
                <a:lnTo>
                  <a:pt x="0" y="428"/>
                </a:lnTo>
                <a:lnTo>
                  <a:pt x="455" y="428"/>
                </a:lnTo>
                <a:lnTo>
                  <a:pt x="4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53"/>
          <p:cNvSpPr/>
          <p:nvPr/>
        </p:nvSpPr>
        <p:spPr>
          <a:xfrm>
            <a:off x="4433038" y="3302653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0" y="0"/>
                </a:moveTo>
                <a:lnTo>
                  <a:pt x="0" y="428"/>
                </a:lnTo>
                <a:lnTo>
                  <a:pt x="455" y="428"/>
                </a:lnTo>
                <a:lnTo>
                  <a:pt x="4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53"/>
          <p:cNvSpPr/>
          <p:nvPr/>
        </p:nvSpPr>
        <p:spPr>
          <a:xfrm>
            <a:off x="4499403" y="3302653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0"/>
                </a:moveTo>
                <a:lnTo>
                  <a:pt x="1" y="428"/>
                </a:lnTo>
                <a:lnTo>
                  <a:pt x="456" y="428"/>
                </a:lnTo>
                <a:lnTo>
                  <a:pt x="4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53"/>
          <p:cNvSpPr/>
          <p:nvPr/>
        </p:nvSpPr>
        <p:spPr>
          <a:xfrm>
            <a:off x="4566255" y="3302653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0"/>
                </a:moveTo>
                <a:lnTo>
                  <a:pt x="1" y="428"/>
                </a:lnTo>
                <a:lnTo>
                  <a:pt x="456" y="428"/>
                </a:lnTo>
                <a:lnTo>
                  <a:pt x="4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53"/>
          <p:cNvSpPr/>
          <p:nvPr/>
        </p:nvSpPr>
        <p:spPr>
          <a:xfrm>
            <a:off x="4632669" y="3302653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0"/>
                </a:moveTo>
                <a:lnTo>
                  <a:pt x="1" y="428"/>
                </a:lnTo>
                <a:lnTo>
                  <a:pt x="456" y="428"/>
                </a:lnTo>
                <a:lnTo>
                  <a:pt x="4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53"/>
          <p:cNvSpPr/>
          <p:nvPr/>
        </p:nvSpPr>
        <p:spPr>
          <a:xfrm>
            <a:off x="4366186" y="3025271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0" y="1"/>
                </a:moveTo>
                <a:lnTo>
                  <a:pt x="0" y="429"/>
                </a:lnTo>
                <a:lnTo>
                  <a:pt x="455" y="429"/>
                </a:lnTo>
                <a:lnTo>
                  <a:pt x="4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53"/>
          <p:cNvSpPr/>
          <p:nvPr/>
        </p:nvSpPr>
        <p:spPr>
          <a:xfrm>
            <a:off x="4433038" y="3025271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0" y="1"/>
                </a:moveTo>
                <a:lnTo>
                  <a:pt x="0" y="429"/>
                </a:lnTo>
                <a:lnTo>
                  <a:pt x="455" y="429"/>
                </a:lnTo>
                <a:lnTo>
                  <a:pt x="4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53"/>
          <p:cNvSpPr/>
          <p:nvPr/>
        </p:nvSpPr>
        <p:spPr>
          <a:xfrm>
            <a:off x="4499403" y="3025271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1"/>
                </a:moveTo>
                <a:lnTo>
                  <a:pt x="1" y="429"/>
                </a:lnTo>
                <a:lnTo>
                  <a:pt x="456" y="429"/>
                </a:lnTo>
                <a:lnTo>
                  <a:pt x="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53"/>
          <p:cNvSpPr/>
          <p:nvPr/>
        </p:nvSpPr>
        <p:spPr>
          <a:xfrm>
            <a:off x="4566255" y="3025271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1"/>
                </a:moveTo>
                <a:lnTo>
                  <a:pt x="1" y="429"/>
                </a:lnTo>
                <a:lnTo>
                  <a:pt x="456" y="429"/>
                </a:lnTo>
                <a:lnTo>
                  <a:pt x="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53"/>
          <p:cNvSpPr/>
          <p:nvPr/>
        </p:nvSpPr>
        <p:spPr>
          <a:xfrm>
            <a:off x="4632669" y="3025271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1"/>
                </a:moveTo>
                <a:lnTo>
                  <a:pt x="1" y="429"/>
                </a:lnTo>
                <a:lnTo>
                  <a:pt x="456" y="429"/>
                </a:lnTo>
                <a:lnTo>
                  <a:pt x="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53"/>
          <p:cNvSpPr/>
          <p:nvPr/>
        </p:nvSpPr>
        <p:spPr>
          <a:xfrm>
            <a:off x="4233796" y="2892005"/>
            <a:ext cx="553888" cy="475797"/>
          </a:xfrm>
          <a:custGeom>
            <a:avLst/>
            <a:gdLst/>
            <a:ahLst/>
            <a:cxnLst/>
            <a:rect l="l" t="t" r="r" b="b"/>
            <a:pathLst>
              <a:path w="11384" h="9779" extrusionOk="0">
                <a:moveTo>
                  <a:pt x="1142" y="2249"/>
                </a:moveTo>
                <a:lnTo>
                  <a:pt x="1142" y="9350"/>
                </a:lnTo>
                <a:lnTo>
                  <a:pt x="429" y="9350"/>
                </a:lnTo>
                <a:lnTo>
                  <a:pt x="429" y="2249"/>
                </a:lnTo>
                <a:close/>
                <a:moveTo>
                  <a:pt x="0" y="1"/>
                </a:moveTo>
                <a:lnTo>
                  <a:pt x="0" y="9778"/>
                </a:lnTo>
                <a:lnTo>
                  <a:pt x="11384" y="9778"/>
                </a:lnTo>
                <a:lnTo>
                  <a:pt x="11384" y="7289"/>
                </a:lnTo>
                <a:lnTo>
                  <a:pt x="10955" y="7289"/>
                </a:lnTo>
                <a:lnTo>
                  <a:pt x="10955" y="9350"/>
                </a:lnTo>
                <a:lnTo>
                  <a:pt x="1570" y="9350"/>
                </a:lnTo>
                <a:lnTo>
                  <a:pt x="1570" y="2249"/>
                </a:lnTo>
                <a:lnTo>
                  <a:pt x="10955" y="2249"/>
                </a:lnTo>
                <a:lnTo>
                  <a:pt x="10955" y="4551"/>
                </a:lnTo>
                <a:lnTo>
                  <a:pt x="11384" y="4551"/>
                </a:lnTo>
                <a:lnTo>
                  <a:pt x="11384" y="1821"/>
                </a:lnTo>
                <a:lnTo>
                  <a:pt x="429" y="1821"/>
                </a:lnTo>
                <a:lnTo>
                  <a:pt x="429" y="429"/>
                </a:lnTo>
                <a:lnTo>
                  <a:pt x="2266" y="429"/>
                </a:lnTo>
                <a:lnTo>
                  <a:pt x="226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53"/>
          <p:cNvSpPr/>
          <p:nvPr/>
        </p:nvSpPr>
        <p:spPr>
          <a:xfrm>
            <a:off x="4299772" y="2869867"/>
            <a:ext cx="377222" cy="87336"/>
          </a:xfrm>
          <a:custGeom>
            <a:avLst/>
            <a:gdLst/>
            <a:ahLst/>
            <a:cxnLst/>
            <a:rect l="l" t="t" r="r" b="b"/>
            <a:pathLst>
              <a:path w="7753" h="1795" extrusionOk="0">
                <a:moveTo>
                  <a:pt x="3881" y="429"/>
                </a:moveTo>
                <a:cubicBezTo>
                  <a:pt x="4443" y="429"/>
                  <a:pt x="4916" y="831"/>
                  <a:pt x="5014" y="1366"/>
                </a:cubicBezTo>
                <a:lnTo>
                  <a:pt x="2739" y="1366"/>
                </a:lnTo>
                <a:cubicBezTo>
                  <a:pt x="2846" y="831"/>
                  <a:pt x="3310" y="429"/>
                  <a:pt x="3881" y="429"/>
                </a:cubicBezTo>
                <a:close/>
                <a:moveTo>
                  <a:pt x="3881" y="1"/>
                </a:moveTo>
                <a:cubicBezTo>
                  <a:pt x="3078" y="1"/>
                  <a:pt x="2418" y="599"/>
                  <a:pt x="2311" y="1366"/>
                </a:cubicBezTo>
                <a:lnTo>
                  <a:pt x="0" y="1366"/>
                </a:lnTo>
                <a:lnTo>
                  <a:pt x="0" y="1794"/>
                </a:lnTo>
                <a:lnTo>
                  <a:pt x="7753" y="1794"/>
                </a:lnTo>
                <a:lnTo>
                  <a:pt x="7753" y="1366"/>
                </a:lnTo>
                <a:lnTo>
                  <a:pt x="5442" y="1366"/>
                </a:lnTo>
                <a:cubicBezTo>
                  <a:pt x="5344" y="599"/>
                  <a:pt x="4675" y="1"/>
                  <a:pt x="3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53"/>
          <p:cNvSpPr txBox="1">
            <a:spLocks noGrp="1"/>
          </p:cNvSpPr>
          <p:nvPr>
            <p:ph type="subTitle" idx="4294967295"/>
          </p:nvPr>
        </p:nvSpPr>
        <p:spPr>
          <a:xfrm>
            <a:off x="256647" y="1635216"/>
            <a:ext cx="1842546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/>
              <a:t>Age at Last Funding</a:t>
            </a:r>
            <a:endParaRPr sz="21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49" name="Google Shape;849;p53"/>
          <p:cNvSpPr txBox="1">
            <a:spLocks noGrp="1"/>
          </p:cNvSpPr>
          <p:nvPr>
            <p:ph type="subTitle" idx="4294967295"/>
          </p:nvPr>
        </p:nvSpPr>
        <p:spPr>
          <a:xfrm>
            <a:off x="256654" y="2037442"/>
            <a:ext cx="250213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0000FF"/>
                </a:highlight>
              </a:rPr>
              <a:t>Top predictor </a:t>
            </a:r>
            <a:r>
              <a:rPr lang="en-US"/>
              <a:t>in the Random Forest, with </a:t>
            </a:r>
            <a:r>
              <a:rPr lang="en-US">
                <a:highlight>
                  <a:srgbClr val="0000FF"/>
                </a:highlight>
              </a:rPr>
              <a:t>22.7% importance</a:t>
            </a:r>
            <a:endParaRPr dirty="0">
              <a:highlight>
                <a:srgbClr val="0000FF"/>
              </a:highlight>
            </a:endParaRPr>
          </a:p>
        </p:txBody>
      </p:sp>
      <p:sp>
        <p:nvSpPr>
          <p:cNvPr id="850" name="Google Shape;850;p53"/>
          <p:cNvSpPr/>
          <p:nvPr/>
        </p:nvSpPr>
        <p:spPr>
          <a:xfrm>
            <a:off x="3387921" y="1846534"/>
            <a:ext cx="499500" cy="499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1</a:t>
            </a:r>
            <a:endParaRPr sz="2400"/>
          </a:p>
        </p:txBody>
      </p:sp>
      <p:sp>
        <p:nvSpPr>
          <p:cNvPr id="851" name="Google Shape;851;p53"/>
          <p:cNvSpPr txBox="1">
            <a:spLocks noGrp="1"/>
          </p:cNvSpPr>
          <p:nvPr>
            <p:ph type="subTitle" idx="4294967295"/>
          </p:nvPr>
        </p:nvSpPr>
        <p:spPr>
          <a:xfrm>
            <a:off x="492048" y="3501011"/>
            <a:ext cx="1420167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Top-500 &amp; VC</a:t>
            </a:r>
            <a:endParaRPr sz="21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52" name="Google Shape;852;p53"/>
          <p:cNvSpPr txBox="1">
            <a:spLocks noGrp="1"/>
          </p:cNvSpPr>
          <p:nvPr>
            <p:ph type="subTitle" idx="4294967295"/>
          </p:nvPr>
        </p:nvSpPr>
        <p:spPr>
          <a:xfrm>
            <a:off x="492048" y="3910996"/>
            <a:ext cx="22990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Smaller effects: </a:t>
            </a:r>
            <a:r>
              <a:rPr lang="en-US">
                <a:highlight>
                  <a:srgbClr val="0000FF"/>
                </a:highlight>
              </a:rPr>
              <a:t>is_top500 5.0%, has_VC 3.5%</a:t>
            </a:r>
            <a:endParaRPr dirty="0">
              <a:highlight>
                <a:srgbClr val="0000FF"/>
              </a:highlight>
            </a:endParaRPr>
          </a:p>
        </p:txBody>
      </p:sp>
      <p:sp>
        <p:nvSpPr>
          <p:cNvPr id="853" name="Google Shape;853;p53"/>
          <p:cNvSpPr/>
          <p:nvPr/>
        </p:nvSpPr>
        <p:spPr>
          <a:xfrm>
            <a:off x="3373571" y="3655709"/>
            <a:ext cx="499500" cy="499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4</a:t>
            </a:r>
            <a:endParaRPr sz="2400"/>
          </a:p>
        </p:txBody>
      </p:sp>
      <p:sp>
        <p:nvSpPr>
          <p:cNvPr id="854" name="Google Shape;854;p53"/>
          <p:cNvSpPr/>
          <p:nvPr/>
        </p:nvSpPr>
        <p:spPr>
          <a:xfrm>
            <a:off x="5168408" y="3655709"/>
            <a:ext cx="499500" cy="499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sz="2400"/>
          </a:p>
        </p:txBody>
      </p:sp>
      <p:sp>
        <p:nvSpPr>
          <p:cNvPr id="855" name="Google Shape;855;p53"/>
          <p:cNvSpPr/>
          <p:nvPr/>
        </p:nvSpPr>
        <p:spPr>
          <a:xfrm>
            <a:off x="5182758" y="1846534"/>
            <a:ext cx="499500" cy="499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sz="2400"/>
          </a:p>
        </p:txBody>
      </p:sp>
      <p:sp>
        <p:nvSpPr>
          <p:cNvPr id="856" name="Google Shape;856;p53"/>
          <p:cNvSpPr txBox="1">
            <a:spLocks noGrp="1"/>
          </p:cNvSpPr>
          <p:nvPr>
            <p:ph type="subTitle" idx="4294967295"/>
          </p:nvPr>
        </p:nvSpPr>
        <p:spPr>
          <a:xfrm>
            <a:off x="6743099" y="1738625"/>
            <a:ext cx="2085131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Total Funding</a:t>
            </a:r>
            <a:endParaRPr sz="21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57" name="Google Shape;857;p53"/>
          <p:cNvSpPr txBox="1">
            <a:spLocks noGrp="1"/>
          </p:cNvSpPr>
          <p:nvPr>
            <p:ph type="subTitle" idx="4294967295"/>
          </p:nvPr>
        </p:nvSpPr>
        <p:spPr>
          <a:xfrm>
            <a:off x="6152408" y="2171456"/>
            <a:ext cx="27282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 funding </a:t>
            </a:r>
            <a:r>
              <a:rPr lang="en">
                <a:highlight>
                  <a:srgbClr val="0000FF"/>
                </a:highlight>
              </a:rPr>
              <a:t>(22.2%)</a:t>
            </a:r>
            <a:r>
              <a:rPr lang="en-US"/>
              <a:t> is a close second</a:t>
            </a:r>
            <a:endParaRPr dirty="0"/>
          </a:p>
        </p:txBody>
      </p:sp>
      <p:sp>
        <p:nvSpPr>
          <p:cNvPr id="858" name="Google Shape;858;p53"/>
          <p:cNvSpPr txBox="1">
            <a:spLocks noGrp="1"/>
          </p:cNvSpPr>
          <p:nvPr>
            <p:ph type="subTitle" idx="4294967295"/>
          </p:nvPr>
        </p:nvSpPr>
        <p:spPr>
          <a:xfrm>
            <a:off x="7571550" y="3505643"/>
            <a:ext cx="1182387" cy="534900"/>
          </a:xfrm>
          <a:prstGeom prst="rect">
            <a:avLst/>
          </a:prstGeom>
        </p:spPr>
        <p:txBody>
          <a:bodyPr spcFirstLastPara="1" wrap="non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Rounds</a:t>
            </a:r>
            <a:endParaRPr sz="21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59" name="Google Shape;859;p53"/>
          <p:cNvSpPr txBox="1">
            <a:spLocks noGrp="1"/>
          </p:cNvSpPr>
          <p:nvPr>
            <p:ph type="subTitle" idx="4294967295"/>
          </p:nvPr>
        </p:nvSpPr>
        <p:spPr>
          <a:xfrm>
            <a:off x="6330124" y="3919645"/>
            <a:ext cx="248285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0000FF"/>
                </a:highlight>
              </a:rPr>
              <a:t>Number of rounds </a:t>
            </a:r>
            <a:r>
              <a:rPr lang="en-US"/>
              <a:t>ranks third, at 8.4% importance</a:t>
            </a:r>
            <a:endParaRPr lang="en-GB" dirty="0"/>
          </a:p>
        </p:txBody>
      </p:sp>
      <p:grpSp>
        <p:nvGrpSpPr>
          <p:cNvPr id="860" name="Google Shape;860;p53"/>
          <p:cNvGrpSpPr/>
          <p:nvPr/>
        </p:nvGrpSpPr>
        <p:grpSpPr>
          <a:xfrm>
            <a:off x="7615917" y="445016"/>
            <a:ext cx="808077" cy="720260"/>
            <a:chOff x="5619305" y="1427896"/>
            <a:chExt cx="459971" cy="409984"/>
          </a:xfrm>
        </p:grpSpPr>
        <p:sp>
          <p:nvSpPr>
            <p:cNvPr id="861" name="Google Shape;861;p53"/>
            <p:cNvSpPr/>
            <p:nvPr/>
          </p:nvSpPr>
          <p:spPr>
            <a:xfrm>
              <a:off x="5892425" y="1651573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3"/>
            <p:cNvSpPr/>
            <p:nvPr/>
          </p:nvSpPr>
          <p:spPr>
            <a:xfrm>
              <a:off x="5863573" y="1651573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3"/>
            <p:cNvSpPr/>
            <p:nvPr/>
          </p:nvSpPr>
          <p:spPr>
            <a:xfrm>
              <a:off x="5921277" y="1651573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3"/>
            <p:cNvSpPr/>
            <p:nvPr/>
          </p:nvSpPr>
          <p:spPr>
            <a:xfrm>
              <a:off x="5950130" y="1651573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3"/>
            <p:cNvSpPr/>
            <p:nvPr/>
          </p:nvSpPr>
          <p:spPr>
            <a:xfrm>
              <a:off x="5878143" y="1752412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3"/>
            <p:cNvSpPr/>
            <p:nvPr/>
          </p:nvSpPr>
          <p:spPr>
            <a:xfrm>
              <a:off x="5906707" y="1752412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3"/>
            <p:cNvSpPr/>
            <p:nvPr/>
          </p:nvSpPr>
          <p:spPr>
            <a:xfrm>
              <a:off x="5935559" y="1752412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53"/>
            <p:cNvSpPr/>
            <p:nvPr/>
          </p:nvSpPr>
          <p:spPr>
            <a:xfrm>
              <a:off x="5784445" y="1607862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4" y="1"/>
                  </a:moveTo>
                  <a:lnTo>
                    <a:pt x="464" y="242"/>
                  </a:lnTo>
                  <a:lnTo>
                    <a:pt x="18" y="242"/>
                  </a:lnTo>
                  <a:lnTo>
                    <a:pt x="18" y="1339"/>
                  </a:lnTo>
                  <a:lnTo>
                    <a:pt x="910" y="1339"/>
                  </a:lnTo>
                  <a:lnTo>
                    <a:pt x="910" y="1589"/>
                  </a:lnTo>
                  <a:lnTo>
                    <a:pt x="0" y="1589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9"/>
                  </a:lnTo>
                  <a:lnTo>
                    <a:pt x="883" y="2249"/>
                  </a:lnTo>
                  <a:lnTo>
                    <a:pt x="883" y="2008"/>
                  </a:lnTo>
                  <a:lnTo>
                    <a:pt x="1338" y="2008"/>
                  </a:lnTo>
                  <a:lnTo>
                    <a:pt x="1338" y="920"/>
                  </a:lnTo>
                  <a:lnTo>
                    <a:pt x="437" y="920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42"/>
                  </a:lnTo>
                  <a:lnTo>
                    <a:pt x="883" y="242"/>
                  </a:lnTo>
                  <a:lnTo>
                    <a:pt x="8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53"/>
            <p:cNvSpPr/>
            <p:nvPr/>
          </p:nvSpPr>
          <p:spPr>
            <a:xfrm>
              <a:off x="5935559" y="1579586"/>
              <a:ext cx="115153" cy="13449"/>
            </a:xfrm>
            <a:custGeom>
              <a:avLst/>
              <a:gdLst/>
              <a:ahLst/>
              <a:cxnLst/>
              <a:rect l="l" t="t" r="r" b="b"/>
              <a:pathLst>
                <a:path w="3596" h="420" extrusionOk="0">
                  <a:moveTo>
                    <a:pt x="0" y="1"/>
                  </a:moveTo>
                  <a:lnTo>
                    <a:pt x="0" y="420"/>
                  </a:lnTo>
                  <a:lnTo>
                    <a:pt x="3596" y="420"/>
                  </a:lnTo>
                  <a:lnTo>
                    <a:pt x="35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53"/>
            <p:cNvSpPr/>
            <p:nvPr/>
          </p:nvSpPr>
          <p:spPr>
            <a:xfrm>
              <a:off x="5964412" y="1608438"/>
              <a:ext cx="86301" cy="13449"/>
            </a:xfrm>
            <a:custGeom>
              <a:avLst/>
              <a:gdLst/>
              <a:ahLst/>
              <a:cxnLst/>
              <a:rect l="l" t="t" r="r" b="b"/>
              <a:pathLst>
                <a:path w="2695" h="420" extrusionOk="0">
                  <a:moveTo>
                    <a:pt x="0" y="1"/>
                  </a:moveTo>
                  <a:lnTo>
                    <a:pt x="0" y="420"/>
                  </a:lnTo>
                  <a:lnTo>
                    <a:pt x="2695" y="420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53"/>
            <p:cNvSpPr/>
            <p:nvPr/>
          </p:nvSpPr>
          <p:spPr>
            <a:xfrm>
              <a:off x="5935559" y="1723559"/>
              <a:ext cx="115153" cy="13481"/>
            </a:xfrm>
            <a:custGeom>
              <a:avLst/>
              <a:gdLst/>
              <a:ahLst/>
              <a:cxnLst/>
              <a:rect l="l" t="t" r="r" b="b"/>
              <a:pathLst>
                <a:path w="359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3596" y="420"/>
                  </a:lnTo>
                  <a:lnTo>
                    <a:pt x="35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53"/>
            <p:cNvSpPr/>
            <p:nvPr/>
          </p:nvSpPr>
          <p:spPr>
            <a:xfrm>
              <a:off x="5964412" y="1752412"/>
              <a:ext cx="86301" cy="13481"/>
            </a:xfrm>
            <a:custGeom>
              <a:avLst/>
              <a:gdLst/>
              <a:ahLst/>
              <a:cxnLst/>
              <a:rect l="l" t="t" r="r" b="b"/>
              <a:pathLst>
                <a:path w="2695" h="421" extrusionOk="0">
                  <a:moveTo>
                    <a:pt x="0" y="1"/>
                  </a:moveTo>
                  <a:lnTo>
                    <a:pt x="0" y="420"/>
                  </a:lnTo>
                  <a:lnTo>
                    <a:pt x="2695" y="420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53"/>
            <p:cNvSpPr/>
            <p:nvPr/>
          </p:nvSpPr>
          <p:spPr>
            <a:xfrm>
              <a:off x="5619305" y="1550734"/>
              <a:ext cx="459971" cy="287146"/>
            </a:xfrm>
            <a:custGeom>
              <a:avLst/>
              <a:gdLst/>
              <a:ahLst/>
              <a:cxnLst/>
              <a:rect l="l" t="t" r="r" b="b"/>
              <a:pathLst>
                <a:path w="14364" h="8967" extrusionOk="0">
                  <a:moveTo>
                    <a:pt x="1348" y="420"/>
                  </a:moveTo>
                  <a:lnTo>
                    <a:pt x="1348" y="7200"/>
                  </a:lnTo>
                  <a:lnTo>
                    <a:pt x="420" y="7200"/>
                  </a:lnTo>
                  <a:lnTo>
                    <a:pt x="420" y="420"/>
                  </a:lnTo>
                  <a:close/>
                  <a:moveTo>
                    <a:pt x="1348" y="7619"/>
                  </a:moveTo>
                  <a:lnTo>
                    <a:pt x="1348" y="7869"/>
                  </a:lnTo>
                  <a:lnTo>
                    <a:pt x="420" y="7869"/>
                  </a:lnTo>
                  <a:lnTo>
                    <a:pt x="420" y="7619"/>
                  </a:lnTo>
                  <a:close/>
                  <a:moveTo>
                    <a:pt x="13936" y="7619"/>
                  </a:moveTo>
                  <a:lnTo>
                    <a:pt x="13936" y="7869"/>
                  </a:lnTo>
                  <a:lnTo>
                    <a:pt x="1767" y="7869"/>
                  </a:lnTo>
                  <a:lnTo>
                    <a:pt x="1767" y="7619"/>
                  </a:lnTo>
                  <a:close/>
                  <a:moveTo>
                    <a:pt x="1348" y="8288"/>
                  </a:moveTo>
                  <a:lnTo>
                    <a:pt x="1348" y="8547"/>
                  </a:lnTo>
                  <a:lnTo>
                    <a:pt x="420" y="8547"/>
                  </a:lnTo>
                  <a:lnTo>
                    <a:pt x="420" y="8288"/>
                  </a:lnTo>
                  <a:close/>
                  <a:moveTo>
                    <a:pt x="13936" y="8288"/>
                  </a:moveTo>
                  <a:lnTo>
                    <a:pt x="13936" y="8547"/>
                  </a:lnTo>
                  <a:lnTo>
                    <a:pt x="1767" y="8547"/>
                  </a:lnTo>
                  <a:lnTo>
                    <a:pt x="1767" y="8288"/>
                  </a:lnTo>
                  <a:close/>
                  <a:moveTo>
                    <a:pt x="1" y="1"/>
                  </a:moveTo>
                  <a:lnTo>
                    <a:pt x="1" y="8966"/>
                  </a:lnTo>
                  <a:lnTo>
                    <a:pt x="14364" y="8966"/>
                  </a:lnTo>
                  <a:lnTo>
                    <a:pt x="14364" y="1"/>
                  </a:lnTo>
                  <a:lnTo>
                    <a:pt x="4479" y="1"/>
                  </a:lnTo>
                  <a:lnTo>
                    <a:pt x="4479" y="420"/>
                  </a:lnTo>
                  <a:lnTo>
                    <a:pt x="13936" y="420"/>
                  </a:lnTo>
                  <a:lnTo>
                    <a:pt x="13936" y="7200"/>
                  </a:lnTo>
                  <a:lnTo>
                    <a:pt x="1767" y="7200"/>
                  </a:lnTo>
                  <a:lnTo>
                    <a:pt x="1767" y="420"/>
                  </a:lnTo>
                  <a:lnTo>
                    <a:pt x="3132" y="420"/>
                  </a:lnTo>
                  <a:lnTo>
                    <a:pt x="31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53"/>
            <p:cNvSpPr/>
            <p:nvPr/>
          </p:nvSpPr>
          <p:spPr>
            <a:xfrm>
              <a:off x="5777304" y="1687566"/>
              <a:ext cx="273408" cy="13481"/>
            </a:xfrm>
            <a:custGeom>
              <a:avLst/>
              <a:gdLst/>
              <a:ahLst/>
              <a:cxnLst/>
              <a:rect l="l" t="t" r="r" b="b"/>
              <a:pathLst>
                <a:path w="8538" h="421" extrusionOk="0">
                  <a:moveTo>
                    <a:pt x="0" y="1"/>
                  </a:moveTo>
                  <a:lnTo>
                    <a:pt x="0" y="420"/>
                  </a:lnTo>
                  <a:lnTo>
                    <a:pt x="8538" y="420"/>
                  </a:lnTo>
                  <a:lnTo>
                    <a:pt x="85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53"/>
            <p:cNvSpPr/>
            <p:nvPr/>
          </p:nvSpPr>
          <p:spPr>
            <a:xfrm>
              <a:off x="5719600" y="1427896"/>
              <a:ext cx="43166" cy="273696"/>
            </a:xfrm>
            <a:custGeom>
              <a:avLst/>
              <a:gdLst/>
              <a:ahLst/>
              <a:cxnLst/>
              <a:rect l="l" t="t" r="r" b="b"/>
              <a:pathLst>
                <a:path w="1348" h="8547" extrusionOk="0">
                  <a:moveTo>
                    <a:pt x="0" y="1"/>
                  </a:moveTo>
                  <a:lnTo>
                    <a:pt x="0" y="7423"/>
                  </a:lnTo>
                  <a:lnTo>
                    <a:pt x="678" y="8547"/>
                  </a:lnTo>
                  <a:lnTo>
                    <a:pt x="1347" y="7423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53"/>
            <p:cNvSpPr/>
            <p:nvPr/>
          </p:nvSpPr>
          <p:spPr>
            <a:xfrm>
              <a:off x="5719600" y="1565304"/>
              <a:ext cx="43166" cy="13449"/>
            </a:xfrm>
            <a:custGeom>
              <a:avLst/>
              <a:gdLst/>
              <a:ahLst/>
              <a:cxnLst/>
              <a:rect l="l" t="t" r="r" b="b"/>
              <a:pathLst>
                <a:path w="1348" h="420" extrusionOk="0">
                  <a:moveTo>
                    <a:pt x="0" y="1"/>
                  </a:moveTo>
                  <a:lnTo>
                    <a:pt x="0" y="420"/>
                  </a:lnTo>
                  <a:lnTo>
                    <a:pt x="1347" y="42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5719600" y="1658714"/>
              <a:ext cx="43166" cy="13481"/>
            </a:xfrm>
            <a:custGeom>
              <a:avLst/>
              <a:gdLst/>
              <a:ahLst/>
              <a:cxnLst/>
              <a:rect l="l" t="t" r="r" b="b"/>
              <a:pathLst>
                <a:path w="1348" h="421" extrusionOk="0">
                  <a:moveTo>
                    <a:pt x="0" y="1"/>
                  </a:moveTo>
                  <a:lnTo>
                    <a:pt x="0" y="420"/>
                  </a:lnTo>
                  <a:lnTo>
                    <a:pt x="1347" y="42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5690747" y="1435613"/>
              <a:ext cx="72019" cy="100294"/>
            </a:xfrm>
            <a:custGeom>
              <a:avLst/>
              <a:gdLst/>
              <a:ahLst/>
              <a:cxnLst/>
              <a:rect l="l" t="t" r="r" b="b"/>
              <a:pathLst>
                <a:path w="2249" h="3132" extrusionOk="0">
                  <a:moveTo>
                    <a:pt x="660" y="0"/>
                  </a:moveTo>
                  <a:cubicBezTo>
                    <a:pt x="294" y="0"/>
                    <a:pt x="0" y="295"/>
                    <a:pt x="0" y="661"/>
                  </a:cubicBezTo>
                  <a:lnTo>
                    <a:pt x="0" y="3132"/>
                  </a:lnTo>
                  <a:lnTo>
                    <a:pt x="419" y="3132"/>
                  </a:lnTo>
                  <a:lnTo>
                    <a:pt x="419" y="661"/>
                  </a:lnTo>
                  <a:cubicBezTo>
                    <a:pt x="419" y="527"/>
                    <a:pt x="526" y="420"/>
                    <a:pt x="660" y="420"/>
                  </a:cubicBezTo>
                  <a:cubicBezTo>
                    <a:pt x="794" y="420"/>
                    <a:pt x="901" y="527"/>
                    <a:pt x="901" y="661"/>
                  </a:cubicBezTo>
                  <a:lnTo>
                    <a:pt x="901" y="875"/>
                  </a:lnTo>
                  <a:lnTo>
                    <a:pt x="2248" y="875"/>
                  </a:lnTo>
                  <a:lnTo>
                    <a:pt x="2248" y="447"/>
                  </a:lnTo>
                  <a:lnTo>
                    <a:pt x="1285" y="447"/>
                  </a:lnTo>
                  <a:cubicBezTo>
                    <a:pt x="1196" y="188"/>
                    <a:pt x="946" y="0"/>
                    <a:pt x="6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53"/>
          <p:cNvCxnSpPr>
            <a:cxnSpLocks/>
            <a:endCxn id="850" idx="2"/>
          </p:cNvCxnSpPr>
          <p:nvPr/>
        </p:nvCxnSpPr>
        <p:spPr>
          <a:xfrm>
            <a:off x="1912215" y="1828006"/>
            <a:ext cx="1475706" cy="26827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80" name="Google Shape;880;p53"/>
          <p:cNvCxnSpPr>
            <a:cxnSpLocks/>
            <a:stCxn id="856" idx="1"/>
            <a:endCxn id="855" idx="6"/>
          </p:cNvCxnSpPr>
          <p:nvPr/>
        </p:nvCxnSpPr>
        <p:spPr>
          <a:xfrm rot="10800000" flipV="1">
            <a:off x="5682259" y="2006074"/>
            <a:ext cx="1060841" cy="9020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81" name="Google Shape;881;p53"/>
          <p:cNvCxnSpPr>
            <a:cxnSpLocks/>
            <a:stCxn id="858" idx="1"/>
            <a:endCxn id="854" idx="6"/>
          </p:cNvCxnSpPr>
          <p:nvPr/>
        </p:nvCxnSpPr>
        <p:spPr>
          <a:xfrm rot="10800000" flipV="1">
            <a:off x="5667908" y="3773093"/>
            <a:ext cx="1903642" cy="13236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82" name="Google Shape;882;p53"/>
          <p:cNvCxnSpPr>
            <a:cxnSpLocks/>
            <a:stCxn id="851" idx="3"/>
            <a:endCxn id="853" idx="2"/>
          </p:cNvCxnSpPr>
          <p:nvPr/>
        </p:nvCxnSpPr>
        <p:spPr>
          <a:xfrm>
            <a:off x="1912215" y="3768461"/>
            <a:ext cx="1461356" cy="13699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D2BACF7-DA96-8462-CC2F-A6CD04C9EF31}"/>
              </a:ext>
            </a:extLst>
          </p:cNvPr>
          <p:cNvSpPr txBox="1"/>
          <p:nvPr/>
        </p:nvSpPr>
        <p:spPr>
          <a:xfrm>
            <a:off x="8252025" y="4637026"/>
            <a:ext cx="79701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Own analysis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1841FF-C9A3-6878-FF5F-3783F75B778F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>
            <a:spLocks noGrp="1"/>
          </p:cNvSpPr>
          <p:nvPr>
            <p:ph type="subTitle" idx="1"/>
          </p:nvPr>
        </p:nvSpPr>
        <p:spPr>
          <a:xfrm>
            <a:off x="2076882" y="2256175"/>
            <a:ext cx="24453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Dataset covers U.S. start-ups only (state-level location)</a:t>
            </a:r>
            <a:endParaRPr sz="1300" dirty="0"/>
          </a:p>
        </p:txBody>
      </p:sp>
      <p:sp>
        <p:nvSpPr>
          <p:cNvPr id="310" name="Google Shape;310;p41"/>
          <p:cNvSpPr txBox="1">
            <a:spLocks noGrp="1"/>
          </p:cNvSpPr>
          <p:nvPr>
            <p:ph type="subTitle" idx="3"/>
          </p:nvPr>
        </p:nvSpPr>
        <p:spPr>
          <a:xfrm>
            <a:off x="5485231" y="2256175"/>
            <a:ext cx="24453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/>
              <a:t>‘Success’ ≠ profitability (limited proxy)</a:t>
            </a:r>
            <a:endParaRPr sz="1300" dirty="0"/>
          </a:p>
        </p:txBody>
      </p:sp>
      <p:sp>
        <p:nvSpPr>
          <p:cNvPr id="311" name="Google Shape;311;p41"/>
          <p:cNvSpPr txBox="1">
            <a:spLocks noGrp="1"/>
          </p:cNvSpPr>
          <p:nvPr>
            <p:ph type="subTitle" idx="5"/>
          </p:nvPr>
        </p:nvSpPr>
        <p:spPr>
          <a:xfrm>
            <a:off x="2076882" y="3970846"/>
            <a:ext cx="24453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Small sample (923 start-ups), no qualitative data (e.g., market sentiment)</a:t>
            </a:r>
            <a:endParaRPr sz="1300" dirty="0"/>
          </a:p>
        </p:txBody>
      </p:sp>
      <p:sp>
        <p:nvSpPr>
          <p:cNvPr id="312" name="Google Shape;312;p41"/>
          <p:cNvSpPr txBox="1">
            <a:spLocks noGrp="1"/>
          </p:cNvSpPr>
          <p:nvPr>
            <p:ph type="subTitle" idx="7"/>
          </p:nvPr>
        </p:nvSpPr>
        <p:spPr>
          <a:xfrm>
            <a:off x="5485231" y="3970846"/>
            <a:ext cx="24453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/>
              <a:t>Ethical issues: bias in data and funding access</a:t>
            </a:r>
            <a:endParaRPr sz="1300" dirty="0"/>
          </a:p>
        </p:txBody>
      </p:sp>
      <p:sp>
        <p:nvSpPr>
          <p:cNvPr id="313" name="Google Shape;313;p41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ighlight>
                  <a:srgbClr val="0000FF"/>
                </a:highlight>
              </a:rPr>
              <a:t>Limitations</a:t>
            </a:r>
            <a:r>
              <a:rPr lang="en" dirty="0"/>
              <a:t> &amp; Caveats</a:t>
            </a:r>
            <a:endParaRPr dirty="0"/>
          </a:p>
        </p:txBody>
      </p:sp>
      <p:sp>
        <p:nvSpPr>
          <p:cNvPr id="314" name="Google Shape;314;p41"/>
          <p:cNvSpPr txBox="1">
            <a:spLocks noGrp="1"/>
          </p:cNvSpPr>
          <p:nvPr>
            <p:ph type="subTitle" idx="9"/>
          </p:nvPr>
        </p:nvSpPr>
        <p:spPr>
          <a:xfrm>
            <a:off x="2071906" y="1512550"/>
            <a:ext cx="2445300" cy="85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Regional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ighlight>
                  <a:schemeClr val="dk2"/>
                </a:highlight>
              </a:rPr>
              <a:t>Bias</a:t>
            </a:r>
            <a:r>
              <a:rPr lang="en" dirty="0"/>
              <a:t> </a:t>
            </a:r>
            <a:endParaRPr dirty="0"/>
          </a:p>
        </p:txBody>
      </p:sp>
      <p:sp>
        <p:nvSpPr>
          <p:cNvPr id="315" name="Google Shape;315;p41"/>
          <p:cNvSpPr txBox="1">
            <a:spLocks noGrp="1"/>
          </p:cNvSpPr>
          <p:nvPr>
            <p:ph type="subTitle" idx="13"/>
          </p:nvPr>
        </p:nvSpPr>
        <p:spPr>
          <a:xfrm>
            <a:off x="5485256" y="1512550"/>
            <a:ext cx="2445300" cy="85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Proxy</a:t>
            </a:r>
            <a:r>
              <a:rPr lang="en" dirty="0"/>
              <a:t> </a:t>
            </a:r>
            <a:r>
              <a:rPr lang="en" dirty="0">
                <a:highlight>
                  <a:schemeClr val="dk2"/>
                </a:highlight>
              </a:rPr>
              <a:t>Limitation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316" name="Google Shape;316;p41"/>
          <p:cNvSpPr txBox="1">
            <a:spLocks noGrp="1"/>
          </p:cNvSpPr>
          <p:nvPr>
            <p:ph type="subTitle" idx="14"/>
          </p:nvPr>
        </p:nvSpPr>
        <p:spPr>
          <a:xfrm>
            <a:off x="2071906" y="3228928"/>
            <a:ext cx="2445300" cy="85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ighlight>
                  <a:schemeClr val="dk2"/>
                </a:highlight>
              </a:rPr>
              <a:t>Gaps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317" name="Google Shape;317;p41"/>
          <p:cNvSpPr txBox="1">
            <a:spLocks noGrp="1"/>
          </p:cNvSpPr>
          <p:nvPr>
            <p:ph type="subTitle" idx="15"/>
          </p:nvPr>
        </p:nvSpPr>
        <p:spPr>
          <a:xfrm>
            <a:off x="5485256" y="3228928"/>
            <a:ext cx="2445300" cy="85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Ethical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ighlight>
                  <a:schemeClr val="dk2"/>
                </a:highlight>
              </a:rPr>
              <a:t>Bias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318" name="Google Shape;318;p41"/>
          <p:cNvSpPr txBox="1">
            <a:spLocks noGrp="1"/>
          </p:cNvSpPr>
          <p:nvPr>
            <p:ph type="title"/>
          </p:nvPr>
        </p:nvSpPr>
        <p:spPr>
          <a:xfrm>
            <a:off x="1213444" y="1517103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9" name="Google Shape;319;p41"/>
          <p:cNvSpPr txBox="1">
            <a:spLocks noGrp="1"/>
          </p:cNvSpPr>
          <p:nvPr>
            <p:ph type="title" idx="2"/>
          </p:nvPr>
        </p:nvSpPr>
        <p:spPr>
          <a:xfrm>
            <a:off x="4621844" y="1517103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0" name="Google Shape;320;p41"/>
          <p:cNvSpPr txBox="1">
            <a:spLocks noGrp="1"/>
          </p:cNvSpPr>
          <p:nvPr>
            <p:ph type="title" idx="4"/>
          </p:nvPr>
        </p:nvSpPr>
        <p:spPr>
          <a:xfrm>
            <a:off x="1213444" y="3233325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21" name="Google Shape;321;p41"/>
          <p:cNvSpPr txBox="1">
            <a:spLocks noGrp="1"/>
          </p:cNvSpPr>
          <p:nvPr>
            <p:ph type="title" idx="6"/>
          </p:nvPr>
        </p:nvSpPr>
        <p:spPr>
          <a:xfrm>
            <a:off x="4621844" y="3233325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322" name="Google Shape;322;p41"/>
          <p:cNvGrpSpPr/>
          <p:nvPr/>
        </p:nvGrpSpPr>
        <p:grpSpPr>
          <a:xfrm>
            <a:off x="8220912" y="534815"/>
            <a:ext cx="683088" cy="1303597"/>
            <a:chOff x="8632600" y="4089800"/>
            <a:chExt cx="271800" cy="518700"/>
          </a:xfrm>
        </p:grpSpPr>
        <p:sp>
          <p:nvSpPr>
            <p:cNvPr id="323" name="Google Shape;323;p41"/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1"/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75DEF2-2E65-24A8-45A8-55DBFD75EAD3}"/>
              </a:ext>
            </a:extLst>
          </p:cNvPr>
          <p:cNvSpPr txBox="1"/>
          <p:nvPr/>
        </p:nvSpPr>
        <p:spPr>
          <a:xfrm>
            <a:off x="7833007" y="4622671"/>
            <a:ext cx="11819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Gompers et al. (2020)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F0CF2-747D-C7AF-C56C-C8BF33B623C1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5"/>
          <p:cNvSpPr txBox="1">
            <a:spLocks noGrp="1"/>
          </p:cNvSpPr>
          <p:nvPr>
            <p:ph type="subTitle" idx="1"/>
          </p:nvPr>
        </p:nvSpPr>
        <p:spPr>
          <a:xfrm>
            <a:off x="817793" y="1564968"/>
            <a:ext cx="4289463" cy="5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GB" sz="2400" b="1" dirty="0">
                <a:solidFill>
                  <a:schemeClr val="dk1"/>
                </a:solidFill>
                <a:highlight>
                  <a:srgbClr val="808080"/>
                </a:highlight>
                <a:latin typeface="Syne"/>
                <a:ea typeface="Syne"/>
                <a:cs typeface="Syne"/>
                <a:sym typeface="Syne"/>
              </a:rPr>
              <a:t>Data-Driven Decisions</a:t>
            </a:r>
          </a:p>
        </p:txBody>
      </p:sp>
      <p:sp>
        <p:nvSpPr>
          <p:cNvPr id="472" name="Google Shape;472;p45"/>
          <p:cNvSpPr txBox="1">
            <a:spLocks noGrp="1"/>
          </p:cNvSpPr>
          <p:nvPr>
            <p:ph type="subTitle" idx="2"/>
          </p:nvPr>
        </p:nvSpPr>
        <p:spPr>
          <a:xfrm>
            <a:off x="3952838" y="3217850"/>
            <a:ext cx="3540000" cy="5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GB" sz="2400" b="1" dirty="0">
                <a:solidFill>
                  <a:schemeClr val="dk1"/>
                </a:solidFill>
                <a:highlight>
                  <a:srgbClr val="808080"/>
                </a:highlight>
                <a:latin typeface="Syne"/>
                <a:ea typeface="Syne"/>
                <a:cs typeface="Syne"/>
                <a:sym typeface="Syne"/>
              </a:rPr>
              <a:t>Predictive Insight</a:t>
            </a:r>
          </a:p>
        </p:txBody>
      </p:sp>
      <p:sp>
        <p:nvSpPr>
          <p:cNvPr id="473" name="Google Shape;473;p45"/>
          <p:cNvSpPr txBox="1">
            <a:spLocks noGrp="1"/>
          </p:cNvSpPr>
          <p:nvPr>
            <p:ph type="subTitle" idx="3"/>
          </p:nvPr>
        </p:nvSpPr>
        <p:spPr>
          <a:xfrm>
            <a:off x="817792" y="2010669"/>
            <a:ext cx="4289463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/>
              <a:t>Data-driven approaches enhance VC decision-making</a:t>
            </a:r>
            <a:r>
              <a:rPr lang="en-GB" sz="1200" dirty="0"/>
              <a:t> by revealing objective patterns in past investments, reducing bias, and helping allocate capital more effectively</a:t>
            </a:r>
            <a:endParaRPr sz="1200" dirty="0"/>
          </a:p>
        </p:txBody>
      </p:sp>
      <p:sp>
        <p:nvSpPr>
          <p:cNvPr id="474" name="Google Shape;474;p45"/>
          <p:cNvSpPr txBox="1">
            <a:spLocks noGrp="1"/>
          </p:cNvSpPr>
          <p:nvPr>
            <p:ph type="subTitle" idx="4"/>
          </p:nvPr>
        </p:nvSpPr>
        <p:spPr>
          <a:xfrm>
            <a:off x="3952838" y="3666425"/>
            <a:ext cx="35400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/>
              <a:t>Predictive analytics </a:t>
            </a:r>
            <a:r>
              <a:rPr lang="en-GB" sz="1200" b="1"/>
              <a:t>complements intuition</a:t>
            </a:r>
            <a:r>
              <a:rPr lang="en-US" sz="1200"/>
              <a:t> by using data patterns to validate instincts and highlight risks: Logistic Regression reached ~71% and Random Forest ~70% test accuracy</a:t>
            </a:r>
            <a:endParaRPr sz="1200" dirty="0"/>
          </a:p>
        </p:txBody>
      </p:sp>
      <p:sp>
        <p:nvSpPr>
          <p:cNvPr id="475" name="Google Shape;475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 </a:t>
            </a:r>
            <a:r>
              <a:rPr lang="en" dirty="0">
                <a:highlight>
                  <a:schemeClr val="dk2"/>
                </a:highlight>
              </a:rPr>
              <a:t>Conclusion</a:t>
            </a:r>
            <a:endParaRPr dirty="0">
              <a:highlight>
                <a:schemeClr val="dk2"/>
              </a:highlight>
            </a:endParaRPr>
          </a:p>
        </p:txBody>
      </p:sp>
      <p:grpSp>
        <p:nvGrpSpPr>
          <p:cNvPr id="476" name="Google Shape;476;p45"/>
          <p:cNvGrpSpPr/>
          <p:nvPr/>
        </p:nvGrpSpPr>
        <p:grpSpPr>
          <a:xfrm rot="5400000">
            <a:off x="1711550" y="2350183"/>
            <a:ext cx="1035600" cy="3028500"/>
            <a:chOff x="197300" y="2632101"/>
            <a:chExt cx="1035600" cy="3028500"/>
          </a:xfrm>
        </p:grpSpPr>
        <p:sp>
          <p:nvSpPr>
            <p:cNvPr id="477" name="Google Shape;477;p45"/>
            <p:cNvSpPr/>
            <p:nvPr/>
          </p:nvSpPr>
          <p:spPr>
            <a:xfrm rot="-5400000" flipH="1">
              <a:off x="-799150" y="3628551"/>
              <a:ext cx="3028500" cy="10356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5"/>
            <p:cNvSpPr/>
            <p:nvPr/>
          </p:nvSpPr>
          <p:spPr>
            <a:xfrm rot="-5400000" flipH="1">
              <a:off x="330946" y="2786440"/>
              <a:ext cx="767997" cy="76796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45"/>
          <p:cNvGrpSpPr/>
          <p:nvPr/>
        </p:nvGrpSpPr>
        <p:grpSpPr>
          <a:xfrm rot="-5400000" flipH="1">
            <a:off x="6396850" y="653702"/>
            <a:ext cx="1035600" cy="3028500"/>
            <a:chOff x="197300" y="2632101"/>
            <a:chExt cx="1035600" cy="3028500"/>
          </a:xfrm>
        </p:grpSpPr>
        <p:sp>
          <p:nvSpPr>
            <p:cNvPr id="480" name="Google Shape;480;p45"/>
            <p:cNvSpPr/>
            <p:nvPr/>
          </p:nvSpPr>
          <p:spPr>
            <a:xfrm rot="-5400000" flipH="1">
              <a:off x="-799150" y="3628551"/>
              <a:ext cx="3028500" cy="1035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5"/>
            <p:cNvSpPr/>
            <p:nvPr/>
          </p:nvSpPr>
          <p:spPr>
            <a:xfrm rot="-5400000" flipH="1">
              <a:off x="330946" y="2786440"/>
              <a:ext cx="767997" cy="76796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" name="Google Shape;482;p45"/>
          <p:cNvGrpSpPr/>
          <p:nvPr/>
        </p:nvGrpSpPr>
        <p:grpSpPr>
          <a:xfrm>
            <a:off x="1102786" y="2898901"/>
            <a:ext cx="783886" cy="939721"/>
            <a:chOff x="2524042" y="4261759"/>
            <a:chExt cx="383694" cy="459971"/>
          </a:xfrm>
        </p:grpSpPr>
        <p:sp>
          <p:nvSpPr>
            <p:cNvPr id="483" name="Google Shape;483;p45"/>
            <p:cNvSpPr/>
            <p:nvPr/>
          </p:nvSpPr>
          <p:spPr>
            <a:xfrm>
              <a:off x="2565159" y="4384053"/>
              <a:ext cx="301140" cy="337677"/>
            </a:xfrm>
            <a:custGeom>
              <a:avLst/>
              <a:gdLst/>
              <a:ahLst/>
              <a:cxnLst/>
              <a:rect l="l" t="t" r="r" b="b"/>
              <a:pathLst>
                <a:path w="9404" h="10545" extrusionOk="0">
                  <a:moveTo>
                    <a:pt x="3346" y="1775"/>
                  </a:moveTo>
                  <a:lnTo>
                    <a:pt x="3346" y="1775"/>
                  </a:lnTo>
                  <a:cubicBezTo>
                    <a:pt x="3141" y="1989"/>
                    <a:pt x="2954" y="2257"/>
                    <a:pt x="2784" y="2560"/>
                  </a:cubicBezTo>
                  <a:cubicBezTo>
                    <a:pt x="2615" y="2882"/>
                    <a:pt x="2472" y="3229"/>
                    <a:pt x="2356" y="3604"/>
                  </a:cubicBezTo>
                  <a:lnTo>
                    <a:pt x="1054" y="3604"/>
                  </a:lnTo>
                  <a:cubicBezTo>
                    <a:pt x="1571" y="2757"/>
                    <a:pt x="2383" y="2096"/>
                    <a:pt x="3346" y="1775"/>
                  </a:cubicBezTo>
                  <a:close/>
                  <a:moveTo>
                    <a:pt x="4497" y="1579"/>
                  </a:moveTo>
                  <a:lnTo>
                    <a:pt x="4497" y="3604"/>
                  </a:lnTo>
                  <a:lnTo>
                    <a:pt x="2802" y="3604"/>
                  </a:lnTo>
                  <a:cubicBezTo>
                    <a:pt x="2900" y="3301"/>
                    <a:pt x="3016" y="3024"/>
                    <a:pt x="3159" y="2766"/>
                  </a:cubicBezTo>
                  <a:cubicBezTo>
                    <a:pt x="3525" y="2079"/>
                    <a:pt x="3998" y="1668"/>
                    <a:pt x="4497" y="1579"/>
                  </a:cubicBezTo>
                  <a:close/>
                  <a:moveTo>
                    <a:pt x="4916" y="1579"/>
                  </a:moveTo>
                  <a:cubicBezTo>
                    <a:pt x="5416" y="1668"/>
                    <a:pt x="5880" y="2079"/>
                    <a:pt x="6255" y="2766"/>
                  </a:cubicBezTo>
                  <a:cubicBezTo>
                    <a:pt x="6388" y="3024"/>
                    <a:pt x="6513" y="3301"/>
                    <a:pt x="6611" y="3604"/>
                  </a:cubicBezTo>
                  <a:lnTo>
                    <a:pt x="4916" y="3604"/>
                  </a:lnTo>
                  <a:lnTo>
                    <a:pt x="4916" y="1579"/>
                  </a:lnTo>
                  <a:close/>
                  <a:moveTo>
                    <a:pt x="6058" y="1775"/>
                  </a:moveTo>
                  <a:lnTo>
                    <a:pt x="6058" y="1775"/>
                  </a:lnTo>
                  <a:cubicBezTo>
                    <a:pt x="7022" y="2096"/>
                    <a:pt x="7834" y="2757"/>
                    <a:pt x="8360" y="3604"/>
                  </a:cubicBezTo>
                  <a:lnTo>
                    <a:pt x="7049" y="3604"/>
                  </a:lnTo>
                  <a:cubicBezTo>
                    <a:pt x="6942" y="3229"/>
                    <a:pt x="6790" y="2882"/>
                    <a:pt x="6620" y="2560"/>
                  </a:cubicBezTo>
                  <a:cubicBezTo>
                    <a:pt x="6451" y="2257"/>
                    <a:pt x="6264" y="1989"/>
                    <a:pt x="6058" y="1775"/>
                  </a:cubicBezTo>
                  <a:close/>
                  <a:moveTo>
                    <a:pt x="2249" y="4032"/>
                  </a:moveTo>
                  <a:cubicBezTo>
                    <a:pt x="2124" y="4532"/>
                    <a:pt x="2062" y="5076"/>
                    <a:pt x="2044" y="5629"/>
                  </a:cubicBezTo>
                  <a:lnTo>
                    <a:pt x="429" y="5629"/>
                  </a:lnTo>
                  <a:cubicBezTo>
                    <a:pt x="456" y="5058"/>
                    <a:pt x="599" y="4523"/>
                    <a:pt x="822" y="4032"/>
                  </a:cubicBezTo>
                  <a:close/>
                  <a:moveTo>
                    <a:pt x="4497" y="4032"/>
                  </a:moveTo>
                  <a:lnTo>
                    <a:pt x="4497" y="5629"/>
                  </a:lnTo>
                  <a:lnTo>
                    <a:pt x="2472" y="5629"/>
                  </a:lnTo>
                  <a:cubicBezTo>
                    <a:pt x="2481" y="5067"/>
                    <a:pt x="2552" y="4523"/>
                    <a:pt x="2677" y="4032"/>
                  </a:cubicBezTo>
                  <a:close/>
                  <a:moveTo>
                    <a:pt x="6727" y="4032"/>
                  </a:moveTo>
                  <a:cubicBezTo>
                    <a:pt x="6852" y="4523"/>
                    <a:pt x="6924" y="5067"/>
                    <a:pt x="6942" y="5629"/>
                  </a:cubicBezTo>
                  <a:lnTo>
                    <a:pt x="4916" y="5629"/>
                  </a:lnTo>
                  <a:lnTo>
                    <a:pt x="4916" y="4032"/>
                  </a:lnTo>
                  <a:close/>
                  <a:moveTo>
                    <a:pt x="8583" y="4032"/>
                  </a:moveTo>
                  <a:cubicBezTo>
                    <a:pt x="8815" y="4523"/>
                    <a:pt x="8949" y="5058"/>
                    <a:pt x="8984" y="5629"/>
                  </a:cubicBezTo>
                  <a:lnTo>
                    <a:pt x="7361" y="5629"/>
                  </a:lnTo>
                  <a:cubicBezTo>
                    <a:pt x="7352" y="5076"/>
                    <a:pt x="7281" y="4532"/>
                    <a:pt x="7165" y="4032"/>
                  </a:cubicBezTo>
                  <a:close/>
                  <a:moveTo>
                    <a:pt x="2044" y="6048"/>
                  </a:moveTo>
                  <a:cubicBezTo>
                    <a:pt x="2062" y="6611"/>
                    <a:pt x="2124" y="7146"/>
                    <a:pt x="2249" y="7654"/>
                  </a:cubicBezTo>
                  <a:lnTo>
                    <a:pt x="822" y="7654"/>
                  </a:lnTo>
                  <a:cubicBezTo>
                    <a:pt x="599" y="7164"/>
                    <a:pt x="456" y="6619"/>
                    <a:pt x="429" y="6048"/>
                  </a:cubicBezTo>
                  <a:close/>
                  <a:moveTo>
                    <a:pt x="4497" y="6048"/>
                  </a:moveTo>
                  <a:lnTo>
                    <a:pt x="4497" y="7654"/>
                  </a:lnTo>
                  <a:lnTo>
                    <a:pt x="2677" y="7654"/>
                  </a:lnTo>
                  <a:cubicBezTo>
                    <a:pt x="2552" y="7155"/>
                    <a:pt x="2481" y="6611"/>
                    <a:pt x="2472" y="6048"/>
                  </a:cubicBezTo>
                  <a:close/>
                  <a:moveTo>
                    <a:pt x="6942" y="6048"/>
                  </a:moveTo>
                  <a:cubicBezTo>
                    <a:pt x="6924" y="6611"/>
                    <a:pt x="6852" y="7155"/>
                    <a:pt x="6727" y="7654"/>
                  </a:cubicBezTo>
                  <a:lnTo>
                    <a:pt x="4916" y="7654"/>
                  </a:lnTo>
                  <a:lnTo>
                    <a:pt x="4916" y="6048"/>
                  </a:lnTo>
                  <a:close/>
                  <a:moveTo>
                    <a:pt x="8984" y="6048"/>
                  </a:moveTo>
                  <a:cubicBezTo>
                    <a:pt x="8949" y="6619"/>
                    <a:pt x="8815" y="7164"/>
                    <a:pt x="8583" y="7654"/>
                  </a:cubicBezTo>
                  <a:lnTo>
                    <a:pt x="7165" y="7654"/>
                  </a:lnTo>
                  <a:cubicBezTo>
                    <a:pt x="7281" y="7146"/>
                    <a:pt x="7352" y="6611"/>
                    <a:pt x="7361" y="6048"/>
                  </a:cubicBezTo>
                  <a:close/>
                  <a:moveTo>
                    <a:pt x="2356" y="8074"/>
                  </a:moveTo>
                  <a:cubicBezTo>
                    <a:pt x="2472" y="8448"/>
                    <a:pt x="2615" y="8805"/>
                    <a:pt x="2784" y="9117"/>
                  </a:cubicBezTo>
                  <a:cubicBezTo>
                    <a:pt x="2954" y="9430"/>
                    <a:pt x="3141" y="9688"/>
                    <a:pt x="3346" y="9902"/>
                  </a:cubicBezTo>
                  <a:cubicBezTo>
                    <a:pt x="2383" y="9581"/>
                    <a:pt x="1571" y="8921"/>
                    <a:pt x="1054" y="8074"/>
                  </a:cubicBezTo>
                  <a:close/>
                  <a:moveTo>
                    <a:pt x="8360" y="8074"/>
                  </a:moveTo>
                  <a:cubicBezTo>
                    <a:pt x="7834" y="8921"/>
                    <a:pt x="7022" y="9581"/>
                    <a:pt x="6058" y="9902"/>
                  </a:cubicBezTo>
                  <a:cubicBezTo>
                    <a:pt x="6264" y="9688"/>
                    <a:pt x="6451" y="9430"/>
                    <a:pt x="6620" y="9117"/>
                  </a:cubicBezTo>
                  <a:cubicBezTo>
                    <a:pt x="6790" y="8805"/>
                    <a:pt x="6942" y="8448"/>
                    <a:pt x="7049" y="8074"/>
                  </a:cubicBezTo>
                  <a:close/>
                  <a:moveTo>
                    <a:pt x="4497" y="8074"/>
                  </a:moveTo>
                  <a:lnTo>
                    <a:pt x="4497" y="10099"/>
                  </a:lnTo>
                  <a:cubicBezTo>
                    <a:pt x="3998" y="10009"/>
                    <a:pt x="3525" y="9599"/>
                    <a:pt x="3159" y="8912"/>
                  </a:cubicBezTo>
                  <a:cubicBezTo>
                    <a:pt x="3016" y="8662"/>
                    <a:pt x="2900" y="8377"/>
                    <a:pt x="2802" y="8074"/>
                  </a:cubicBezTo>
                  <a:close/>
                  <a:moveTo>
                    <a:pt x="6611" y="8074"/>
                  </a:moveTo>
                  <a:cubicBezTo>
                    <a:pt x="6513" y="8377"/>
                    <a:pt x="6388" y="8662"/>
                    <a:pt x="6255" y="8912"/>
                  </a:cubicBezTo>
                  <a:cubicBezTo>
                    <a:pt x="5880" y="9599"/>
                    <a:pt x="5416" y="10009"/>
                    <a:pt x="4916" y="10099"/>
                  </a:cubicBezTo>
                  <a:lnTo>
                    <a:pt x="4916" y="8074"/>
                  </a:lnTo>
                  <a:close/>
                  <a:moveTo>
                    <a:pt x="4497" y="0"/>
                  </a:moveTo>
                  <a:lnTo>
                    <a:pt x="4497" y="1142"/>
                  </a:lnTo>
                  <a:cubicBezTo>
                    <a:pt x="1999" y="1249"/>
                    <a:pt x="1" y="3319"/>
                    <a:pt x="1" y="5843"/>
                  </a:cubicBezTo>
                  <a:cubicBezTo>
                    <a:pt x="1" y="8430"/>
                    <a:pt x="2115" y="10545"/>
                    <a:pt x="4702" y="10545"/>
                  </a:cubicBezTo>
                  <a:cubicBezTo>
                    <a:pt x="7298" y="10545"/>
                    <a:pt x="9404" y="8430"/>
                    <a:pt x="9404" y="5843"/>
                  </a:cubicBezTo>
                  <a:cubicBezTo>
                    <a:pt x="9404" y="3319"/>
                    <a:pt x="7414" y="1249"/>
                    <a:pt x="4916" y="1142"/>
                  </a:cubicBezTo>
                  <a:lnTo>
                    <a:pt x="49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5"/>
            <p:cNvSpPr/>
            <p:nvPr/>
          </p:nvSpPr>
          <p:spPr>
            <a:xfrm>
              <a:off x="2665454" y="459316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5"/>
            <p:cNvSpPr/>
            <p:nvPr/>
          </p:nvSpPr>
          <p:spPr>
            <a:xfrm>
              <a:off x="2816568" y="4528314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5"/>
            <p:cNvSpPr/>
            <p:nvPr/>
          </p:nvSpPr>
          <p:spPr>
            <a:xfrm>
              <a:off x="2600608" y="4593160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5"/>
            <p:cNvSpPr/>
            <p:nvPr/>
          </p:nvSpPr>
          <p:spPr>
            <a:xfrm>
              <a:off x="2658313" y="4348059"/>
              <a:ext cx="115153" cy="36025"/>
            </a:xfrm>
            <a:custGeom>
              <a:avLst/>
              <a:gdLst/>
              <a:ahLst/>
              <a:cxnLst/>
              <a:rect l="l" t="t" r="r" b="b"/>
              <a:pathLst>
                <a:path w="3596" h="1125" extrusionOk="0">
                  <a:moveTo>
                    <a:pt x="0" y="0"/>
                  </a:moveTo>
                  <a:lnTo>
                    <a:pt x="0" y="455"/>
                  </a:lnTo>
                  <a:cubicBezTo>
                    <a:pt x="0" y="821"/>
                    <a:pt x="304" y="1124"/>
                    <a:pt x="669" y="1124"/>
                  </a:cubicBezTo>
                  <a:lnTo>
                    <a:pt x="2917" y="1124"/>
                  </a:lnTo>
                  <a:cubicBezTo>
                    <a:pt x="3292" y="1124"/>
                    <a:pt x="3595" y="821"/>
                    <a:pt x="3595" y="455"/>
                  </a:cubicBezTo>
                  <a:lnTo>
                    <a:pt x="3595" y="0"/>
                  </a:lnTo>
                  <a:lnTo>
                    <a:pt x="2471" y="0"/>
                  </a:lnTo>
                  <a:cubicBezTo>
                    <a:pt x="2097" y="0"/>
                    <a:pt x="1793" y="303"/>
                    <a:pt x="1793" y="678"/>
                  </a:cubicBezTo>
                  <a:cubicBezTo>
                    <a:pt x="1793" y="303"/>
                    <a:pt x="1490" y="0"/>
                    <a:pt x="1124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5"/>
            <p:cNvSpPr/>
            <p:nvPr/>
          </p:nvSpPr>
          <p:spPr>
            <a:xfrm>
              <a:off x="2550877" y="4477462"/>
              <a:ext cx="13481" cy="14602"/>
            </a:xfrm>
            <a:custGeom>
              <a:avLst/>
              <a:gdLst/>
              <a:ahLst/>
              <a:cxnLst/>
              <a:rect l="l" t="t" r="r" b="b"/>
              <a:pathLst>
                <a:path w="421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5"/>
            <p:cNvSpPr/>
            <p:nvPr/>
          </p:nvSpPr>
          <p:spPr>
            <a:xfrm>
              <a:off x="2550877" y="4448898"/>
              <a:ext cx="13481" cy="14314"/>
            </a:xfrm>
            <a:custGeom>
              <a:avLst/>
              <a:gdLst/>
              <a:ahLst/>
              <a:cxnLst/>
              <a:rect l="l" t="t" r="r" b="b"/>
              <a:pathLst>
                <a:path w="421" h="447" extrusionOk="0">
                  <a:moveTo>
                    <a:pt x="1" y="0"/>
                  </a:moveTo>
                  <a:lnTo>
                    <a:pt x="1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5"/>
            <p:cNvSpPr/>
            <p:nvPr/>
          </p:nvSpPr>
          <p:spPr>
            <a:xfrm>
              <a:off x="2694306" y="4261759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4" y="1"/>
                  </a:moveTo>
                  <a:lnTo>
                    <a:pt x="464" y="242"/>
                  </a:lnTo>
                  <a:lnTo>
                    <a:pt x="9" y="242"/>
                  </a:lnTo>
                  <a:lnTo>
                    <a:pt x="9" y="1339"/>
                  </a:lnTo>
                  <a:lnTo>
                    <a:pt x="910" y="1339"/>
                  </a:lnTo>
                  <a:lnTo>
                    <a:pt x="910" y="1589"/>
                  </a:lnTo>
                  <a:lnTo>
                    <a:pt x="0" y="1589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9"/>
                  </a:lnTo>
                  <a:lnTo>
                    <a:pt x="883" y="2249"/>
                  </a:lnTo>
                  <a:lnTo>
                    <a:pt x="883" y="2008"/>
                  </a:lnTo>
                  <a:lnTo>
                    <a:pt x="1329" y="2008"/>
                  </a:lnTo>
                  <a:lnTo>
                    <a:pt x="1329" y="911"/>
                  </a:lnTo>
                  <a:lnTo>
                    <a:pt x="437" y="911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42"/>
                  </a:lnTo>
                  <a:lnTo>
                    <a:pt x="883" y="242"/>
                  </a:lnTo>
                  <a:lnTo>
                    <a:pt x="8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5"/>
            <p:cNvSpPr/>
            <p:nvPr/>
          </p:nvSpPr>
          <p:spPr>
            <a:xfrm>
              <a:off x="2524042" y="4345754"/>
              <a:ext cx="67151" cy="88606"/>
            </a:xfrm>
            <a:custGeom>
              <a:avLst/>
              <a:gdLst/>
              <a:ahLst/>
              <a:cxnLst/>
              <a:rect l="l" t="t" r="r" b="b"/>
              <a:pathLst>
                <a:path w="2097" h="2767" extrusionOk="0">
                  <a:moveTo>
                    <a:pt x="1044" y="1"/>
                  </a:moveTo>
                  <a:lnTo>
                    <a:pt x="0" y="1044"/>
                  </a:lnTo>
                  <a:lnTo>
                    <a:pt x="295" y="1348"/>
                  </a:lnTo>
                  <a:lnTo>
                    <a:pt x="839" y="804"/>
                  </a:lnTo>
                  <a:lnTo>
                    <a:pt x="839" y="2766"/>
                  </a:lnTo>
                  <a:lnTo>
                    <a:pt x="1258" y="2766"/>
                  </a:lnTo>
                  <a:lnTo>
                    <a:pt x="1258" y="804"/>
                  </a:lnTo>
                  <a:lnTo>
                    <a:pt x="1793" y="1348"/>
                  </a:lnTo>
                  <a:lnTo>
                    <a:pt x="2097" y="1044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5"/>
            <p:cNvSpPr/>
            <p:nvPr/>
          </p:nvSpPr>
          <p:spPr>
            <a:xfrm>
              <a:off x="2840553" y="4338613"/>
              <a:ext cx="67183" cy="88606"/>
            </a:xfrm>
            <a:custGeom>
              <a:avLst/>
              <a:gdLst/>
              <a:ahLst/>
              <a:cxnLst/>
              <a:rect l="l" t="t" r="r" b="b"/>
              <a:pathLst>
                <a:path w="2098" h="2767" extrusionOk="0">
                  <a:moveTo>
                    <a:pt x="1045" y="1"/>
                  </a:moveTo>
                  <a:lnTo>
                    <a:pt x="1" y="1044"/>
                  </a:lnTo>
                  <a:lnTo>
                    <a:pt x="295" y="1348"/>
                  </a:lnTo>
                  <a:lnTo>
                    <a:pt x="839" y="804"/>
                  </a:lnTo>
                  <a:lnTo>
                    <a:pt x="839" y="2766"/>
                  </a:lnTo>
                  <a:lnTo>
                    <a:pt x="1259" y="2766"/>
                  </a:lnTo>
                  <a:lnTo>
                    <a:pt x="1259" y="804"/>
                  </a:lnTo>
                  <a:lnTo>
                    <a:pt x="1794" y="1348"/>
                  </a:lnTo>
                  <a:lnTo>
                    <a:pt x="2097" y="1044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5"/>
            <p:cNvSpPr/>
            <p:nvPr/>
          </p:nvSpPr>
          <p:spPr>
            <a:xfrm>
              <a:off x="2867420" y="4477462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0"/>
                  </a:moveTo>
                  <a:lnTo>
                    <a:pt x="0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5"/>
            <p:cNvSpPr/>
            <p:nvPr/>
          </p:nvSpPr>
          <p:spPr>
            <a:xfrm>
              <a:off x="2867420" y="4448898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0"/>
                  </a:moveTo>
                  <a:lnTo>
                    <a:pt x="0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45"/>
          <p:cNvGrpSpPr/>
          <p:nvPr/>
        </p:nvGrpSpPr>
        <p:grpSpPr>
          <a:xfrm>
            <a:off x="7307621" y="1194263"/>
            <a:ext cx="733585" cy="939730"/>
            <a:chOff x="5669580" y="3309057"/>
            <a:chExt cx="358844" cy="459683"/>
          </a:xfrm>
        </p:grpSpPr>
        <p:sp>
          <p:nvSpPr>
            <p:cNvPr id="496" name="Google Shape;496;p45"/>
            <p:cNvSpPr/>
            <p:nvPr/>
          </p:nvSpPr>
          <p:spPr>
            <a:xfrm>
              <a:off x="5935848" y="3575004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20" y="447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5"/>
            <p:cNvSpPr/>
            <p:nvPr/>
          </p:nvSpPr>
          <p:spPr>
            <a:xfrm>
              <a:off x="5841862" y="3679013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6" y="41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5"/>
            <p:cNvSpPr/>
            <p:nvPr/>
          </p:nvSpPr>
          <p:spPr>
            <a:xfrm>
              <a:off x="5870426" y="3679013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55" y="419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5"/>
            <p:cNvSpPr/>
            <p:nvPr/>
          </p:nvSpPr>
          <p:spPr>
            <a:xfrm>
              <a:off x="5813009" y="3679013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6" y="41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5"/>
            <p:cNvSpPr/>
            <p:nvPr/>
          </p:nvSpPr>
          <p:spPr>
            <a:xfrm>
              <a:off x="5978982" y="330905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0"/>
                  </a:moveTo>
                  <a:lnTo>
                    <a:pt x="0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5"/>
            <p:cNvSpPr/>
            <p:nvPr/>
          </p:nvSpPr>
          <p:spPr>
            <a:xfrm>
              <a:off x="5978982" y="333762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0"/>
                  </a:moveTo>
                  <a:lnTo>
                    <a:pt x="0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5"/>
            <p:cNvSpPr/>
            <p:nvPr/>
          </p:nvSpPr>
          <p:spPr>
            <a:xfrm>
              <a:off x="5952115" y="3373615"/>
              <a:ext cx="67183" cy="88574"/>
            </a:xfrm>
            <a:custGeom>
              <a:avLst/>
              <a:gdLst/>
              <a:ahLst/>
              <a:cxnLst/>
              <a:rect l="l" t="t" r="r" b="b"/>
              <a:pathLst>
                <a:path w="2098" h="2766" extrusionOk="0">
                  <a:moveTo>
                    <a:pt x="839" y="1"/>
                  </a:moveTo>
                  <a:lnTo>
                    <a:pt x="839" y="1963"/>
                  </a:lnTo>
                  <a:lnTo>
                    <a:pt x="295" y="1428"/>
                  </a:lnTo>
                  <a:lnTo>
                    <a:pt x="1" y="1722"/>
                  </a:lnTo>
                  <a:lnTo>
                    <a:pt x="1045" y="2766"/>
                  </a:lnTo>
                  <a:lnTo>
                    <a:pt x="2097" y="1722"/>
                  </a:lnTo>
                  <a:lnTo>
                    <a:pt x="1794" y="1428"/>
                  </a:lnTo>
                  <a:lnTo>
                    <a:pt x="1259" y="1963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5"/>
            <p:cNvSpPr/>
            <p:nvPr/>
          </p:nvSpPr>
          <p:spPr>
            <a:xfrm>
              <a:off x="5678739" y="3373615"/>
              <a:ext cx="67151" cy="88862"/>
            </a:xfrm>
            <a:custGeom>
              <a:avLst/>
              <a:gdLst/>
              <a:ahLst/>
              <a:cxnLst/>
              <a:rect l="l" t="t" r="r" b="b"/>
              <a:pathLst>
                <a:path w="2097" h="2775" extrusionOk="0">
                  <a:moveTo>
                    <a:pt x="839" y="1"/>
                  </a:moveTo>
                  <a:lnTo>
                    <a:pt x="839" y="1963"/>
                  </a:lnTo>
                  <a:lnTo>
                    <a:pt x="295" y="1428"/>
                  </a:lnTo>
                  <a:lnTo>
                    <a:pt x="0" y="1722"/>
                  </a:lnTo>
                  <a:lnTo>
                    <a:pt x="1044" y="2775"/>
                  </a:lnTo>
                  <a:lnTo>
                    <a:pt x="2097" y="1722"/>
                  </a:lnTo>
                  <a:lnTo>
                    <a:pt x="1802" y="1428"/>
                  </a:lnTo>
                  <a:lnTo>
                    <a:pt x="1258" y="1963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5"/>
            <p:cNvSpPr/>
            <p:nvPr/>
          </p:nvSpPr>
          <p:spPr>
            <a:xfrm>
              <a:off x="5705574" y="3309057"/>
              <a:ext cx="13481" cy="14314"/>
            </a:xfrm>
            <a:custGeom>
              <a:avLst/>
              <a:gdLst/>
              <a:ahLst/>
              <a:cxnLst/>
              <a:rect l="l" t="t" r="r" b="b"/>
              <a:pathLst>
                <a:path w="421" h="447" extrusionOk="0">
                  <a:moveTo>
                    <a:pt x="1" y="0"/>
                  </a:moveTo>
                  <a:lnTo>
                    <a:pt x="1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5"/>
            <p:cNvSpPr/>
            <p:nvPr/>
          </p:nvSpPr>
          <p:spPr>
            <a:xfrm>
              <a:off x="5705574" y="3337621"/>
              <a:ext cx="13481" cy="14602"/>
            </a:xfrm>
            <a:custGeom>
              <a:avLst/>
              <a:gdLst/>
              <a:ahLst/>
              <a:cxnLst/>
              <a:rect l="l" t="t" r="r" b="b"/>
              <a:pathLst>
                <a:path w="421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5"/>
            <p:cNvSpPr/>
            <p:nvPr/>
          </p:nvSpPr>
          <p:spPr>
            <a:xfrm>
              <a:off x="5669580" y="3474870"/>
              <a:ext cx="358844" cy="293870"/>
            </a:xfrm>
            <a:custGeom>
              <a:avLst/>
              <a:gdLst/>
              <a:ahLst/>
              <a:cxnLst/>
              <a:rect l="l" t="t" r="r" b="b"/>
              <a:pathLst>
                <a:path w="11206" h="9177" extrusionOk="0">
                  <a:moveTo>
                    <a:pt x="8940" y="416"/>
                  </a:moveTo>
                  <a:cubicBezTo>
                    <a:pt x="9154" y="416"/>
                    <a:pt x="9368" y="487"/>
                    <a:pt x="9555" y="612"/>
                  </a:cubicBezTo>
                  <a:lnTo>
                    <a:pt x="8021" y="2146"/>
                  </a:lnTo>
                  <a:cubicBezTo>
                    <a:pt x="7735" y="1709"/>
                    <a:pt x="7780" y="1121"/>
                    <a:pt x="8155" y="746"/>
                  </a:cubicBezTo>
                  <a:cubicBezTo>
                    <a:pt x="8369" y="532"/>
                    <a:pt x="8654" y="416"/>
                    <a:pt x="8940" y="416"/>
                  </a:cubicBezTo>
                  <a:close/>
                  <a:moveTo>
                    <a:pt x="661" y="4011"/>
                  </a:moveTo>
                  <a:cubicBezTo>
                    <a:pt x="795" y="4011"/>
                    <a:pt x="902" y="4118"/>
                    <a:pt x="902" y="4252"/>
                  </a:cubicBezTo>
                  <a:cubicBezTo>
                    <a:pt x="902" y="4386"/>
                    <a:pt x="795" y="4493"/>
                    <a:pt x="661" y="4493"/>
                  </a:cubicBezTo>
                  <a:cubicBezTo>
                    <a:pt x="527" y="4493"/>
                    <a:pt x="420" y="4386"/>
                    <a:pt x="420" y="4252"/>
                  </a:cubicBezTo>
                  <a:cubicBezTo>
                    <a:pt x="420" y="4118"/>
                    <a:pt x="527" y="4011"/>
                    <a:pt x="661" y="4011"/>
                  </a:cubicBezTo>
                  <a:close/>
                  <a:moveTo>
                    <a:pt x="8940" y="1"/>
                  </a:moveTo>
                  <a:cubicBezTo>
                    <a:pt x="8550" y="1"/>
                    <a:pt x="8159" y="148"/>
                    <a:pt x="7860" y="443"/>
                  </a:cubicBezTo>
                  <a:cubicBezTo>
                    <a:pt x="7843" y="460"/>
                    <a:pt x="7825" y="478"/>
                    <a:pt x="7816" y="496"/>
                  </a:cubicBezTo>
                  <a:cubicBezTo>
                    <a:pt x="7593" y="389"/>
                    <a:pt x="7370" y="309"/>
                    <a:pt x="7147" y="228"/>
                  </a:cubicBezTo>
                  <a:lnTo>
                    <a:pt x="7022" y="639"/>
                  </a:lnTo>
                  <a:cubicBezTo>
                    <a:pt x="7209" y="692"/>
                    <a:pt x="7396" y="764"/>
                    <a:pt x="7575" y="844"/>
                  </a:cubicBezTo>
                  <a:cubicBezTo>
                    <a:pt x="7289" y="1415"/>
                    <a:pt x="7388" y="2129"/>
                    <a:pt x="7860" y="2601"/>
                  </a:cubicBezTo>
                  <a:lnTo>
                    <a:pt x="8012" y="2753"/>
                  </a:lnTo>
                  <a:lnTo>
                    <a:pt x="8922" y="1834"/>
                  </a:lnTo>
                  <a:cubicBezTo>
                    <a:pt x="9288" y="2236"/>
                    <a:pt x="9564" y="2700"/>
                    <a:pt x="9716" y="3190"/>
                  </a:cubicBezTo>
                  <a:lnTo>
                    <a:pt x="9761" y="3342"/>
                  </a:lnTo>
                  <a:lnTo>
                    <a:pt x="10778" y="3342"/>
                  </a:lnTo>
                  <a:lnTo>
                    <a:pt x="10778" y="4716"/>
                  </a:lnTo>
                  <a:lnTo>
                    <a:pt x="9859" y="4716"/>
                  </a:lnTo>
                  <a:lnTo>
                    <a:pt x="9823" y="4885"/>
                  </a:lnTo>
                  <a:cubicBezTo>
                    <a:pt x="9680" y="5688"/>
                    <a:pt x="9252" y="6411"/>
                    <a:pt x="8610" y="6982"/>
                  </a:cubicBezTo>
                  <a:lnTo>
                    <a:pt x="8538" y="7044"/>
                  </a:lnTo>
                  <a:lnTo>
                    <a:pt x="8538" y="8757"/>
                  </a:lnTo>
                  <a:lnTo>
                    <a:pt x="7156" y="8757"/>
                  </a:lnTo>
                  <a:lnTo>
                    <a:pt x="7156" y="7829"/>
                  </a:lnTo>
                  <a:lnTo>
                    <a:pt x="6888" y="7909"/>
                  </a:lnTo>
                  <a:cubicBezTo>
                    <a:pt x="6478" y="8025"/>
                    <a:pt x="6040" y="8088"/>
                    <a:pt x="5603" y="8088"/>
                  </a:cubicBezTo>
                  <a:cubicBezTo>
                    <a:pt x="5157" y="8088"/>
                    <a:pt x="4729" y="8025"/>
                    <a:pt x="4310" y="7909"/>
                  </a:cubicBezTo>
                  <a:lnTo>
                    <a:pt x="4042" y="7829"/>
                  </a:lnTo>
                  <a:lnTo>
                    <a:pt x="4042" y="8757"/>
                  </a:lnTo>
                  <a:lnTo>
                    <a:pt x="2668" y="8757"/>
                  </a:lnTo>
                  <a:lnTo>
                    <a:pt x="2668" y="7044"/>
                  </a:lnTo>
                  <a:lnTo>
                    <a:pt x="2597" y="6982"/>
                  </a:lnTo>
                  <a:cubicBezTo>
                    <a:pt x="1776" y="6259"/>
                    <a:pt x="1321" y="5287"/>
                    <a:pt x="1321" y="4252"/>
                  </a:cubicBezTo>
                  <a:cubicBezTo>
                    <a:pt x="1321" y="2628"/>
                    <a:pt x="2472" y="1174"/>
                    <a:pt x="4185" y="639"/>
                  </a:cubicBezTo>
                  <a:lnTo>
                    <a:pt x="4060" y="228"/>
                  </a:lnTo>
                  <a:cubicBezTo>
                    <a:pt x="2383" y="764"/>
                    <a:pt x="1187" y="2093"/>
                    <a:pt x="947" y="3654"/>
                  </a:cubicBezTo>
                  <a:cubicBezTo>
                    <a:pt x="857" y="3618"/>
                    <a:pt x="759" y="3592"/>
                    <a:pt x="661" y="3592"/>
                  </a:cubicBezTo>
                  <a:cubicBezTo>
                    <a:pt x="295" y="3592"/>
                    <a:pt x="1" y="3886"/>
                    <a:pt x="1" y="4252"/>
                  </a:cubicBezTo>
                  <a:cubicBezTo>
                    <a:pt x="1" y="4618"/>
                    <a:pt x="295" y="4912"/>
                    <a:pt x="661" y="4912"/>
                  </a:cubicBezTo>
                  <a:cubicBezTo>
                    <a:pt x="759" y="4912"/>
                    <a:pt x="857" y="4885"/>
                    <a:pt x="947" y="4850"/>
                  </a:cubicBezTo>
                  <a:cubicBezTo>
                    <a:pt x="1080" y="5751"/>
                    <a:pt x="1535" y="6571"/>
                    <a:pt x="2249" y="7231"/>
                  </a:cubicBezTo>
                  <a:lnTo>
                    <a:pt x="2249" y="9176"/>
                  </a:lnTo>
                  <a:lnTo>
                    <a:pt x="4461" y="9176"/>
                  </a:lnTo>
                  <a:lnTo>
                    <a:pt x="4461" y="8382"/>
                  </a:lnTo>
                  <a:cubicBezTo>
                    <a:pt x="4836" y="8463"/>
                    <a:pt x="5220" y="8507"/>
                    <a:pt x="5603" y="8507"/>
                  </a:cubicBezTo>
                  <a:cubicBezTo>
                    <a:pt x="5987" y="8507"/>
                    <a:pt x="6371" y="8463"/>
                    <a:pt x="6736" y="8382"/>
                  </a:cubicBezTo>
                  <a:lnTo>
                    <a:pt x="6736" y="9176"/>
                  </a:lnTo>
                  <a:lnTo>
                    <a:pt x="8958" y="9176"/>
                  </a:lnTo>
                  <a:lnTo>
                    <a:pt x="8958" y="7231"/>
                  </a:lnTo>
                  <a:cubicBezTo>
                    <a:pt x="9591" y="6652"/>
                    <a:pt x="10019" y="5929"/>
                    <a:pt x="10207" y="5135"/>
                  </a:cubicBezTo>
                  <a:lnTo>
                    <a:pt x="11206" y="5135"/>
                  </a:lnTo>
                  <a:lnTo>
                    <a:pt x="11206" y="2923"/>
                  </a:lnTo>
                  <a:lnTo>
                    <a:pt x="10073" y="2923"/>
                  </a:lnTo>
                  <a:cubicBezTo>
                    <a:pt x="9885" y="2414"/>
                    <a:pt x="9600" y="1950"/>
                    <a:pt x="9225" y="1540"/>
                  </a:cubicBezTo>
                  <a:lnTo>
                    <a:pt x="10171" y="594"/>
                  </a:lnTo>
                  <a:lnTo>
                    <a:pt x="10019" y="443"/>
                  </a:lnTo>
                  <a:cubicBezTo>
                    <a:pt x="9720" y="148"/>
                    <a:pt x="9330" y="1"/>
                    <a:pt x="89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5"/>
            <p:cNvSpPr/>
            <p:nvPr/>
          </p:nvSpPr>
          <p:spPr>
            <a:xfrm>
              <a:off x="5770708" y="3352768"/>
              <a:ext cx="156590" cy="156846"/>
            </a:xfrm>
            <a:custGeom>
              <a:avLst/>
              <a:gdLst/>
              <a:ahLst/>
              <a:cxnLst/>
              <a:rect l="l" t="t" r="r" b="b"/>
              <a:pathLst>
                <a:path w="4890" h="4898" extrusionOk="0">
                  <a:moveTo>
                    <a:pt x="2445" y="0"/>
                  </a:moveTo>
                  <a:cubicBezTo>
                    <a:pt x="1089" y="0"/>
                    <a:pt x="1" y="1098"/>
                    <a:pt x="1" y="2454"/>
                  </a:cubicBezTo>
                  <a:cubicBezTo>
                    <a:pt x="1" y="3801"/>
                    <a:pt x="1089" y="4898"/>
                    <a:pt x="2445" y="4898"/>
                  </a:cubicBezTo>
                  <a:cubicBezTo>
                    <a:pt x="3792" y="4898"/>
                    <a:pt x="4890" y="3801"/>
                    <a:pt x="4890" y="2454"/>
                  </a:cubicBezTo>
                  <a:cubicBezTo>
                    <a:pt x="4890" y="1098"/>
                    <a:pt x="3792" y="0"/>
                    <a:pt x="2445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5"/>
            <p:cNvSpPr/>
            <p:nvPr/>
          </p:nvSpPr>
          <p:spPr>
            <a:xfrm>
              <a:off x="5884996" y="3424466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5"/>
            <p:cNvSpPr/>
            <p:nvPr/>
          </p:nvSpPr>
          <p:spPr>
            <a:xfrm>
              <a:off x="5798727" y="3424466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5"/>
            <p:cNvSpPr/>
            <p:nvPr/>
          </p:nvSpPr>
          <p:spPr>
            <a:xfrm>
              <a:off x="5827291" y="3395326"/>
              <a:ext cx="43166" cy="71730"/>
            </a:xfrm>
            <a:custGeom>
              <a:avLst/>
              <a:gdLst/>
              <a:ahLst/>
              <a:cxnLst/>
              <a:rect l="l" t="t" r="r" b="b"/>
              <a:pathLst>
                <a:path w="1348" h="2240" extrusionOk="0">
                  <a:moveTo>
                    <a:pt x="464" y="0"/>
                  </a:moveTo>
                  <a:lnTo>
                    <a:pt x="464" y="232"/>
                  </a:lnTo>
                  <a:lnTo>
                    <a:pt x="18" y="232"/>
                  </a:lnTo>
                  <a:lnTo>
                    <a:pt x="18" y="1330"/>
                  </a:lnTo>
                  <a:lnTo>
                    <a:pt x="919" y="1330"/>
                  </a:lnTo>
                  <a:lnTo>
                    <a:pt x="919" y="1588"/>
                  </a:lnTo>
                  <a:lnTo>
                    <a:pt x="0" y="1588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0"/>
                  </a:lnTo>
                  <a:lnTo>
                    <a:pt x="884" y="2240"/>
                  </a:lnTo>
                  <a:lnTo>
                    <a:pt x="884" y="2008"/>
                  </a:lnTo>
                  <a:lnTo>
                    <a:pt x="1339" y="2008"/>
                  </a:lnTo>
                  <a:lnTo>
                    <a:pt x="1339" y="910"/>
                  </a:lnTo>
                  <a:lnTo>
                    <a:pt x="437" y="910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32"/>
                  </a:lnTo>
                  <a:lnTo>
                    <a:pt x="884" y="232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0A2DB62-436C-427C-543C-D67E76F57E83}"/>
              </a:ext>
            </a:extLst>
          </p:cNvPr>
          <p:cNvSpPr txBox="1"/>
          <p:nvPr/>
        </p:nvSpPr>
        <p:spPr>
          <a:xfrm>
            <a:off x="6448044" y="4670433"/>
            <a:ext cx="11819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Gompers et al. (2020)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A363E-FC19-6F1D-56B9-BF3499A8CA95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6"/>
          <p:cNvSpPr/>
          <p:nvPr/>
        </p:nvSpPr>
        <p:spPr>
          <a:xfrm>
            <a:off x="5990629" y="1253400"/>
            <a:ext cx="2851952" cy="389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6" name="Google Shape;516;p4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 amt="92000"/>
          </a:blip>
          <a:srcRect l="19134" r="14100"/>
          <a:stretch/>
        </p:blipFill>
        <p:spPr>
          <a:xfrm>
            <a:off x="6150324" y="1424545"/>
            <a:ext cx="2506221" cy="2525811"/>
          </a:xfrm>
          <a:prstGeom prst="ellipse">
            <a:avLst/>
          </a:prstGeom>
        </p:spPr>
      </p:pic>
      <p:sp>
        <p:nvSpPr>
          <p:cNvPr id="517" name="Google Shape;517;p46"/>
          <p:cNvSpPr txBox="1">
            <a:spLocks noGrp="1"/>
          </p:cNvSpPr>
          <p:nvPr>
            <p:ph type="title"/>
          </p:nvPr>
        </p:nvSpPr>
        <p:spPr>
          <a:xfrm>
            <a:off x="720000" y="3252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dirty="0"/>
              <a:t>Future </a:t>
            </a:r>
            <a:r>
              <a:rPr lang="en" sz="4300" dirty="0">
                <a:highlight>
                  <a:schemeClr val="dk2"/>
                </a:highlight>
              </a:rPr>
              <a:t>Work</a:t>
            </a:r>
            <a:endParaRPr sz="4300" dirty="0">
              <a:highlight>
                <a:schemeClr val="dk2"/>
              </a:highlight>
            </a:endParaRPr>
          </a:p>
        </p:txBody>
      </p:sp>
      <p:sp>
        <p:nvSpPr>
          <p:cNvPr id="518" name="Google Shape;518;p46"/>
          <p:cNvSpPr txBox="1">
            <a:spLocks noGrp="1"/>
          </p:cNvSpPr>
          <p:nvPr>
            <p:ph type="body" idx="1"/>
          </p:nvPr>
        </p:nvSpPr>
        <p:spPr>
          <a:xfrm>
            <a:off x="73109" y="1121400"/>
            <a:ext cx="5548509" cy="4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GB" sz="1500" b="1" dirty="0"/>
              <a:t>Do you know what shapes the future of VC analysis?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>
                <a:highlight>
                  <a:srgbClr val="808080"/>
                </a:highlight>
              </a:rPr>
              <a:t>Add investor-level variables</a:t>
            </a:r>
            <a:r>
              <a:rPr lang="en-GB" dirty="0"/>
              <a:t> to capture how fund experience, portfolio diversity, and network strength influence start-up outcomes</a:t>
            </a:r>
            <a:r>
              <a:rPr lang="en" dirty="0"/>
              <a:t>You can organize your ideas 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>
                <a:highlight>
                  <a:srgbClr val="808080"/>
                </a:highlight>
              </a:rPr>
              <a:t>Build an interactive “VC Signal Dashboard”</a:t>
            </a:r>
            <a:r>
              <a:rPr lang="en-GB" dirty="0">
                <a:highlight>
                  <a:srgbClr val="808080"/>
                </a:highlight>
              </a:rPr>
              <a:t> </a:t>
            </a:r>
            <a:r>
              <a:rPr lang="en-GB" dirty="0"/>
              <a:t>to visualize predictive indicators and allow real-time exploration of investment insights</a:t>
            </a:r>
            <a:r>
              <a:rPr lang="en" dirty="0"/>
              <a:t>And the most important thing: the audience won’t miss the point of your presentation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lang="en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>
                <a:highlight>
                  <a:srgbClr val="808080"/>
                </a:highlight>
              </a:rPr>
              <a:t>Include sentiment and macro trends</a:t>
            </a:r>
            <a:r>
              <a:rPr lang="en-GB" dirty="0"/>
              <a:t> to account for market confidence, funding cycles, and broader economic signals that affect venture performance.</a:t>
            </a:r>
            <a:endParaRPr lang="en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dirty="0"/>
          </a:p>
        </p:txBody>
      </p:sp>
      <p:grpSp>
        <p:nvGrpSpPr>
          <p:cNvPr id="519" name="Google Shape;519;p46"/>
          <p:cNvGrpSpPr/>
          <p:nvPr/>
        </p:nvGrpSpPr>
        <p:grpSpPr>
          <a:xfrm>
            <a:off x="5671593" y="4186031"/>
            <a:ext cx="638072" cy="572683"/>
            <a:chOff x="4836003" y="1426455"/>
            <a:chExt cx="459971" cy="412834"/>
          </a:xfrm>
        </p:grpSpPr>
        <p:sp>
          <p:nvSpPr>
            <p:cNvPr id="520" name="Google Shape;520;p46"/>
            <p:cNvSpPr/>
            <p:nvPr/>
          </p:nvSpPr>
          <p:spPr>
            <a:xfrm>
              <a:off x="4891146" y="1661019"/>
              <a:ext cx="133726" cy="178269"/>
            </a:xfrm>
            <a:custGeom>
              <a:avLst/>
              <a:gdLst/>
              <a:ahLst/>
              <a:cxnLst/>
              <a:rect l="l" t="t" r="r" b="b"/>
              <a:pathLst>
                <a:path w="4176" h="5567" extrusionOk="0">
                  <a:moveTo>
                    <a:pt x="0" y="0"/>
                  </a:moveTo>
                  <a:lnTo>
                    <a:pt x="0" y="5567"/>
                  </a:lnTo>
                  <a:lnTo>
                    <a:pt x="4175" y="5567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4915130" y="1685869"/>
              <a:ext cx="85724" cy="42302"/>
            </a:xfrm>
            <a:custGeom>
              <a:avLst/>
              <a:gdLst/>
              <a:ahLst/>
              <a:cxnLst/>
              <a:rect l="l" t="t" r="r" b="b"/>
              <a:pathLst>
                <a:path w="2677" h="1321" extrusionOk="0">
                  <a:moveTo>
                    <a:pt x="2249" y="420"/>
                  </a:moveTo>
                  <a:lnTo>
                    <a:pt x="2249" y="901"/>
                  </a:lnTo>
                  <a:lnTo>
                    <a:pt x="429" y="901"/>
                  </a:lnTo>
                  <a:lnTo>
                    <a:pt x="429" y="420"/>
                  </a:lnTo>
                  <a:close/>
                  <a:moveTo>
                    <a:pt x="0" y="0"/>
                  </a:moveTo>
                  <a:lnTo>
                    <a:pt x="0" y="1321"/>
                  </a:lnTo>
                  <a:lnTo>
                    <a:pt x="2677" y="1321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4914842" y="177213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4914842" y="1743285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4950835" y="177213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4950835" y="1743285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4986829" y="177213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4914842" y="180099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4950835" y="180099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4986829" y="180099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4986829" y="1743285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4836003" y="1426455"/>
              <a:ext cx="459971" cy="359132"/>
            </a:xfrm>
            <a:custGeom>
              <a:avLst/>
              <a:gdLst/>
              <a:ahLst/>
              <a:cxnLst/>
              <a:rect l="l" t="t" r="r" b="b"/>
              <a:pathLst>
                <a:path w="14364" h="11215" extrusionOk="0">
                  <a:moveTo>
                    <a:pt x="8993" y="429"/>
                  </a:moveTo>
                  <a:lnTo>
                    <a:pt x="8993" y="1357"/>
                  </a:lnTo>
                  <a:lnTo>
                    <a:pt x="5371" y="1357"/>
                  </a:lnTo>
                  <a:lnTo>
                    <a:pt x="5371" y="429"/>
                  </a:lnTo>
                  <a:close/>
                  <a:moveTo>
                    <a:pt x="13944" y="1776"/>
                  </a:moveTo>
                  <a:lnTo>
                    <a:pt x="13944" y="4622"/>
                  </a:lnTo>
                  <a:lnTo>
                    <a:pt x="12936" y="5621"/>
                  </a:lnTo>
                  <a:lnTo>
                    <a:pt x="11214" y="5621"/>
                  </a:lnTo>
                  <a:lnTo>
                    <a:pt x="11214" y="4952"/>
                  </a:lnTo>
                  <a:lnTo>
                    <a:pt x="9894" y="4952"/>
                  </a:lnTo>
                  <a:lnTo>
                    <a:pt x="9894" y="5621"/>
                  </a:lnTo>
                  <a:lnTo>
                    <a:pt x="4470" y="5621"/>
                  </a:lnTo>
                  <a:lnTo>
                    <a:pt x="4470" y="4952"/>
                  </a:lnTo>
                  <a:lnTo>
                    <a:pt x="3149" y="4952"/>
                  </a:lnTo>
                  <a:lnTo>
                    <a:pt x="3149" y="5621"/>
                  </a:lnTo>
                  <a:lnTo>
                    <a:pt x="1428" y="5621"/>
                  </a:lnTo>
                  <a:lnTo>
                    <a:pt x="420" y="4622"/>
                  </a:lnTo>
                  <a:lnTo>
                    <a:pt x="420" y="1776"/>
                  </a:lnTo>
                  <a:close/>
                  <a:moveTo>
                    <a:pt x="4050" y="5371"/>
                  </a:moveTo>
                  <a:lnTo>
                    <a:pt x="4050" y="6299"/>
                  </a:lnTo>
                  <a:lnTo>
                    <a:pt x="3569" y="6299"/>
                  </a:lnTo>
                  <a:lnTo>
                    <a:pt x="3569" y="5371"/>
                  </a:lnTo>
                  <a:close/>
                  <a:moveTo>
                    <a:pt x="10795" y="5371"/>
                  </a:moveTo>
                  <a:lnTo>
                    <a:pt x="10795" y="6299"/>
                  </a:lnTo>
                  <a:lnTo>
                    <a:pt x="10313" y="6299"/>
                  </a:lnTo>
                  <a:lnTo>
                    <a:pt x="10313" y="5371"/>
                  </a:lnTo>
                  <a:close/>
                  <a:moveTo>
                    <a:pt x="4952" y="1"/>
                  </a:moveTo>
                  <a:lnTo>
                    <a:pt x="4952" y="1357"/>
                  </a:lnTo>
                  <a:lnTo>
                    <a:pt x="3123" y="1357"/>
                  </a:lnTo>
                  <a:lnTo>
                    <a:pt x="3123" y="893"/>
                  </a:lnTo>
                  <a:lnTo>
                    <a:pt x="2703" y="893"/>
                  </a:lnTo>
                  <a:lnTo>
                    <a:pt x="2703" y="1357"/>
                  </a:lnTo>
                  <a:lnTo>
                    <a:pt x="0" y="1357"/>
                  </a:lnTo>
                  <a:lnTo>
                    <a:pt x="0" y="4800"/>
                  </a:lnTo>
                  <a:lnTo>
                    <a:pt x="455" y="5247"/>
                  </a:lnTo>
                  <a:lnTo>
                    <a:pt x="455" y="11215"/>
                  </a:lnTo>
                  <a:lnTo>
                    <a:pt x="1785" y="11215"/>
                  </a:lnTo>
                  <a:lnTo>
                    <a:pt x="1785" y="10795"/>
                  </a:lnTo>
                  <a:lnTo>
                    <a:pt x="875" y="10795"/>
                  </a:lnTo>
                  <a:lnTo>
                    <a:pt x="875" y="5675"/>
                  </a:lnTo>
                  <a:lnTo>
                    <a:pt x="1249" y="6049"/>
                  </a:lnTo>
                  <a:lnTo>
                    <a:pt x="3149" y="6049"/>
                  </a:lnTo>
                  <a:lnTo>
                    <a:pt x="3149" y="6719"/>
                  </a:lnTo>
                  <a:lnTo>
                    <a:pt x="4470" y="6719"/>
                  </a:lnTo>
                  <a:lnTo>
                    <a:pt x="4470" y="6049"/>
                  </a:lnTo>
                  <a:lnTo>
                    <a:pt x="9894" y="6049"/>
                  </a:lnTo>
                  <a:lnTo>
                    <a:pt x="9894" y="6719"/>
                  </a:lnTo>
                  <a:lnTo>
                    <a:pt x="11214" y="6719"/>
                  </a:lnTo>
                  <a:lnTo>
                    <a:pt x="11214" y="6049"/>
                  </a:lnTo>
                  <a:lnTo>
                    <a:pt x="13114" y="6049"/>
                  </a:lnTo>
                  <a:lnTo>
                    <a:pt x="13489" y="5675"/>
                  </a:lnTo>
                  <a:lnTo>
                    <a:pt x="13489" y="10795"/>
                  </a:lnTo>
                  <a:lnTo>
                    <a:pt x="5835" y="10795"/>
                  </a:lnTo>
                  <a:lnTo>
                    <a:pt x="5835" y="11215"/>
                  </a:lnTo>
                  <a:lnTo>
                    <a:pt x="13908" y="11215"/>
                  </a:lnTo>
                  <a:lnTo>
                    <a:pt x="13908" y="5247"/>
                  </a:lnTo>
                  <a:lnTo>
                    <a:pt x="14363" y="4800"/>
                  </a:lnTo>
                  <a:lnTo>
                    <a:pt x="14363" y="1357"/>
                  </a:lnTo>
                  <a:lnTo>
                    <a:pt x="11437" y="1357"/>
                  </a:lnTo>
                  <a:lnTo>
                    <a:pt x="11437" y="893"/>
                  </a:lnTo>
                  <a:lnTo>
                    <a:pt x="11018" y="893"/>
                  </a:lnTo>
                  <a:lnTo>
                    <a:pt x="11018" y="1357"/>
                  </a:lnTo>
                  <a:lnTo>
                    <a:pt x="9412" y="1357"/>
                  </a:lnTo>
                  <a:lnTo>
                    <a:pt x="9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4979688" y="1498473"/>
              <a:ext cx="172569" cy="13738"/>
            </a:xfrm>
            <a:custGeom>
              <a:avLst/>
              <a:gdLst/>
              <a:ahLst/>
              <a:cxnLst/>
              <a:rect l="l" t="t" r="r" b="b"/>
              <a:pathLst>
                <a:path w="5389" h="429" extrusionOk="0">
                  <a:moveTo>
                    <a:pt x="1" y="0"/>
                  </a:moveTo>
                  <a:lnTo>
                    <a:pt x="1" y="428"/>
                  </a:lnTo>
                  <a:lnTo>
                    <a:pt x="5389" y="428"/>
                  </a:lnTo>
                  <a:lnTo>
                    <a:pt x="53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5029963" y="1570460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47" y="42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5058815" y="1570460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47" y="42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5087668" y="1570460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47" y="42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5166795" y="1498473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47" y="42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4950835" y="1498473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47" y="42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344BA5F-1D01-72FD-7CD5-FD7330163E12}"/>
              </a:ext>
            </a:extLst>
          </p:cNvPr>
          <p:cNvSpPr txBox="1"/>
          <p:nvPr/>
        </p:nvSpPr>
        <p:spPr>
          <a:xfrm>
            <a:off x="7660595" y="4607192"/>
            <a:ext cx="11819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Gompers et al. (2020)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AF363A-D455-B65D-F9B7-B045B97D809F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61"/>
          <p:cNvGrpSpPr/>
          <p:nvPr/>
        </p:nvGrpSpPr>
        <p:grpSpPr>
          <a:xfrm>
            <a:off x="7584324" y="1661486"/>
            <a:ext cx="781859" cy="683283"/>
            <a:chOff x="7185654" y="479165"/>
            <a:chExt cx="459971" cy="401978"/>
          </a:xfrm>
        </p:grpSpPr>
        <p:sp>
          <p:nvSpPr>
            <p:cNvPr id="1206" name="Google Shape;1206;p61"/>
            <p:cNvSpPr/>
            <p:nvPr/>
          </p:nvSpPr>
          <p:spPr>
            <a:xfrm>
              <a:off x="7348776" y="483456"/>
              <a:ext cx="76886" cy="76886"/>
            </a:xfrm>
            <a:custGeom>
              <a:avLst/>
              <a:gdLst/>
              <a:ahLst/>
              <a:cxnLst/>
              <a:rect l="l" t="t" r="r" b="b"/>
              <a:pathLst>
                <a:path w="2401" h="2401" extrusionOk="0">
                  <a:moveTo>
                    <a:pt x="2401" y="1"/>
                  </a:moveTo>
                  <a:lnTo>
                    <a:pt x="1" y="2401"/>
                  </a:lnTo>
                  <a:lnTo>
                    <a:pt x="2401" y="2401"/>
                  </a:lnTo>
                  <a:lnTo>
                    <a:pt x="24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61"/>
            <p:cNvSpPr/>
            <p:nvPr/>
          </p:nvSpPr>
          <p:spPr>
            <a:xfrm>
              <a:off x="7588465" y="572607"/>
              <a:ext cx="28884" cy="13449"/>
            </a:xfrm>
            <a:custGeom>
              <a:avLst/>
              <a:gdLst/>
              <a:ahLst/>
              <a:cxnLst/>
              <a:rect l="l" t="t" r="r" b="b"/>
              <a:pathLst>
                <a:path w="902" h="420" extrusionOk="0">
                  <a:moveTo>
                    <a:pt x="1" y="0"/>
                  </a:moveTo>
                  <a:lnTo>
                    <a:pt x="1" y="419"/>
                  </a:lnTo>
                  <a:lnTo>
                    <a:pt x="902" y="419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61"/>
            <p:cNvSpPr/>
            <p:nvPr/>
          </p:nvSpPr>
          <p:spPr>
            <a:xfrm>
              <a:off x="7559901" y="543754"/>
              <a:ext cx="57448" cy="13738"/>
            </a:xfrm>
            <a:custGeom>
              <a:avLst/>
              <a:gdLst/>
              <a:ahLst/>
              <a:cxnLst/>
              <a:rect l="l" t="t" r="r" b="b"/>
              <a:pathLst>
                <a:path w="1794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794" y="428"/>
                  </a:lnTo>
                  <a:lnTo>
                    <a:pt x="17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61"/>
            <p:cNvSpPr/>
            <p:nvPr/>
          </p:nvSpPr>
          <p:spPr>
            <a:xfrm>
              <a:off x="7559901" y="515190"/>
              <a:ext cx="57448" cy="13449"/>
            </a:xfrm>
            <a:custGeom>
              <a:avLst/>
              <a:gdLst/>
              <a:ahLst/>
              <a:cxnLst/>
              <a:rect l="l" t="t" r="r" b="b"/>
              <a:pathLst>
                <a:path w="1794" h="420" extrusionOk="0">
                  <a:moveTo>
                    <a:pt x="0" y="0"/>
                  </a:moveTo>
                  <a:lnTo>
                    <a:pt x="0" y="419"/>
                  </a:lnTo>
                  <a:lnTo>
                    <a:pt x="1794" y="419"/>
                  </a:lnTo>
                  <a:lnTo>
                    <a:pt x="17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61"/>
            <p:cNvSpPr/>
            <p:nvPr/>
          </p:nvSpPr>
          <p:spPr>
            <a:xfrm>
              <a:off x="7531048" y="51519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61"/>
            <p:cNvSpPr/>
            <p:nvPr/>
          </p:nvSpPr>
          <p:spPr>
            <a:xfrm>
              <a:off x="7559901" y="57260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61"/>
            <p:cNvSpPr/>
            <p:nvPr/>
          </p:nvSpPr>
          <p:spPr>
            <a:xfrm>
              <a:off x="7344517" y="479165"/>
              <a:ext cx="301108" cy="401978"/>
            </a:xfrm>
            <a:custGeom>
              <a:avLst/>
              <a:gdLst/>
              <a:ahLst/>
              <a:cxnLst/>
              <a:rect l="l" t="t" r="r" b="b"/>
              <a:pathLst>
                <a:path w="9403" h="12553" extrusionOk="0">
                  <a:moveTo>
                    <a:pt x="8984" y="420"/>
                  </a:moveTo>
                  <a:lnTo>
                    <a:pt x="8984" y="12125"/>
                  </a:lnTo>
                  <a:lnTo>
                    <a:pt x="419" y="12125"/>
                  </a:lnTo>
                  <a:lnTo>
                    <a:pt x="419" y="2543"/>
                  </a:lnTo>
                  <a:lnTo>
                    <a:pt x="2543" y="420"/>
                  </a:lnTo>
                  <a:close/>
                  <a:moveTo>
                    <a:pt x="2364" y="1"/>
                  </a:moveTo>
                  <a:lnTo>
                    <a:pt x="0" y="2365"/>
                  </a:lnTo>
                  <a:lnTo>
                    <a:pt x="0" y="12553"/>
                  </a:lnTo>
                  <a:lnTo>
                    <a:pt x="9403" y="12553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61"/>
            <p:cNvSpPr/>
            <p:nvPr/>
          </p:nvSpPr>
          <p:spPr>
            <a:xfrm>
              <a:off x="7185654" y="695157"/>
              <a:ext cx="144037" cy="185698"/>
            </a:xfrm>
            <a:custGeom>
              <a:avLst/>
              <a:gdLst/>
              <a:ahLst/>
              <a:cxnLst/>
              <a:rect l="l" t="t" r="r" b="b"/>
              <a:pathLst>
                <a:path w="4498" h="5799" extrusionOk="0">
                  <a:moveTo>
                    <a:pt x="1" y="0"/>
                  </a:moveTo>
                  <a:lnTo>
                    <a:pt x="1" y="5799"/>
                  </a:lnTo>
                  <a:lnTo>
                    <a:pt x="4497" y="579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61"/>
            <p:cNvSpPr/>
            <p:nvPr/>
          </p:nvSpPr>
          <p:spPr>
            <a:xfrm>
              <a:off x="7215082" y="723721"/>
              <a:ext cx="85468" cy="42302"/>
            </a:xfrm>
            <a:custGeom>
              <a:avLst/>
              <a:gdLst/>
              <a:ahLst/>
              <a:cxnLst/>
              <a:rect l="l" t="t" r="r" b="b"/>
              <a:pathLst>
                <a:path w="2669" h="1321" extrusionOk="0">
                  <a:moveTo>
                    <a:pt x="2240" y="420"/>
                  </a:moveTo>
                  <a:lnTo>
                    <a:pt x="2240" y="901"/>
                  </a:lnTo>
                  <a:lnTo>
                    <a:pt x="420" y="901"/>
                  </a:lnTo>
                  <a:lnTo>
                    <a:pt x="420" y="420"/>
                  </a:lnTo>
                  <a:close/>
                  <a:moveTo>
                    <a:pt x="1" y="0"/>
                  </a:moveTo>
                  <a:lnTo>
                    <a:pt x="1" y="1321"/>
                  </a:lnTo>
                  <a:lnTo>
                    <a:pt x="2668" y="1321"/>
                  </a:lnTo>
                  <a:lnTo>
                    <a:pt x="26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61"/>
            <p:cNvSpPr/>
            <p:nvPr/>
          </p:nvSpPr>
          <p:spPr>
            <a:xfrm>
              <a:off x="7214506" y="80998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61"/>
            <p:cNvSpPr/>
            <p:nvPr/>
          </p:nvSpPr>
          <p:spPr>
            <a:xfrm>
              <a:off x="7214506" y="781137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61"/>
            <p:cNvSpPr/>
            <p:nvPr/>
          </p:nvSpPr>
          <p:spPr>
            <a:xfrm>
              <a:off x="7250531" y="80998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61"/>
            <p:cNvSpPr/>
            <p:nvPr/>
          </p:nvSpPr>
          <p:spPr>
            <a:xfrm>
              <a:off x="7250531" y="781137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0" y="0"/>
                  </a:moveTo>
                  <a:lnTo>
                    <a:pt x="0" y="429"/>
                  </a:lnTo>
                  <a:lnTo>
                    <a:pt x="446" y="42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61"/>
            <p:cNvSpPr/>
            <p:nvPr/>
          </p:nvSpPr>
          <p:spPr>
            <a:xfrm>
              <a:off x="7286525" y="80998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61"/>
            <p:cNvSpPr/>
            <p:nvPr/>
          </p:nvSpPr>
          <p:spPr>
            <a:xfrm>
              <a:off x="7214506" y="83884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61"/>
            <p:cNvSpPr/>
            <p:nvPr/>
          </p:nvSpPr>
          <p:spPr>
            <a:xfrm>
              <a:off x="7250531" y="83884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61"/>
            <p:cNvSpPr/>
            <p:nvPr/>
          </p:nvSpPr>
          <p:spPr>
            <a:xfrm>
              <a:off x="7286525" y="83884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61"/>
            <p:cNvSpPr/>
            <p:nvPr/>
          </p:nvSpPr>
          <p:spPr>
            <a:xfrm>
              <a:off x="7286525" y="781137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0" y="0"/>
                  </a:moveTo>
                  <a:lnTo>
                    <a:pt x="0" y="429"/>
                  </a:lnTo>
                  <a:lnTo>
                    <a:pt x="446" y="42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61"/>
            <p:cNvSpPr/>
            <p:nvPr/>
          </p:nvSpPr>
          <p:spPr>
            <a:xfrm>
              <a:off x="7408787" y="593741"/>
              <a:ext cx="172569" cy="172569"/>
            </a:xfrm>
            <a:custGeom>
              <a:avLst/>
              <a:gdLst/>
              <a:ahLst/>
              <a:cxnLst/>
              <a:rect l="l" t="t" r="r" b="b"/>
              <a:pathLst>
                <a:path w="5389" h="5389" extrusionOk="0">
                  <a:moveTo>
                    <a:pt x="2694" y="0"/>
                  </a:moveTo>
                  <a:cubicBezTo>
                    <a:pt x="1205" y="0"/>
                    <a:pt x="0" y="1205"/>
                    <a:pt x="0" y="2694"/>
                  </a:cubicBezTo>
                  <a:cubicBezTo>
                    <a:pt x="0" y="4184"/>
                    <a:pt x="1205" y="5389"/>
                    <a:pt x="2694" y="5389"/>
                  </a:cubicBezTo>
                  <a:cubicBezTo>
                    <a:pt x="4184" y="5389"/>
                    <a:pt x="5389" y="4184"/>
                    <a:pt x="5389" y="2694"/>
                  </a:cubicBezTo>
                  <a:cubicBezTo>
                    <a:pt x="5389" y="1205"/>
                    <a:pt x="4184" y="0"/>
                    <a:pt x="2694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61"/>
            <p:cNvSpPr/>
            <p:nvPr/>
          </p:nvSpPr>
          <p:spPr>
            <a:xfrm>
              <a:off x="7408787" y="593741"/>
              <a:ext cx="152011" cy="172569"/>
            </a:xfrm>
            <a:custGeom>
              <a:avLst/>
              <a:gdLst/>
              <a:ahLst/>
              <a:cxnLst/>
              <a:rect l="l" t="t" r="r" b="b"/>
              <a:pathLst>
                <a:path w="4747" h="5389" extrusionOk="0">
                  <a:moveTo>
                    <a:pt x="2480" y="0"/>
                  </a:moveTo>
                  <a:lnTo>
                    <a:pt x="2480" y="2489"/>
                  </a:lnTo>
                  <a:lnTo>
                    <a:pt x="0" y="2489"/>
                  </a:lnTo>
                  <a:lnTo>
                    <a:pt x="0" y="2909"/>
                  </a:lnTo>
                  <a:lnTo>
                    <a:pt x="2480" y="2909"/>
                  </a:lnTo>
                  <a:lnTo>
                    <a:pt x="2480" y="5389"/>
                  </a:lnTo>
                  <a:lnTo>
                    <a:pt x="2909" y="5389"/>
                  </a:lnTo>
                  <a:lnTo>
                    <a:pt x="2909" y="3203"/>
                  </a:lnTo>
                  <a:lnTo>
                    <a:pt x="4443" y="4746"/>
                  </a:lnTo>
                  <a:lnTo>
                    <a:pt x="4746" y="4452"/>
                  </a:lnTo>
                  <a:lnTo>
                    <a:pt x="2909" y="2605"/>
                  </a:lnTo>
                  <a:lnTo>
                    <a:pt x="2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61"/>
            <p:cNvSpPr/>
            <p:nvPr/>
          </p:nvSpPr>
          <p:spPr>
            <a:xfrm>
              <a:off x="7603035" y="80998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61"/>
            <p:cNvSpPr/>
            <p:nvPr/>
          </p:nvSpPr>
          <p:spPr>
            <a:xfrm>
              <a:off x="7603035" y="83884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61"/>
            <p:cNvSpPr/>
            <p:nvPr/>
          </p:nvSpPr>
          <p:spPr>
            <a:xfrm>
              <a:off x="7603035" y="781137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61"/>
            <p:cNvSpPr/>
            <p:nvPr/>
          </p:nvSpPr>
          <p:spPr>
            <a:xfrm>
              <a:off x="7372793" y="809989"/>
              <a:ext cx="79160" cy="13449"/>
            </a:xfrm>
            <a:custGeom>
              <a:avLst/>
              <a:gdLst/>
              <a:ahLst/>
              <a:cxnLst/>
              <a:rect l="l" t="t" r="r" b="b"/>
              <a:pathLst>
                <a:path w="2472" h="420" extrusionOk="0">
                  <a:moveTo>
                    <a:pt x="0" y="0"/>
                  </a:moveTo>
                  <a:lnTo>
                    <a:pt x="0" y="420"/>
                  </a:lnTo>
                  <a:lnTo>
                    <a:pt x="2471" y="420"/>
                  </a:lnTo>
                  <a:lnTo>
                    <a:pt x="24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61"/>
            <p:cNvSpPr/>
            <p:nvPr/>
          </p:nvSpPr>
          <p:spPr>
            <a:xfrm>
              <a:off x="7372793" y="838842"/>
              <a:ext cx="50307" cy="13449"/>
            </a:xfrm>
            <a:custGeom>
              <a:avLst/>
              <a:gdLst/>
              <a:ahLst/>
              <a:cxnLst/>
              <a:rect l="l" t="t" r="r" b="b"/>
              <a:pathLst>
                <a:path w="1571" h="420" extrusionOk="0">
                  <a:moveTo>
                    <a:pt x="0" y="1"/>
                  </a:moveTo>
                  <a:lnTo>
                    <a:pt x="0" y="420"/>
                  </a:lnTo>
                  <a:lnTo>
                    <a:pt x="1570" y="420"/>
                  </a:lnTo>
                  <a:lnTo>
                    <a:pt x="15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Subtitle 10">
            <a:extLst>
              <a:ext uri="{FF2B5EF4-FFF2-40B4-BE49-F238E27FC236}">
                <a16:creationId xmlns:a16="http://schemas.microsoft.com/office/drawing/2014/main" id="{188A8265-05A4-0036-C20A-25E5977634D8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886748" y="1429153"/>
            <a:ext cx="5544649" cy="3320648"/>
          </a:xfrm>
        </p:spPr>
        <p:txBody>
          <a:bodyPr/>
          <a:lstStyle/>
          <a:p>
            <a:pPr algn="l">
              <a:defRPr sz="1800"/>
            </a:pPr>
            <a:r>
              <a:rPr lang="en-GB" sz="1200" dirty="0" err="1"/>
              <a:t>Razaghzadeh</a:t>
            </a:r>
            <a:r>
              <a:rPr lang="en-GB" sz="1200" dirty="0"/>
              <a:t> </a:t>
            </a:r>
            <a:r>
              <a:rPr lang="en-GB" sz="1200" dirty="0" err="1"/>
              <a:t>Bidgoli</a:t>
            </a:r>
            <a:r>
              <a:rPr lang="en-GB" sz="1200" dirty="0"/>
              <a:t>, M., </a:t>
            </a:r>
            <a:r>
              <a:rPr lang="en-GB" sz="1200" dirty="0" err="1"/>
              <a:t>Raeesi</a:t>
            </a:r>
            <a:r>
              <a:rPr lang="en-GB" sz="1200" dirty="0"/>
              <a:t> </a:t>
            </a:r>
            <a:r>
              <a:rPr lang="en-GB" sz="1200" dirty="0" err="1"/>
              <a:t>Vanani</a:t>
            </a:r>
            <a:r>
              <a:rPr lang="en-GB" sz="1200" dirty="0"/>
              <a:t>, I., &amp; </a:t>
            </a:r>
            <a:r>
              <a:rPr lang="en-GB" sz="1200" dirty="0" err="1"/>
              <a:t>Goodarzi</a:t>
            </a:r>
            <a:r>
              <a:rPr lang="en-GB" sz="1200" dirty="0"/>
              <a:t>, M. (2024). Predicting the success of </a:t>
            </a:r>
            <a:r>
              <a:rPr lang="en-GB" sz="1200" dirty="0" err="1"/>
              <a:t>startups</a:t>
            </a:r>
            <a:r>
              <a:rPr lang="en-GB" sz="1200" dirty="0"/>
              <a:t> using a machine learning approach. Journal of Innovation and Entrepreneurship, 13(80). https://</a:t>
            </a:r>
            <a:r>
              <a:rPr lang="en-GB" sz="1200" dirty="0" err="1"/>
              <a:t>doi.org</a:t>
            </a:r>
            <a:r>
              <a:rPr lang="en-GB" sz="1200" dirty="0"/>
              <a:t>/10.1186/s13731-024-00436-x</a:t>
            </a:r>
          </a:p>
          <a:p>
            <a:pPr algn="l">
              <a:defRPr sz="1800"/>
            </a:pPr>
            <a:endParaRPr lang="en-GB" sz="1200" dirty="0"/>
          </a:p>
          <a:p>
            <a:pPr algn="l">
              <a:defRPr sz="1800"/>
            </a:pPr>
            <a:r>
              <a:rPr lang="en-GB" sz="1200" dirty="0"/>
              <a:t>Zeng, B. (2023). Venture Capital Research—Investor Preferences and Success Factors for </a:t>
            </a:r>
            <a:r>
              <a:rPr lang="en-GB" sz="1200" dirty="0" err="1"/>
              <a:t>Startups</a:t>
            </a:r>
            <a:r>
              <a:rPr lang="en-GB" sz="1200" dirty="0"/>
              <a:t>. Open Journal of Business and Management, 11, 2743–2762. https://</a:t>
            </a:r>
            <a:r>
              <a:rPr lang="en-GB" sz="1200" dirty="0" err="1"/>
              <a:t>doi.org</a:t>
            </a:r>
            <a:r>
              <a:rPr lang="en-GB" sz="1200" dirty="0"/>
              <a:t>/10.4236/ojbm.2023.116149</a:t>
            </a:r>
          </a:p>
          <a:p>
            <a:pPr algn="l">
              <a:defRPr sz="1800"/>
            </a:pPr>
            <a:endParaRPr lang="en-GB" sz="1200" dirty="0"/>
          </a:p>
          <a:p>
            <a:pPr algn="l">
              <a:defRPr sz="1800"/>
            </a:pPr>
            <a:r>
              <a:rPr lang="en-GB" sz="1200" dirty="0"/>
              <a:t>Potanin, M., </a:t>
            </a:r>
            <a:r>
              <a:rPr lang="en-GB" sz="1200" dirty="0" err="1"/>
              <a:t>Chertok</a:t>
            </a:r>
            <a:r>
              <a:rPr lang="en-GB" sz="1200" dirty="0"/>
              <a:t>, A., </a:t>
            </a:r>
            <a:r>
              <a:rPr lang="en-GB" sz="1200" dirty="0" err="1"/>
              <a:t>Zorin</a:t>
            </a:r>
            <a:r>
              <a:rPr lang="en-GB" sz="1200" dirty="0"/>
              <a:t>, K., &amp; </a:t>
            </a:r>
            <a:r>
              <a:rPr lang="en-GB" sz="1200" dirty="0" err="1"/>
              <a:t>Shtabtsovsky</a:t>
            </a:r>
            <a:r>
              <a:rPr lang="en-GB" sz="1200" dirty="0"/>
              <a:t>, C. (2023). </a:t>
            </a:r>
            <a:r>
              <a:rPr lang="en-GB" sz="1200" dirty="0" err="1"/>
              <a:t>Startup</a:t>
            </a:r>
            <a:r>
              <a:rPr lang="en-GB" sz="1200" dirty="0"/>
              <a:t> success prediction and VC portfolio simulation using CrunchBase data. </a:t>
            </a:r>
            <a:r>
              <a:rPr lang="en-GB" sz="1200" dirty="0" err="1"/>
              <a:t>arXiv</a:t>
            </a:r>
            <a:r>
              <a:rPr lang="en-GB" sz="1200" dirty="0"/>
              <a:t>. https://</a:t>
            </a:r>
            <a:r>
              <a:rPr lang="en-GB" sz="1200" dirty="0" err="1"/>
              <a:t>arxiv.org</a:t>
            </a:r>
            <a:r>
              <a:rPr lang="en-GB" sz="1200" dirty="0"/>
              <a:t>/abs/2309.15552</a:t>
            </a:r>
          </a:p>
          <a:p>
            <a:pPr algn="l">
              <a:defRPr sz="1800"/>
            </a:pPr>
            <a:endParaRPr lang="en-GB" sz="1200" dirty="0"/>
          </a:p>
          <a:p>
            <a:pPr algn="l">
              <a:defRPr sz="1800"/>
            </a:pPr>
            <a:r>
              <a:rPr lang="en-GB" sz="1200" dirty="0"/>
              <a:t>Gompers, P. A., Gornall, W., Kaplan, S. A., &amp; </a:t>
            </a:r>
            <a:r>
              <a:rPr lang="en-GB" sz="1200" dirty="0" err="1"/>
              <a:t>Strebulaev</a:t>
            </a:r>
            <a:r>
              <a:rPr lang="en-GB" sz="1200" dirty="0"/>
              <a:t>, I. A. (2020). How do venture capitalists make decisions? Journal of Financial Economics, 135(1), 169–190.</a:t>
            </a:r>
          </a:p>
        </p:txBody>
      </p:sp>
      <p:sp>
        <p:nvSpPr>
          <p:cNvPr id="15" name="Google Shape;887;p54">
            <a:extLst>
              <a:ext uri="{FF2B5EF4-FFF2-40B4-BE49-F238E27FC236}">
                <a16:creationId xmlns:a16="http://schemas.microsoft.com/office/drawing/2014/main" id="{9ED2C65E-1D7E-7A38-CB12-C96783C04A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dirty="0"/>
              <a:t>References</a:t>
            </a:r>
            <a:endParaRPr sz="5200" dirty="0">
              <a:highlight>
                <a:schemeClr val="dk2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D4CD72-5C1F-157E-37A2-B5267D31422F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/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138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CD175516-6701-C87C-6BD7-9D4166B56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77" y="3921228"/>
            <a:ext cx="3252490" cy="1013263"/>
          </a:xfrm>
        </p:spPr>
        <p:txBody>
          <a:bodyPr/>
          <a:lstStyle/>
          <a:p>
            <a:pPr algn="l"/>
            <a:r>
              <a:rPr lang="en-GB" sz="1200" b="1" dirty="0">
                <a:solidFill>
                  <a:schemeClr val="tx1"/>
                </a:solidFill>
                <a:effectLst/>
                <a:highlight>
                  <a:srgbClr val="0000FF"/>
                </a:highlight>
                <a:latin typeface="+mn-lt"/>
              </a:rPr>
              <a:t>DATA SCIENCE</a:t>
            </a:r>
          </a:p>
        </p:txBody>
      </p:sp>
      <p:sp>
        <p:nvSpPr>
          <p:cNvPr id="8" name="Google Shape;1425;p66">
            <a:extLst>
              <a:ext uri="{FF2B5EF4-FFF2-40B4-BE49-F238E27FC236}">
                <a16:creationId xmlns:a16="http://schemas.microsoft.com/office/drawing/2014/main" id="{A3303300-54BB-C28B-B6C9-4840CABE3217}"/>
              </a:ext>
            </a:extLst>
          </p:cNvPr>
          <p:cNvSpPr/>
          <p:nvPr/>
        </p:nvSpPr>
        <p:spPr>
          <a:xfrm rot="-5400000" flipH="1">
            <a:off x="7208100" y="1402509"/>
            <a:ext cx="530100" cy="3341700"/>
          </a:xfrm>
          <a:prstGeom prst="round2SameRect">
            <a:avLst>
              <a:gd name="adj1" fmla="val 45208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1426;p66">
            <a:extLst>
              <a:ext uri="{FF2B5EF4-FFF2-40B4-BE49-F238E27FC236}">
                <a16:creationId xmlns:a16="http://schemas.microsoft.com/office/drawing/2014/main" id="{253A5B30-ECD5-96F4-26FE-EACB857950A3}"/>
              </a:ext>
            </a:extLst>
          </p:cNvPr>
          <p:cNvSpPr txBox="1">
            <a:spLocks/>
          </p:cNvSpPr>
          <p:nvPr/>
        </p:nvSpPr>
        <p:spPr>
          <a:xfrm>
            <a:off x="4762542" y="535000"/>
            <a:ext cx="36621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yne"/>
              <a:buNone/>
              <a:defRPr sz="35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/>
              <a:t>Thanks</a:t>
            </a:r>
            <a:r>
              <a:rPr lang="en-GB">
                <a:highlight>
                  <a:schemeClr val="dk2"/>
                </a:highlight>
              </a:rPr>
              <a:t>!</a:t>
            </a:r>
          </a:p>
        </p:txBody>
      </p:sp>
      <p:sp>
        <p:nvSpPr>
          <p:cNvPr id="10" name="Google Shape;1427;p66">
            <a:extLst>
              <a:ext uri="{FF2B5EF4-FFF2-40B4-BE49-F238E27FC236}">
                <a16:creationId xmlns:a16="http://schemas.microsoft.com/office/drawing/2014/main" id="{11C482D0-0602-B7BA-BD77-9ADCFE9EEAF9}"/>
              </a:ext>
            </a:extLst>
          </p:cNvPr>
          <p:cNvSpPr txBox="1">
            <a:spLocks/>
          </p:cNvSpPr>
          <p:nvPr/>
        </p:nvSpPr>
        <p:spPr>
          <a:xfrm>
            <a:off x="4758375" y="1569725"/>
            <a:ext cx="3670500" cy="794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>
              <a:buClr>
                <a:schemeClr val="lt1"/>
              </a:buClr>
              <a:buSzPts val="1100"/>
              <a:buFont typeface="Arial"/>
              <a:buNone/>
            </a:pPr>
            <a:r>
              <a:rPr lang="en-GB" dirty="0"/>
              <a:t>Do you have any questions?</a:t>
            </a:r>
          </a:p>
          <a:p>
            <a:pPr marL="0" indent="0">
              <a:buClr>
                <a:schemeClr val="lt1"/>
              </a:buClr>
              <a:buSzPts val="1100"/>
              <a:buFont typeface="Arial"/>
              <a:buNone/>
            </a:pPr>
            <a:endParaRPr lang="en-GB" dirty="0"/>
          </a:p>
          <a:p>
            <a:pPr marL="0" indent="0">
              <a:buClr>
                <a:schemeClr val="lt1"/>
              </a:buClr>
              <a:buSzPts val="1100"/>
              <a:buFont typeface="Arial"/>
              <a:buNone/>
            </a:pPr>
            <a:r>
              <a:rPr lang="en-GB" dirty="0" err="1"/>
              <a:t>g.vela@acg.edu</a:t>
            </a:r>
            <a:endParaRPr lang="en-GB" dirty="0"/>
          </a:p>
        </p:txBody>
      </p:sp>
      <p:grpSp>
        <p:nvGrpSpPr>
          <p:cNvPr id="11" name="Google Shape;1429;p66">
            <a:extLst>
              <a:ext uri="{FF2B5EF4-FFF2-40B4-BE49-F238E27FC236}">
                <a16:creationId xmlns:a16="http://schemas.microsoft.com/office/drawing/2014/main" id="{32A8706C-4560-1F9C-E28E-17FB615E32E1}"/>
              </a:ext>
            </a:extLst>
          </p:cNvPr>
          <p:cNvGrpSpPr/>
          <p:nvPr/>
        </p:nvGrpSpPr>
        <p:grpSpPr>
          <a:xfrm>
            <a:off x="5975892" y="2886952"/>
            <a:ext cx="346056" cy="345674"/>
            <a:chOff x="3303268" y="3817349"/>
            <a:chExt cx="346056" cy="345674"/>
          </a:xfrm>
        </p:grpSpPr>
        <p:sp>
          <p:nvSpPr>
            <p:cNvPr id="12" name="Google Shape;1430;p66">
              <a:extLst>
                <a:ext uri="{FF2B5EF4-FFF2-40B4-BE49-F238E27FC236}">
                  <a16:creationId xmlns:a16="http://schemas.microsoft.com/office/drawing/2014/main" id="{ACD8E77B-510A-5E0F-8159-EAF9E884EC8F}"/>
                </a:ext>
              </a:extLst>
            </p:cNvPr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431;p66">
              <a:extLst>
                <a:ext uri="{FF2B5EF4-FFF2-40B4-BE49-F238E27FC236}">
                  <a16:creationId xmlns:a16="http://schemas.microsoft.com/office/drawing/2014/main" id="{594C5AEF-4FC8-FEE4-0F7F-7D6008B66716}"/>
                </a:ext>
              </a:extLst>
            </p:cNvPr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32;p66">
              <a:extLst>
                <a:ext uri="{FF2B5EF4-FFF2-40B4-BE49-F238E27FC236}">
                  <a16:creationId xmlns:a16="http://schemas.microsoft.com/office/drawing/2014/main" id="{209C174E-CC69-0446-2460-D68F57B8C035}"/>
                </a:ext>
              </a:extLst>
            </p:cNvPr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33;p66">
              <a:extLst>
                <a:ext uri="{FF2B5EF4-FFF2-40B4-BE49-F238E27FC236}">
                  <a16:creationId xmlns:a16="http://schemas.microsoft.com/office/drawing/2014/main" id="{82CDFC71-BA6C-4C10-71FF-045EDE3F96D7}"/>
                </a:ext>
              </a:extLst>
            </p:cNvPr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434;p66">
            <a:extLst>
              <a:ext uri="{FF2B5EF4-FFF2-40B4-BE49-F238E27FC236}">
                <a16:creationId xmlns:a16="http://schemas.microsoft.com/office/drawing/2014/main" id="{D46DD62A-EA05-C8C9-B020-5E723B1F0E12}"/>
              </a:ext>
            </a:extLst>
          </p:cNvPr>
          <p:cNvGrpSpPr/>
          <p:nvPr/>
        </p:nvGrpSpPr>
        <p:grpSpPr>
          <a:xfrm>
            <a:off x="6487809" y="2886952"/>
            <a:ext cx="346056" cy="345674"/>
            <a:chOff x="3752358" y="3817349"/>
            <a:chExt cx="346056" cy="345674"/>
          </a:xfrm>
        </p:grpSpPr>
        <p:sp>
          <p:nvSpPr>
            <p:cNvPr id="17" name="Google Shape;1435;p66">
              <a:extLst>
                <a:ext uri="{FF2B5EF4-FFF2-40B4-BE49-F238E27FC236}">
                  <a16:creationId xmlns:a16="http://schemas.microsoft.com/office/drawing/2014/main" id="{F5CA497E-B663-95DA-E2BC-9EA91946F8BD}"/>
                </a:ext>
              </a:extLst>
            </p:cNvPr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436;p66">
              <a:extLst>
                <a:ext uri="{FF2B5EF4-FFF2-40B4-BE49-F238E27FC236}">
                  <a16:creationId xmlns:a16="http://schemas.microsoft.com/office/drawing/2014/main" id="{FD8AFD54-82CC-7BBD-1853-6988C3544619}"/>
                </a:ext>
              </a:extLst>
            </p:cNvPr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437;p66">
              <a:extLst>
                <a:ext uri="{FF2B5EF4-FFF2-40B4-BE49-F238E27FC236}">
                  <a16:creationId xmlns:a16="http://schemas.microsoft.com/office/drawing/2014/main" id="{077C250E-DB5A-811B-3CA3-22F926952BBA}"/>
                </a:ext>
              </a:extLst>
            </p:cNvPr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438;p66">
              <a:extLst>
                <a:ext uri="{FF2B5EF4-FFF2-40B4-BE49-F238E27FC236}">
                  <a16:creationId xmlns:a16="http://schemas.microsoft.com/office/drawing/2014/main" id="{232FBB84-E5FF-9AED-F4F0-02800C930590}"/>
                </a:ext>
              </a:extLst>
            </p:cNvPr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440;p66">
            <a:extLst>
              <a:ext uri="{FF2B5EF4-FFF2-40B4-BE49-F238E27FC236}">
                <a16:creationId xmlns:a16="http://schemas.microsoft.com/office/drawing/2014/main" id="{30F3C7C0-04E3-27AF-0C93-720F059CDB9A}"/>
              </a:ext>
            </a:extLst>
          </p:cNvPr>
          <p:cNvGrpSpPr/>
          <p:nvPr/>
        </p:nvGrpSpPr>
        <p:grpSpPr>
          <a:xfrm>
            <a:off x="713100" y="0"/>
            <a:ext cx="3257700" cy="3440075"/>
            <a:chOff x="713100" y="0"/>
            <a:chExt cx="3257700" cy="3440075"/>
          </a:xfrm>
        </p:grpSpPr>
        <p:sp>
          <p:nvSpPr>
            <p:cNvPr id="22" name="Google Shape;1441;p66">
              <a:extLst>
                <a:ext uri="{FF2B5EF4-FFF2-40B4-BE49-F238E27FC236}">
                  <a16:creationId xmlns:a16="http://schemas.microsoft.com/office/drawing/2014/main" id="{8C31AECD-88B2-1B1F-CCBF-79D18822928A}"/>
                </a:ext>
              </a:extLst>
            </p:cNvPr>
            <p:cNvSpPr/>
            <p:nvPr/>
          </p:nvSpPr>
          <p:spPr>
            <a:xfrm rot="10800000" flipH="1">
              <a:off x="713100" y="0"/>
              <a:ext cx="3257700" cy="34400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42;p66">
              <a:extLst>
                <a:ext uri="{FF2B5EF4-FFF2-40B4-BE49-F238E27FC236}">
                  <a16:creationId xmlns:a16="http://schemas.microsoft.com/office/drawing/2014/main" id="{47C6CA93-DCF8-7C12-3751-EBA9ED6471B6}"/>
                </a:ext>
              </a:extLst>
            </p:cNvPr>
            <p:cNvSpPr/>
            <p:nvPr/>
          </p:nvSpPr>
          <p:spPr>
            <a:xfrm rot="5400000">
              <a:off x="951532" y="386806"/>
              <a:ext cx="2780837" cy="2780600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1443;p66">
            <a:extLst>
              <a:ext uri="{FF2B5EF4-FFF2-40B4-BE49-F238E27FC236}">
                <a16:creationId xmlns:a16="http://schemas.microsoft.com/office/drawing/2014/main" id="{B26B5034-A55C-9F1F-35DC-084F2774B390}"/>
              </a:ext>
            </a:extLst>
          </p:cNvPr>
          <p:cNvGrpSpPr/>
          <p:nvPr/>
        </p:nvGrpSpPr>
        <p:grpSpPr>
          <a:xfrm flipH="1">
            <a:off x="3325750" y="1103376"/>
            <a:ext cx="1097159" cy="1472296"/>
            <a:chOff x="3213240" y="2349967"/>
            <a:chExt cx="326506" cy="438066"/>
          </a:xfrm>
        </p:grpSpPr>
        <p:sp>
          <p:nvSpPr>
            <p:cNvPr id="25" name="Google Shape;1444;p66">
              <a:extLst>
                <a:ext uri="{FF2B5EF4-FFF2-40B4-BE49-F238E27FC236}">
                  <a16:creationId xmlns:a16="http://schemas.microsoft.com/office/drawing/2014/main" id="{6F0ED4AE-B085-F31B-E3D8-B83C635A654B}"/>
                </a:ext>
              </a:extLst>
            </p:cNvPr>
            <p:cNvSpPr/>
            <p:nvPr/>
          </p:nvSpPr>
          <p:spPr>
            <a:xfrm>
              <a:off x="3293479" y="2521394"/>
              <a:ext cx="12839" cy="54713"/>
            </a:xfrm>
            <a:custGeom>
              <a:avLst/>
              <a:gdLst/>
              <a:ahLst/>
              <a:cxnLst/>
              <a:rect l="l" t="t" r="r" b="b"/>
              <a:pathLst>
                <a:path w="421" h="1794" extrusionOk="0">
                  <a:moveTo>
                    <a:pt x="1" y="0"/>
                  </a:moveTo>
                  <a:lnTo>
                    <a:pt x="1" y="1793"/>
                  </a:lnTo>
                  <a:lnTo>
                    <a:pt x="420" y="1793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45;p66">
              <a:extLst>
                <a:ext uri="{FF2B5EF4-FFF2-40B4-BE49-F238E27FC236}">
                  <a16:creationId xmlns:a16="http://schemas.microsoft.com/office/drawing/2014/main" id="{68A9D5C6-89B6-8856-CA18-EAD89865F1A2}"/>
                </a:ext>
              </a:extLst>
            </p:cNvPr>
            <p:cNvSpPr/>
            <p:nvPr/>
          </p:nvSpPr>
          <p:spPr>
            <a:xfrm>
              <a:off x="3293479" y="2364118"/>
              <a:ext cx="246267" cy="218515"/>
            </a:xfrm>
            <a:custGeom>
              <a:avLst/>
              <a:gdLst/>
              <a:ahLst/>
              <a:cxnLst/>
              <a:rect l="l" t="t" r="r" b="b"/>
              <a:pathLst>
                <a:path w="8075" h="7165" extrusionOk="0">
                  <a:moveTo>
                    <a:pt x="3596" y="3569"/>
                  </a:moveTo>
                  <a:lnTo>
                    <a:pt x="3596" y="6736"/>
                  </a:lnTo>
                  <a:lnTo>
                    <a:pt x="3114" y="6736"/>
                  </a:lnTo>
                  <a:lnTo>
                    <a:pt x="3114" y="3569"/>
                  </a:lnTo>
                  <a:close/>
                  <a:moveTo>
                    <a:pt x="4497" y="2668"/>
                  </a:moveTo>
                  <a:lnTo>
                    <a:pt x="4497" y="6736"/>
                  </a:lnTo>
                  <a:lnTo>
                    <a:pt x="4015" y="6736"/>
                  </a:lnTo>
                  <a:lnTo>
                    <a:pt x="4015" y="2668"/>
                  </a:lnTo>
                  <a:close/>
                  <a:moveTo>
                    <a:pt x="5389" y="3569"/>
                  </a:moveTo>
                  <a:lnTo>
                    <a:pt x="5389" y="6736"/>
                  </a:lnTo>
                  <a:lnTo>
                    <a:pt x="4916" y="6736"/>
                  </a:lnTo>
                  <a:lnTo>
                    <a:pt x="4916" y="3569"/>
                  </a:lnTo>
                  <a:close/>
                  <a:moveTo>
                    <a:pt x="6290" y="5362"/>
                  </a:moveTo>
                  <a:lnTo>
                    <a:pt x="6290" y="6736"/>
                  </a:lnTo>
                  <a:lnTo>
                    <a:pt x="5817" y="6736"/>
                  </a:lnTo>
                  <a:lnTo>
                    <a:pt x="5817" y="5362"/>
                  </a:lnTo>
                  <a:close/>
                  <a:moveTo>
                    <a:pt x="7191" y="4461"/>
                  </a:moveTo>
                  <a:lnTo>
                    <a:pt x="7191" y="6736"/>
                  </a:lnTo>
                  <a:lnTo>
                    <a:pt x="6709" y="6736"/>
                  </a:lnTo>
                  <a:lnTo>
                    <a:pt x="6709" y="4461"/>
                  </a:lnTo>
                  <a:close/>
                  <a:moveTo>
                    <a:pt x="1" y="1"/>
                  </a:moveTo>
                  <a:lnTo>
                    <a:pt x="1" y="4256"/>
                  </a:lnTo>
                  <a:lnTo>
                    <a:pt x="420" y="4256"/>
                  </a:lnTo>
                  <a:lnTo>
                    <a:pt x="420" y="420"/>
                  </a:lnTo>
                  <a:lnTo>
                    <a:pt x="902" y="420"/>
                  </a:lnTo>
                  <a:lnTo>
                    <a:pt x="902" y="4479"/>
                  </a:lnTo>
                  <a:lnTo>
                    <a:pt x="1321" y="4479"/>
                  </a:lnTo>
                  <a:lnTo>
                    <a:pt x="1321" y="2668"/>
                  </a:lnTo>
                  <a:lnTo>
                    <a:pt x="1794" y="2668"/>
                  </a:lnTo>
                  <a:lnTo>
                    <a:pt x="1794" y="4925"/>
                  </a:lnTo>
                  <a:lnTo>
                    <a:pt x="2222" y="4925"/>
                  </a:lnTo>
                  <a:lnTo>
                    <a:pt x="2222" y="1767"/>
                  </a:lnTo>
                  <a:lnTo>
                    <a:pt x="2695" y="1767"/>
                  </a:lnTo>
                  <a:lnTo>
                    <a:pt x="2695" y="6950"/>
                  </a:lnTo>
                  <a:lnTo>
                    <a:pt x="2909" y="6950"/>
                  </a:lnTo>
                  <a:lnTo>
                    <a:pt x="2909" y="7164"/>
                  </a:lnTo>
                  <a:lnTo>
                    <a:pt x="8074" y="7164"/>
                  </a:lnTo>
                  <a:lnTo>
                    <a:pt x="8074" y="6736"/>
                  </a:lnTo>
                  <a:lnTo>
                    <a:pt x="7610" y="6736"/>
                  </a:lnTo>
                  <a:lnTo>
                    <a:pt x="7610" y="4042"/>
                  </a:lnTo>
                  <a:lnTo>
                    <a:pt x="6290" y="4042"/>
                  </a:lnTo>
                  <a:lnTo>
                    <a:pt x="6290" y="4943"/>
                  </a:lnTo>
                  <a:lnTo>
                    <a:pt x="5808" y="4943"/>
                  </a:lnTo>
                  <a:lnTo>
                    <a:pt x="5808" y="3150"/>
                  </a:lnTo>
                  <a:lnTo>
                    <a:pt x="4916" y="3150"/>
                  </a:lnTo>
                  <a:lnTo>
                    <a:pt x="4916" y="2249"/>
                  </a:lnTo>
                  <a:lnTo>
                    <a:pt x="3596" y="2249"/>
                  </a:lnTo>
                  <a:lnTo>
                    <a:pt x="3596" y="3150"/>
                  </a:lnTo>
                  <a:lnTo>
                    <a:pt x="3114" y="3150"/>
                  </a:lnTo>
                  <a:lnTo>
                    <a:pt x="3114" y="1348"/>
                  </a:lnTo>
                  <a:lnTo>
                    <a:pt x="1794" y="1348"/>
                  </a:lnTo>
                  <a:lnTo>
                    <a:pt x="1794" y="2249"/>
                  </a:lnTo>
                  <a:lnTo>
                    <a:pt x="1321" y="2249"/>
                  </a:lnTo>
                  <a:lnTo>
                    <a:pt x="13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46;p66">
              <a:extLst>
                <a:ext uri="{FF2B5EF4-FFF2-40B4-BE49-F238E27FC236}">
                  <a16:creationId xmlns:a16="http://schemas.microsoft.com/office/drawing/2014/main" id="{026B5EBD-6869-FD9F-4CB6-F04CDAECDC0E}"/>
                </a:ext>
              </a:extLst>
            </p:cNvPr>
            <p:cNvSpPr/>
            <p:nvPr/>
          </p:nvSpPr>
          <p:spPr>
            <a:xfrm>
              <a:off x="3266000" y="2528195"/>
              <a:ext cx="88748" cy="54438"/>
            </a:xfrm>
            <a:custGeom>
              <a:avLst/>
              <a:gdLst/>
              <a:ahLst/>
              <a:cxnLst/>
              <a:rect l="l" t="t" r="r" b="b"/>
              <a:pathLst>
                <a:path w="2910" h="1785" extrusionOk="0">
                  <a:moveTo>
                    <a:pt x="1" y="0"/>
                  </a:moveTo>
                  <a:lnTo>
                    <a:pt x="1" y="1784"/>
                  </a:lnTo>
                  <a:lnTo>
                    <a:pt x="2909" y="1784"/>
                  </a:lnTo>
                  <a:lnTo>
                    <a:pt x="2909" y="1356"/>
                  </a:lnTo>
                  <a:lnTo>
                    <a:pt x="2222" y="1356"/>
                  </a:lnTo>
                  <a:lnTo>
                    <a:pt x="2222" y="0"/>
                  </a:lnTo>
                  <a:lnTo>
                    <a:pt x="1803" y="0"/>
                  </a:lnTo>
                  <a:lnTo>
                    <a:pt x="1803" y="1356"/>
                  </a:lnTo>
                  <a:lnTo>
                    <a:pt x="429" y="1356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47;p66">
              <a:extLst>
                <a:ext uri="{FF2B5EF4-FFF2-40B4-BE49-F238E27FC236}">
                  <a16:creationId xmlns:a16="http://schemas.microsoft.com/office/drawing/2014/main" id="{E6437F6F-2E25-3A63-B754-356D97F8AF81}"/>
                </a:ext>
              </a:extLst>
            </p:cNvPr>
            <p:cNvSpPr/>
            <p:nvPr/>
          </p:nvSpPr>
          <p:spPr>
            <a:xfrm>
              <a:off x="3272527" y="2658236"/>
              <a:ext cx="54743" cy="129797"/>
            </a:xfrm>
            <a:custGeom>
              <a:avLst/>
              <a:gdLst/>
              <a:ahLst/>
              <a:cxnLst/>
              <a:rect l="l" t="t" r="r" b="b"/>
              <a:pathLst>
                <a:path w="1795" h="4256" extrusionOk="0">
                  <a:moveTo>
                    <a:pt x="1134" y="1785"/>
                  </a:moveTo>
                  <a:lnTo>
                    <a:pt x="1134" y="3836"/>
                  </a:lnTo>
                  <a:lnTo>
                    <a:pt x="661" y="3836"/>
                  </a:lnTo>
                  <a:lnTo>
                    <a:pt x="661" y="1785"/>
                  </a:lnTo>
                  <a:close/>
                  <a:moveTo>
                    <a:pt x="242" y="0"/>
                  </a:moveTo>
                  <a:lnTo>
                    <a:pt x="242" y="1365"/>
                  </a:lnTo>
                  <a:lnTo>
                    <a:pt x="1" y="1365"/>
                  </a:lnTo>
                  <a:lnTo>
                    <a:pt x="1" y="1785"/>
                  </a:lnTo>
                  <a:lnTo>
                    <a:pt x="242" y="1785"/>
                  </a:lnTo>
                  <a:lnTo>
                    <a:pt x="242" y="4256"/>
                  </a:lnTo>
                  <a:lnTo>
                    <a:pt x="1562" y="4256"/>
                  </a:lnTo>
                  <a:lnTo>
                    <a:pt x="1562" y="1785"/>
                  </a:lnTo>
                  <a:lnTo>
                    <a:pt x="1794" y="1785"/>
                  </a:lnTo>
                  <a:lnTo>
                    <a:pt x="1794" y="1365"/>
                  </a:lnTo>
                  <a:lnTo>
                    <a:pt x="1562" y="1365"/>
                  </a:lnTo>
                  <a:lnTo>
                    <a:pt x="1562" y="0"/>
                  </a:lnTo>
                  <a:lnTo>
                    <a:pt x="1134" y="0"/>
                  </a:lnTo>
                  <a:lnTo>
                    <a:pt x="1134" y="1365"/>
                  </a:lnTo>
                  <a:lnTo>
                    <a:pt x="661" y="1365"/>
                  </a:lnTo>
                  <a:lnTo>
                    <a:pt x="6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48;p66">
              <a:extLst>
                <a:ext uri="{FF2B5EF4-FFF2-40B4-BE49-F238E27FC236}">
                  <a16:creationId xmlns:a16="http://schemas.microsoft.com/office/drawing/2014/main" id="{23685EA9-2145-18C5-2D1F-C8F88A74332F}"/>
                </a:ext>
              </a:extLst>
            </p:cNvPr>
            <p:cNvSpPr/>
            <p:nvPr/>
          </p:nvSpPr>
          <p:spPr>
            <a:xfrm>
              <a:off x="3306806" y="2597028"/>
              <a:ext cx="13663" cy="12809"/>
            </a:xfrm>
            <a:custGeom>
              <a:avLst/>
              <a:gdLst/>
              <a:ahLst/>
              <a:cxnLst/>
              <a:rect l="l" t="t" r="r" b="b"/>
              <a:pathLst>
                <a:path w="448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49;p66">
              <a:extLst>
                <a:ext uri="{FF2B5EF4-FFF2-40B4-BE49-F238E27FC236}">
                  <a16:creationId xmlns:a16="http://schemas.microsoft.com/office/drawing/2014/main" id="{E61E7C11-AC2D-F2D7-2743-E98F7A42C689}"/>
                </a:ext>
              </a:extLst>
            </p:cNvPr>
            <p:cNvSpPr/>
            <p:nvPr/>
          </p:nvSpPr>
          <p:spPr>
            <a:xfrm>
              <a:off x="3279328" y="2597028"/>
              <a:ext cx="13632" cy="1280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50;p66">
              <a:extLst>
                <a:ext uri="{FF2B5EF4-FFF2-40B4-BE49-F238E27FC236}">
                  <a16:creationId xmlns:a16="http://schemas.microsoft.com/office/drawing/2014/main" id="{AFA291EB-D1BB-E69D-9161-0148C7214AF1}"/>
                </a:ext>
              </a:extLst>
            </p:cNvPr>
            <p:cNvSpPr/>
            <p:nvPr/>
          </p:nvSpPr>
          <p:spPr>
            <a:xfrm>
              <a:off x="3266000" y="2349967"/>
              <a:ext cx="13114" cy="149407"/>
            </a:xfrm>
            <a:custGeom>
              <a:avLst/>
              <a:gdLst/>
              <a:ahLst/>
              <a:cxnLst/>
              <a:rect l="l" t="t" r="r" b="b"/>
              <a:pathLst>
                <a:path w="430" h="4899" extrusionOk="0">
                  <a:moveTo>
                    <a:pt x="1" y="1"/>
                  </a:moveTo>
                  <a:lnTo>
                    <a:pt x="1" y="4899"/>
                  </a:lnTo>
                  <a:lnTo>
                    <a:pt x="429" y="4899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51;p66">
              <a:extLst>
                <a:ext uri="{FF2B5EF4-FFF2-40B4-BE49-F238E27FC236}">
                  <a16:creationId xmlns:a16="http://schemas.microsoft.com/office/drawing/2014/main" id="{D658EE4E-9183-8D84-52A9-AC1628F0548D}"/>
                </a:ext>
              </a:extLst>
            </p:cNvPr>
            <p:cNvSpPr/>
            <p:nvPr/>
          </p:nvSpPr>
          <p:spPr>
            <a:xfrm>
              <a:off x="3238248" y="2364118"/>
              <a:ext cx="13632" cy="12839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52;p66">
              <a:extLst>
                <a:ext uri="{FF2B5EF4-FFF2-40B4-BE49-F238E27FC236}">
                  <a16:creationId xmlns:a16="http://schemas.microsoft.com/office/drawing/2014/main" id="{D2A3C55F-4177-0415-479E-7B84F16FF292}"/>
                </a:ext>
              </a:extLst>
            </p:cNvPr>
            <p:cNvSpPr/>
            <p:nvPr/>
          </p:nvSpPr>
          <p:spPr>
            <a:xfrm>
              <a:off x="3238248" y="2419075"/>
              <a:ext cx="13632" cy="12839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53;p66">
              <a:extLst>
                <a:ext uri="{FF2B5EF4-FFF2-40B4-BE49-F238E27FC236}">
                  <a16:creationId xmlns:a16="http://schemas.microsoft.com/office/drawing/2014/main" id="{F6CBB6DB-7F53-0F8D-392C-696932F35FEF}"/>
                </a:ext>
              </a:extLst>
            </p:cNvPr>
            <p:cNvSpPr/>
            <p:nvPr/>
          </p:nvSpPr>
          <p:spPr>
            <a:xfrm>
              <a:off x="3238248" y="2473757"/>
              <a:ext cx="13632" cy="12839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54;p66">
              <a:extLst>
                <a:ext uri="{FF2B5EF4-FFF2-40B4-BE49-F238E27FC236}">
                  <a16:creationId xmlns:a16="http://schemas.microsoft.com/office/drawing/2014/main" id="{62017991-E6B1-B065-3035-01BE094383E6}"/>
                </a:ext>
              </a:extLst>
            </p:cNvPr>
            <p:cNvSpPr/>
            <p:nvPr/>
          </p:nvSpPr>
          <p:spPr>
            <a:xfrm>
              <a:off x="3213240" y="2489280"/>
              <a:ext cx="173317" cy="173622"/>
            </a:xfrm>
            <a:custGeom>
              <a:avLst/>
              <a:gdLst/>
              <a:ahLst/>
              <a:cxnLst/>
              <a:rect l="l" t="t" r="r" b="b"/>
              <a:pathLst>
                <a:path w="5683" h="5693" extrusionOk="0">
                  <a:moveTo>
                    <a:pt x="2846" y="1133"/>
                  </a:moveTo>
                  <a:cubicBezTo>
                    <a:pt x="3792" y="1133"/>
                    <a:pt x="4559" y="1901"/>
                    <a:pt x="4559" y="2846"/>
                  </a:cubicBezTo>
                  <a:cubicBezTo>
                    <a:pt x="4559" y="3792"/>
                    <a:pt x="3792" y="4559"/>
                    <a:pt x="2846" y="4559"/>
                  </a:cubicBezTo>
                  <a:cubicBezTo>
                    <a:pt x="1900" y="4559"/>
                    <a:pt x="1133" y="3792"/>
                    <a:pt x="1133" y="2846"/>
                  </a:cubicBezTo>
                  <a:cubicBezTo>
                    <a:pt x="1133" y="1901"/>
                    <a:pt x="1900" y="1133"/>
                    <a:pt x="2846" y="1133"/>
                  </a:cubicBezTo>
                  <a:close/>
                  <a:moveTo>
                    <a:pt x="2846" y="0"/>
                  </a:moveTo>
                  <a:cubicBezTo>
                    <a:pt x="1276" y="0"/>
                    <a:pt x="0" y="1276"/>
                    <a:pt x="0" y="2846"/>
                  </a:cubicBezTo>
                  <a:cubicBezTo>
                    <a:pt x="0" y="4416"/>
                    <a:pt x="1276" y="5692"/>
                    <a:pt x="2846" y="5692"/>
                  </a:cubicBezTo>
                  <a:cubicBezTo>
                    <a:pt x="4416" y="5692"/>
                    <a:pt x="5683" y="4416"/>
                    <a:pt x="5683" y="2846"/>
                  </a:cubicBezTo>
                  <a:cubicBezTo>
                    <a:pt x="5683" y="1276"/>
                    <a:pt x="4416" y="0"/>
                    <a:pt x="28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1455;p66">
            <a:extLst>
              <a:ext uri="{FF2B5EF4-FFF2-40B4-BE49-F238E27FC236}">
                <a16:creationId xmlns:a16="http://schemas.microsoft.com/office/drawing/2014/main" id="{561F9A81-8A6E-EC81-B651-E0828E851ED1}"/>
              </a:ext>
            </a:extLst>
          </p:cNvPr>
          <p:cNvGrpSpPr/>
          <p:nvPr/>
        </p:nvGrpSpPr>
        <p:grpSpPr>
          <a:xfrm rot="5400000">
            <a:off x="6163255" y="3191388"/>
            <a:ext cx="794634" cy="1516212"/>
            <a:chOff x="8632600" y="4089800"/>
            <a:chExt cx="271800" cy="518700"/>
          </a:xfrm>
        </p:grpSpPr>
        <p:sp>
          <p:nvSpPr>
            <p:cNvPr id="37" name="Google Shape;1456;p66">
              <a:extLst>
                <a:ext uri="{FF2B5EF4-FFF2-40B4-BE49-F238E27FC236}">
                  <a16:creationId xmlns:a16="http://schemas.microsoft.com/office/drawing/2014/main" id="{521FA595-E6ED-13AF-34B0-F3C1101C67EA}"/>
                </a:ext>
              </a:extLst>
            </p:cNvPr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57;p66">
              <a:extLst>
                <a:ext uri="{FF2B5EF4-FFF2-40B4-BE49-F238E27FC236}">
                  <a16:creationId xmlns:a16="http://schemas.microsoft.com/office/drawing/2014/main" id="{9B2F9526-7564-3417-3A0A-3D4D05080317}"/>
                </a:ext>
              </a:extLst>
            </p:cNvPr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68B84D2-3A1E-EE6F-9C48-F2EFEA1BA8EA}"/>
              </a:ext>
            </a:extLst>
          </p:cNvPr>
          <p:cNvSpPr txBox="1"/>
          <p:nvPr/>
        </p:nvSpPr>
        <p:spPr>
          <a:xfrm>
            <a:off x="6904838" y="2919470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b="1" dirty="0">
                <a:solidFill>
                  <a:schemeClr val="tx1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estment Banking Meeting by Slidesgo">
  <a:themeElements>
    <a:clrScheme name="Simple Light">
      <a:dk1>
        <a:srgbClr val="FFFFFF"/>
      </a:dk1>
      <a:lt1>
        <a:srgbClr val="000000"/>
      </a:lt1>
      <a:dk2>
        <a:srgbClr val="0000FF"/>
      </a:dk2>
      <a:lt2>
        <a:srgbClr val="9FA0A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1004</Words>
  <Application>Microsoft Office PowerPoint</Application>
  <PresentationFormat>On-screen Show (16:9)</PresentationFormat>
  <Paragraphs>186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Sora</vt:lpstr>
      <vt:lpstr>Gill Sans</vt:lpstr>
      <vt:lpstr>Segoe UI</vt:lpstr>
      <vt:lpstr>Syne</vt:lpstr>
      <vt:lpstr>Arial</vt:lpstr>
      <vt:lpstr>Calibri</vt:lpstr>
      <vt:lpstr>Investment Banking Meeting by Slidesgo</vt:lpstr>
      <vt:lpstr>Venture  Signal Science</vt:lpstr>
      <vt:lpstr>A  Data Science approach to early-stage  Venture Capital screening</vt:lpstr>
      <vt:lpstr>Why Seed-Stage Signals Matter in        VC </vt:lpstr>
      <vt:lpstr>PowerPoint Presentation</vt:lpstr>
      <vt:lpstr>Dataset Description</vt:lpstr>
      <vt:lpstr>Data cleaning &amp;  Preprocessing</vt:lpstr>
      <vt:lpstr>Exploratory Data Analysis</vt:lpstr>
      <vt:lpstr>Funding by Outcome</vt:lpstr>
      <vt:lpstr>Model Performance</vt:lpstr>
      <vt:lpstr>Startup Success (Binary)</vt:lpstr>
      <vt:lpstr>Feature Importance &amp; Key Insights for VCs</vt:lpstr>
      <vt:lpstr>Limitations &amp; Caveats</vt:lpstr>
      <vt:lpstr>Analysis Conclusion</vt:lpstr>
      <vt:lpstr>Future Work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  Signal Science</dc:title>
  <cp:lastModifiedBy>Geraldo Vela</cp:lastModifiedBy>
  <cp:revision>57</cp:revision>
  <dcterms:modified xsi:type="dcterms:W3CDTF">2026-10-12T11:42:29Z</dcterms:modified>
</cp:coreProperties>
</file>